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9" r:id="rId5"/>
  </p:sldMasterIdLst>
  <p:notesMasterIdLst>
    <p:notesMasterId r:id="rId55"/>
  </p:notesMasterIdLst>
  <p:sldIdLst>
    <p:sldId id="256" r:id="rId6"/>
    <p:sldId id="1255" r:id="rId7"/>
    <p:sldId id="258" r:id="rId8"/>
    <p:sldId id="1248" r:id="rId9"/>
    <p:sldId id="537" r:id="rId10"/>
    <p:sldId id="538" r:id="rId11"/>
    <p:sldId id="539" r:id="rId12"/>
    <p:sldId id="1259" r:id="rId13"/>
    <p:sldId id="529" r:id="rId14"/>
    <p:sldId id="497" r:id="rId15"/>
    <p:sldId id="444" r:id="rId16"/>
    <p:sldId id="449" r:id="rId17"/>
    <p:sldId id="450" r:id="rId18"/>
    <p:sldId id="445" r:id="rId19"/>
    <p:sldId id="447" r:id="rId20"/>
    <p:sldId id="448" r:id="rId21"/>
    <p:sldId id="1256" r:id="rId22"/>
    <p:sldId id="1258" r:id="rId23"/>
    <p:sldId id="1243" r:id="rId24"/>
    <p:sldId id="1260" r:id="rId25"/>
    <p:sldId id="1263" r:id="rId26"/>
    <p:sldId id="1261" r:id="rId27"/>
    <p:sldId id="1262" r:id="rId28"/>
    <p:sldId id="1253" r:id="rId29"/>
    <p:sldId id="533" r:id="rId30"/>
    <p:sldId id="1280" r:id="rId31"/>
    <p:sldId id="477" r:id="rId32"/>
    <p:sldId id="1257" r:id="rId33"/>
    <p:sldId id="1265" r:id="rId34"/>
    <p:sldId id="1266" r:id="rId35"/>
    <p:sldId id="1273" r:id="rId36"/>
    <p:sldId id="1267" r:id="rId37"/>
    <p:sldId id="1270" r:id="rId38"/>
    <p:sldId id="1271" r:id="rId39"/>
    <p:sldId id="1269" r:id="rId40"/>
    <p:sldId id="1274" r:id="rId41"/>
    <p:sldId id="1281" r:id="rId42"/>
    <p:sldId id="1275" r:id="rId43"/>
    <p:sldId id="1246" r:id="rId44"/>
    <p:sldId id="1254" r:id="rId45"/>
    <p:sldId id="1276" r:id="rId46"/>
    <p:sldId id="1277" r:id="rId47"/>
    <p:sldId id="1279" r:id="rId48"/>
    <p:sldId id="1278" r:id="rId49"/>
    <p:sldId id="1264" r:id="rId50"/>
    <p:sldId id="1250" r:id="rId51"/>
    <p:sldId id="1251" r:id="rId52"/>
    <p:sldId id="1249" r:id="rId53"/>
    <p:sldId id="1252" r:id="rId5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1F2E"/>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p:restoredTop sz="94658"/>
  </p:normalViewPr>
  <p:slideViewPr>
    <p:cSldViewPr snapToGrid="0">
      <p:cViewPr varScale="1">
        <p:scale>
          <a:sx n="160" d="100"/>
          <a:sy n="160"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Schien" userId="7ba24917-3599-403d-93fd-983f215bf8d7" providerId="ADAL" clId="{0A170A1E-D93E-5586-B276-23BE576CEF00}"/>
    <pc:docChg chg="modSld">
      <pc:chgData name="Daniel Schien" userId="7ba24917-3599-403d-93fd-983f215bf8d7" providerId="ADAL" clId="{0A170A1E-D93E-5586-B276-23BE576CEF00}" dt="2026-10-09T08:26:26.597" v="1" actId="6549"/>
      <pc:docMkLst>
        <pc:docMk/>
      </pc:docMkLst>
      <pc:sldChg chg="modSp mod">
        <pc:chgData name="Daniel Schien" userId="7ba24917-3599-403d-93fd-983f215bf8d7" providerId="ADAL" clId="{0A170A1E-D93E-5586-B276-23BE576CEF00}" dt="2026-10-09T08:26:26.597" v="1" actId="6549"/>
        <pc:sldMkLst>
          <pc:docMk/>
          <pc:sldMk cId="2009784554" sldId="256"/>
        </pc:sldMkLst>
        <pc:spChg chg="mod">
          <ac:chgData name="Daniel Schien" userId="7ba24917-3599-403d-93fd-983f215bf8d7" providerId="ADAL" clId="{0A170A1E-D93E-5586-B276-23BE576CEF00}" dt="2026-10-09T08:26:26.597" v="1" actId="6549"/>
          <ac:spMkLst>
            <pc:docMk/>
            <pc:sldMk cId="2009784554" sldId="256"/>
            <ac:spMk id="35" creationId="{5FDE648C-DE01-A57F-52DB-4B11A1A48F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965D1-09F0-4F3B-8A24-D1993AC9C617}" type="datetimeFigureOut">
              <a:rPr lang="en-GB" smtClean="0"/>
              <a:t>09/10/2026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CC2F7-CEBA-4292-8D5B-B5693DC7851A}" type="slidenum">
              <a:rPr lang="en-GB" smtClean="0"/>
              <a:t>‹#›</a:t>
            </a:fld>
            <a:endParaRPr lang="en-GB"/>
          </a:p>
        </p:txBody>
      </p:sp>
    </p:spTree>
    <p:extLst>
      <p:ext uri="{BB962C8B-B14F-4D97-AF65-F5344CB8AC3E}">
        <p14:creationId xmlns:p14="http://schemas.microsoft.com/office/powerpoint/2010/main" val="2412375277"/>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4CC2F7-CEBA-4292-8D5B-B5693DC7851A}" type="slidenum">
              <a:rPr lang="en-GB" smtClean="0"/>
              <a:t>1</a:t>
            </a:fld>
            <a:endParaRPr lang="en-GB"/>
          </a:p>
        </p:txBody>
      </p:sp>
    </p:spTree>
    <p:extLst>
      <p:ext uri="{BB962C8B-B14F-4D97-AF65-F5344CB8AC3E}">
        <p14:creationId xmlns:p14="http://schemas.microsoft.com/office/powerpoint/2010/main" val="246202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2915-B221-4A25-ACA1-E9EF3725C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D3A9B-24F8-A21C-22A5-40240F3AC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8E022-A26F-5435-ED1E-8EE1C4F8E6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55DD74-FBC3-5493-B35C-1AB4B754DDB7}"/>
              </a:ext>
            </a:extLst>
          </p:cNvPr>
          <p:cNvSpPr>
            <a:spLocks noGrp="1"/>
          </p:cNvSpPr>
          <p:nvPr>
            <p:ph type="sldNum" sz="quarter" idx="5"/>
          </p:nvPr>
        </p:nvSpPr>
        <p:spPr/>
        <p:txBody>
          <a:bodyPr/>
          <a:lstStyle/>
          <a:p>
            <a:fld id="{864CC2F7-CEBA-4292-8D5B-B5693DC7851A}" type="slidenum">
              <a:rPr lang="en-GB" smtClean="0"/>
              <a:t>2</a:t>
            </a:fld>
            <a:endParaRPr lang="en-GB"/>
          </a:p>
        </p:txBody>
      </p:sp>
    </p:spTree>
    <p:extLst>
      <p:ext uri="{BB962C8B-B14F-4D97-AF65-F5344CB8AC3E}">
        <p14:creationId xmlns:p14="http://schemas.microsoft.com/office/powerpoint/2010/main" val="4099271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4CC2F7-CEBA-4292-8D5B-B5693DC7851A}" type="slidenum">
              <a:rPr lang="en-GB" smtClean="0"/>
              <a:t>3</a:t>
            </a:fld>
            <a:endParaRPr lang="en-GB"/>
          </a:p>
        </p:txBody>
      </p:sp>
    </p:spTree>
    <p:extLst>
      <p:ext uri="{BB962C8B-B14F-4D97-AF65-F5344CB8AC3E}">
        <p14:creationId xmlns:p14="http://schemas.microsoft.com/office/powerpoint/2010/main" val="3434353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15685-4E5C-19E7-AA55-51C8124FF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023F3-BE92-E6ED-8F35-646EEC337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F18DF-31BA-3466-1F7E-652068E989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FC4A92-1342-A28E-E7E4-83ED3B7F1813}"/>
              </a:ext>
            </a:extLst>
          </p:cNvPr>
          <p:cNvSpPr>
            <a:spLocks noGrp="1"/>
          </p:cNvSpPr>
          <p:nvPr>
            <p:ph type="sldNum" sz="quarter" idx="5"/>
          </p:nvPr>
        </p:nvSpPr>
        <p:spPr/>
        <p:txBody>
          <a:bodyPr/>
          <a:lstStyle/>
          <a:p>
            <a:fld id="{864CC2F7-CEBA-4292-8D5B-B5693DC7851A}" type="slidenum">
              <a:rPr lang="en-GB" smtClean="0"/>
              <a:t>4</a:t>
            </a:fld>
            <a:endParaRPr lang="en-GB"/>
          </a:p>
        </p:txBody>
      </p:sp>
    </p:spTree>
    <p:extLst>
      <p:ext uri="{BB962C8B-B14F-4D97-AF65-F5344CB8AC3E}">
        <p14:creationId xmlns:p14="http://schemas.microsoft.com/office/powerpoint/2010/main" val="4079743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4CC2F7-CEBA-4292-8D5B-B5693DC7851A}" type="slidenum">
              <a:rPr lang="en-GB" smtClean="0"/>
              <a:t>8</a:t>
            </a:fld>
            <a:endParaRPr lang="en-GB"/>
          </a:p>
        </p:txBody>
      </p:sp>
    </p:spTree>
    <p:extLst>
      <p:ext uri="{BB962C8B-B14F-4D97-AF65-F5344CB8AC3E}">
        <p14:creationId xmlns:p14="http://schemas.microsoft.com/office/powerpoint/2010/main" val="400079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Criticism</a:t>
            </a:r>
          </a:p>
          <a:p>
            <a:pPr marL="171450" indent="-171450">
              <a:buFont typeface="Arial" panose="020B0604020202020204" pitchFamily="34" charset="0"/>
              <a:buChar char="•"/>
            </a:pPr>
            <a:r>
              <a:rPr lang="en-GB" sz="900" b="0" i="0" kern="1200">
                <a:solidFill>
                  <a:schemeClr val="tx1"/>
                </a:solidFill>
                <a:effectLst/>
                <a:latin typeface="+mn-lt"/>
                <a:ea typeface="+mn-ea"/>
                <a:cs typeface="+mn-cs"/>
              </a:rPr>
              <a:t>requirements from users need refinement</a:t>
            </a:r>
          </a:p>
          <a:p>
            <a:pPr marL="171450" indent="-171450">
              <a:buFont typeface="Arial" panose="020B0604020202020204" pitchFamily="34" charset="0"/>
              <a:buChar char="•"/>
            </a:pPr>
            <a:r>
              <a:rPr lang="en-GB" sz="900" b="0" i="0" kern="1200">
                <a:solidFill>
                  <a:schemeClr val="tx1"/>
                </a:solidFill>
                <a:effectLst/>
                <a:latin typeface="+mn-lt"/>
                <a:ea typeface="+mn-ea"/>
                <a:cs typeface="+mn-cs"/>
              </a:rPr>
              <a:t>needs of the business evolve</a:t>
            </a:r>
          </a:p>
          <a:p>
            <a:pPr marL="171450" indent="-171450">
              <a:buFont typeface="Arial" panose="020B0604020202020204" pitchFamily="34" charset="0"/>
              <a:buChar char="•"/>
            </a:pPr>
            <a:r>
              <a:rPr lang="en-GB" sz="900" b="0" i="0" kern="1200">
                <a:solidFill>
                  <a:schemeClr val="tx1"/>
                </a:solidFill>
                <a:effectLst/>
                <a:latin typeface="+mn-lt"/>
                <a:ea typeface="+mn-ea"/>
                <a:cs typeface="+mn-cs"/>
              </a:rPr>
              <a:t>Software is hard – needs implementation</a:t>
            </a:r>
          </a:p>
          <a:p>
            <a:endParaRPr lang="en-US"/>
          </a:p>
        </p:txBody>
      </p:sp>
      <p:sp>
        <p:nvSpPr>
          <p:cNvPr id="4" name="Slide Number Placeholder 3"/>
          <p:cNvSpPr>
            <a:spLocks noGrp="1"/>
          </p:cNvSpPr>
          <p:nvPr>
            <p:ph type="sldNum" sz="quarter" idx="5"/>
          </p:nvPr>
        </p:nvSpPr>
        <p:spPr/>
        <p:txBody>
          <a:bodyPr/>
          <a:lstStyle/>
          <a:p>
            <a:fld id="{864CC2F7-CEBA-4292-8D5B-B5693DC7851A}" type="slidenum">
              <a:rPr lang="en-GB" smtClean="0"/>
              <a:t>9</a:t>
            </a:fld>
            <a:endParaRPr lang="en-GB"/>
          </a:p>
        </p:txBody>
      </p:sp>
    </p:spTree>
    <p:extLst>
      <p:ext uri="{BB962C8B-B14F-4D97-AF65-F5344CB8AC3E}">
        <p14:creationId xmlns:p14="http://schemas.microsoft.com/office/powerpoint/2010/main" val="1578945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modelling</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t>The </a:t>
            </a:r>
            <a:r>
              <a:rPr lang="en-GB" sz="900" kern="1200">
                <a:solidFill>
                  <a:schemeClr val="tx1"/>
                </a:solidFill>
                <a:effectLst/>
                <a:latin typeface="+mn-lt"/>
                <a:ea typeface="+mn-ea"/>
                <a:cs typeface="+mn-cs"/>
              </a:rPr>
              <a:t>real world</a:t>
            </a:r>
          </a:p>
          <a:p>
            <a:r>
              <a:rPr lang="en-GB" sz="900" kern="1200">
                <a:solidFill>
                  <a:schemeClr val="tx1"/>
                </a:solidFill>
                <a:effectLst/>
                <a:latin typeface="+mn-lt"/>
                <a:ea typeface="+mn-ea"/>
                <a:cs typeface="+mn-cs"/>
              </a:rPr>
              <a:t>• A shipping management system ---&gt; how the shipping business works</a:t>
            </a:r>
          </a:p>
          <a:p>
            <a:r>
              <a:rPr lang="en-GB" sz="900" kern="1200">
                <a:solidFill>
                  <a:schemeClr val="tx1"/>
                </a:solidFill>
                <a:effectLst/>
                <a:latin typeface="+mn-lt"/>
                <a:ea typeface="+mn-ea"/>
                <a:cs typeface="+mn-cs"/>
              </a:rPr>
              <a:t>• A </a:t>
            </a:r>
            <a:r>
              <a:rPr lang="en-GB" sz="900" kern="1200" err="1">
                <a:solidFill>
                  <a:schemeClr val="tx1"/>
                </a:solidFill>
                <a:effectLst/>
                <a:latin typeface="+mn-lt"/>
                <a:ea typeface="+mn-ea"/>
                <a:cs typeface="+mn-cs"/>
              </a:rPr>
              <a:t>todo</a:t>
            </a:r>
            <a:r>
              <a:rPr lang="en-GB" sz="900" kern="1200">
                <a:solidFill>
                  <a:schemeClr val="tx1"/>
                </a:solidFill>
                <a:effectLst/>
                <a:latin typeface="+mn-lt"/>
                <a:ea typeface="+mn-ea"/>
                <a:cs typeface="+mn-cs"/>
              </a:rPr>
              <a:t> application --&gt; how </a:t>
            </a:r>
            <a:r>
              <a:rPr lang="en-GB" sz="900" kern="1200" err="1">
                <a:solidFill>
                  <a:schemeClr val="tx1"/>
                </a:solidFill>
                <a:effectLst/>
                <a:latin typeface="+mn-lt"/>
                <a:ea typeface="+mn-ea"/>
                <a:cs typeface="+mn-cs"/>
              </a:rPr>
              <a:t>todos</a:t>
            </a:r>
            <a:r>
              <a:rPr lang="en-GB" sz="900" kern="1200">
                <a:solidFill>
                  <a:schemeClr val="tx1"/>
                </a:solidFill>
                <a:effectLst/>
                <a:latin typeface="+mn-lt"/>
                <a:ea typeface="+mn-ea"/>
                <a:cs typeface="+mn-cs"/>
              </a:rPr>
              <a:t> are manipulated</a:t>
            </a:r>
          </a:p>
          <a:p>
            <a:r>
              <a:rPr lang="en-GB" sz="900" kern="1200">
                <a:solidFill>
                  <a:schemeClr val="tx1"/>
                </a:solidFill>
                <a:effectLst/>
                <a:latin typeface="+mn-lt"/>
                <a:ea typeface="+mn-ea"/>
                <a:cs typeface="+mn-cs"/>
              </a:rPr>
              <a:t>• For technical systems, system may be its own domain model</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0E07D577-8DC9-0548-8C63-3F6734CD4594}" type="slidenum">
              <a:rPr lang="en-GB" altLang="en-US" smtClean="0"/>
              <a:pPr/>
              <a:t>10</a:t>
            </a:fld>
            <a:endParaRPr lang="en-GB" altLang="en-US"/>
          </a:p>
        </p:txBody>
      </p:sp>
    </p:spTree>
    <p:extLst>
      <p:ext uri="{BB962C8B-B14F-4D97-AF65-F5344CB8AC3E}">
        <p14:creationId xmlns:p14="http://schemas.microsoft.com/office/powerpoint/2010/main" val="2656794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Tangible or physical object -- </a:t>
            </a:r>
            <a:r>
              <a:rPr lang="en-US" err="1"/>
              <a:t>Aeroplane</a:t>
            </a:r>
            <a:r>
              <a:rPr lang="en-US"/>
              <a:t>, Film</a:t>
            </a:r>
          </a:p>
          <a:p>
            <a:r>
              <a:rPr lang="en-US"/>
              <a:t>Transaction -- Sale, Payment, Reservation</a:t>
            </a:r>
          </a:p>
          <a:p>
            <a:r>
              <a:rPr lang="en-US"/>
              <a:t>Role -- Employee, Cashier, Pilot</a:t>
            </a:r>
          </a:p>
          <a:p>
            <a:r>
              <a:rPr lang="en-US"/>
              <a:t>Container of other things -- Store, </a:t>
            </a:r>
            <a:r>
              <a:rPr lang="en-US" err="1"/>
              <a:t>Aeroplane</a:t>
            </a:r>
            <a:endParaRPr lang="en-US"/>
          </a:p>
          <a:p>
            <a:r>
              <a:rPr lang="en-US"/>
              <a:t>Thing in a container -- Item, Passenger</a:t>
            </a:r>
          </a:p>
          <a:p>
            <a:r>
              <a:rPr lang="en-US"/>
              <a:t>Existing system -- Air Traffic Control, Authentication System</a:t>
            </a:r>
          </a:p>
          <a:p>
            <a:r>
              <a:rPr lang="en-US"/>
              <a:t>Event -- Sale, Payment, Meeting, Landing</a:t>
            </a:r>
          </a:p>
          <a:p>
            <a:r>
              <a:rPr lang="en-US"/>
              <a:t>Record of finance, work or contract -- Receipt, Employment Contract, Maintenance Log</a:t>
            </a:r>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11</a:t>
            </a:fld>
            <a:endParaRPr lang="en-GB" altLang="en-US"/>
          </a:p>
        </p:txBody>
      </p:sp>
    </p:spTree>
    <p:extLst>
      <p:ext uri="{BB962C8B-B14F-4D97-AF65-F5344CB8AC3E}">
        <p14:creationId xmlns:p14="http://schemas.microsoft.com/office/powerpoint/2010/main" val="3242775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Helps us identify functions</a:t>
            </a:r>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12</a:t>
            </a:fld>
            <a:endParaRPr lang="en-GB" altLang="en-US"/>
          </a:p>
        </p:txBody>
      </p:sp>
    </p:spTree>
    <p:extLst>
      <p:ext uri="{BB962C8B-B14F-4D97-AF65-F5344CB8AC3E}">
        <p14:creationId xmlns:p14="http://schemas.microsoft.com/office/powerpoint/2010/main" val="337169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Library </a:t>
            </a:r>
          </a:p>
          <a:p>
            <a:r>
              <a:rPr lang="en-US"/>
              <a:t>Member borrows book</a:t>
            </a:r>
          </a:p>
          <a:p>
            <a:r>
              <a:rPr lang="en-US"/>
              <a:t>Book is being borrowed</a:t>
            </a:r>
          </a:p>
          <a:p>
            <a:endParaRPr lang="en-US"/>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13</a:t>
            </a:fld>
            <a:endParaRPr lang="en-GB" altLang="en-US"/>
          </a:p>
        </p:txBody>
      </p:sp>
    </p:spTree>
    <p:extLst>
      <p:ext uri="{BB962C8B-B14F-4D97-AF65-F5344CB8AC3E}">
        <p14:creationId xmlns:p14="http://schemas.microsoft.com/office/powerpoint/2010/main" val="840951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14</a:t>
            </a:fld>
            <a:endParaRPr lang="en-GB" altLang="en-US"/>
          </a:p>
        </p:txBody>
      </p:sp>
    </p:spTree>
    <p:extLst>
      <p:ext uri="{BB962C8B-B14F-4D97-AF65-F5344CB8AC3E}">
        <p14:creationId xmlns:p14="http://schemas.microsoft.com/office/powerpoint/2010/main" val="1030653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15</a:t>
            </a:fld>
            <a:endParaRPr lang="en-GB" altLang="en-US"/>
          </a:p>
        </p:txBody>
      </p:sp>
    </p:spTree>
    <p:extLst>
      <p:ext uri="{BB962C8B-B14F-4D97-AF65-F5344CB8AC3E}">
        <p14:creationId xmlns:p14="http://schemas.microsoft.com/office/powerpoint/2010/main" val="468881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E07D577-8DC9-0548-8C63-3F6734CD4594}" type="slidenum">
              <a:rPr lang="en-GB" altLang="en-US" smtClean="0"/>
              <a:pPr/>
              <a:t>16</a:t>
            </a:fld>
            <a:endParaRPr lang="en-GB" altLang="en-US"/>
          </a:p>
        </p:txBody>
      </p:sp>
    </p:spTree>
    <p:extLst>
      <p:ext uri="{BB962C8B-B14F-4D97-AF65-F5344CB8AC3E}">
        <p14:creationId xmlns:p14="http://schemas.microsoft.com/office/powerpoint/2010/main" val="3098981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892F2-C472-4ACD-E9B6-3C78B47189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B06A4-1680-1830-2572-4AA76A7F0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CAF1C-46EA-AFEF-AF3E-20FC61C164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5F4BD9-78DA-5E09-18FE-7A77E2B324B9}"/>
              </a:ext>
            </a:extLst>
          </p:cNvPr>
          <p:cNvSpPr>
            <a:spLocks noGrp="1"/>
          </p:cNvSpPr>
          <p:nvPr>
            <p:ph type="sldNum" sz="quarter" idx="5"/>
          </p:nvPr>
        </p:nvSpPr>
        <p:spPr/>
        <p:txBody>
          <a:bodyPr/>
          <a:lstStyle/>
          <a:p>
            <a:fld id="{864CC2F7-CEBA-4292-8D5B-B5693DC7851A}" type="slidenum">
              <a:rPr lang="en-GB" smtClean="0"/>
              <a:t>17</a:t>
            </a:fld>
            <a:endParaRPr lang="en-GB"/>
          </a:p>
        </p:txBody>
      </p:sp>
    </p:spTree>
    <p:extLst>
      <p:ext uri="{BB962C8B-B14F-4D97-AF65-F5344CB8AC3E}">
        <p14:creationId xmlns:p14="http://schemas.microsoft.com/office/powerpoint/2010/main" val="1609404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E0B95-4B2C-63CC-5D0A-3BB0000AE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8A698-A35B-F6D7-66E3-19C57FE78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8B893-6B0C-ADB0-7537-4B373FD877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7E48B9-E16C-B32A-CE98-8AFC0F2D4E80}"/>
              </a:ext>
            </a:extLst>
          </p:cNvPr>
          <p:cNvSpPr>
            <a:spLocks noGrp="1"/>
          </p:cNvSpPr>
          <p:nvPr>
            <p:ph type="sldNum" sz="quarter" idx="5"/>
          </p:nvPr>
        </p:nvSpPr>
        <p:spPr/>
        <p:txBody>
          <a:bodyPr/>
          <a:lstStyle/>
          <a:p>
            <a:fld id="{864CC2F7-CEBA-4292-8D5B-B5693DC7851A}" type="slidenum">
              <a:rPr lang="en-GB" smtClean="0"/>
              <a:t>24</a:t>
            </a:fld>
            <a:endParaRPr lang="en-GB"/>
          </a:p>
        </p:txBody>
      </p:sp>
    </p:spTree>
    <p:extLst>
      <p:ext uri="{BB962C8B-B14F-4D97-AF65-F5344CB8AC3E}">
        <p14:creationId xmlns:p14="http://schemas.microsoft.com/office/powerpoint/2010/main" val="3349697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A1C3B-86A2-819C-4F83-2AFF77CF1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44DCA-C7BE-0276-9E5E-DA85407E3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EE33C-1A84-BEF0-2BDD-72A5BAD9EE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C038CC-4C28-801C-B1BE-D986AF1FC61B}"/>
              </a:ext>
            </a:extLst>
          </p:cNvPr>
          <p:cNvSpPr>
            <a:spLocks noGrp="1"/>
          </p:cNvSpPr>
          <p:nvPr>
            <p:ph type="sldNum" sz="quarter" idx="5"/>
          </p:nvPr>
        </p:nvSpPr>
        <p:spPr/>
        <p:txBody>
          <a:bodyPr/>
          <a:lstStyle/>
          <a:p>
            <a:fld id="{864CC2F7-CEBA-4292-8D5B-B5693DC7851A}" type="slidenum">
              <a:rPr lang="en-GB" smtClean="0"/>
              <a:t>28</a:t>
            </a:fld>
            <a:endParaRPr lang="en-GB"/>
          </a:p>
        </p:txBody>
      </p:sp>
    </p:spTree>
    <p:extLst>
      <p:ext uri="{BB962C8B-B14F-4D97-AF65-F5344CB8AC3E}">
        <p14:creationId xmlns:p14="http://schemas.microsoft.com/office/powerpoint/2010/main" val="714011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5AC87-4857-E451-0FFB-DD7C45B33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25A14-AC3A-F5F9-86A1-7E1C80C89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57E8D-9EAC-5A50-E176-CF1791F316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090671-239E-3DE3-AEEB-D4146D60D64B}"/>
              </a:ext>
            </a:extLst>
          </p:cNvPr>
          <p:cNvSpPr>
            <a:spLocks noGrp="1"/>
          </p:cNvSpPr>
          <p:nvPr>
            <p:ph type="sldNum" sz="quarter" idx="5"/>
          </p:nvPr>
        </p:nvSpPr>
        <p:spPr/>
        <p:txBody>
          <a:bodyPr/>
          <a:lstStyle/>
          <a:p>
            <a:fld id="{864CC2F7-CEBA-4292-8D5B-B5693DC7851A}" type="slidenum">
              <a:rPr lang="en-GB" smtClean="0"/>
              <a:t>29</a:t>
            </a:fld>
            <a:endParaRPr lang="en-GB"/>
          </a:p>
        </p:txBody>
      </p:sp>
    </p:spTree>
    <p:extLst>
      <p:ext uri="{BB962C8B-B14F-4D97-AF65-F5344CB8AC3E}">
        <p14:creationId xmlns:p14="http://schemas.microsoft.com/office/powerpoint/2010/main" val="3479117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6A8D5-9224-B17D-49D6-CD09D3CF7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6A73D-D7E7-3710-5BC4-945FDF84E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EDF3B-EBF9-0E55-CB58-0D1239C762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32DEE3-7DDA-A0E3-9367-6E32809A656F}"/>
              </a:ext>
            </a:extLst>
          </p:cNvPr>
          <p:cNvSpPr>
            <a:spLocks noGrp="1"/>
          </p:cNvSpPr>
          <p:nvPr>
            <p:ph type="sldNum" sz="quarter" idx="5"/>
          </p:nvPr>
        </p:nvSpPr>
        <p:spPr/>
        <p:txBody>
          <a:bodyPr/>
          <a:lstStyle/>
          <a:p>
            <a:fld id="{864CC2F7-CEBA-4292-8D5B-B5693DC7851A}" type="slidenum">
              <a:rPr lang="en-GB" smtClean="0"/>
              <a:t>37</a:t>
            </a:fld>
            <a:endParaRPr lang="en-GB"/>
          </a:p>
        </p:txBody>
      </p:sp>
    </p:spTree>
    <p:extLst>
      <p:ext uri="{BB962C8B-B14F-4D97-AF65-F5344CB8AC3E}">
        <p14:creationId xmlns:p14="http://schemas.microsoft.com/office/powerpoint/2010/main" val="1389855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761F-4271-D6A0-2990-B7099087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52A35-30BC-10B6-A5E6-F1961F3CA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8C6F8-6E85-FBE1-EB68-BB15BC807D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90CB28-E368-D603-8655-1F874F55995C}"/>
              </a:ext>
            </a:extLst>
          </p:cNvPr>
          <p:cNvSpPr>
            <a:spLocks noGrp="1"/>
          </p:cNvSpPr>
          <p:nvPr>
            <p:ph type="sldNum" sz="quarter" idx="5"/>
          </p:nvPr>
        </p:nvSpPr>
        <p:spPr/>
        <p:txBody>
          <a:bodyPr/>
          <a:lstStyle/>
          <a:p>
            <a:fld id="{864CC2F7-CEBA-4292-8D5B-B5693DC7851A}" type="slidenum">
              <a:rPr lang="en-GB" smtClean="0"/>
              <a:t>38</a:t>
            </a:fld>
            <a:endParaRPr lang="en-GB"/>
          </a:p>
        </p:txBody>
      </p:sp>
    </p:spTree>
    <p:extLst>
      <p:ext uri="{BB962C8B-B14F-4D97-AF65-F5344CB8AC3E}">
        <p14:creationId xmlns:p14="http://schemas.microsoft.com/office/powerpoint/2010/main" val="3455406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0879-682F-FEE7-E1A9-C6045B70E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692B8-0927-A066-A7F7-4C07E517A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8012D-6CE5-6F17-2663-0F8F6D1722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B8E1C6-BD7E-809B-9A5A-CC58A4F4528A}"/>
              </a:ext>
            </a:extLst>
          </p:cNvPr>
          <p:cNvSpPr>
            <a:spLocks noGrp="1"/>
          </p:cNvSpPr>
          <p:nvPr>
            <p:ph type="sldNum" sz="quarter" idx="5"/>
          </p:nvPr>
        </p:nvSpPr>
        <p:spPr/>
        <p:txBody>
          <a:bodyPr/>
          <a:lstStyle/>
          <a:p>
            <a:fld id="{864CC2F7-CEBA-4292-8D5B-B5693DC7851A}" type="slidenum">
              <a:rPr lang="en-GB" smtClean="0"/>
              <a:t>40</a:t>
            </a:fld>
            <a:endParaRPr lang="en-GB"/>
          </a:p>
        </p:txBody>
      </p:sp>
    </p:spTree>
    <p:extLst>
      <p:ext uri="{BB962C8B-B14F-4D97-AF65-F5344CB8AC3E}">
        <p14:creationId xmlns:p14="http://schemas.microsoft.com/office/powerpoint/2010/main" val="3063053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12E8B-927D-78A8-C6C9-1CDA6434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0FA43-80B3-3110-24F7-E2A697104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E1C23-1AB3-7C9B-B273-C60E929CC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54E75F-83CE-370E-D4FC-41464C19E590}"/>
              </a:ext>
            </a:extLst>
          </p:cNvPr>
          <p:cNvSpPr>
            <a:spLocks noGrp="1"/>
          </p:cNvSpPr>
          <p:nvPr>
            <p:ph type="sldNum" sz="quarter" idx="5"/>
          </p:nvPr>
        </p:nvSpPr>
        <p:spPr/>
        <p:txBody>
          <a:bodyPr/>
          <a:lstStyle/>
          <a:p>
            <a:fld id="{864CC2F7-CEBA-4292-8D5B-B5693DC7851A}" type="slidenum">
              <a:rPr lang="en-GB" smtClean="0"/>
              <a:t>41</a:t>
            </a:fld>
            <a:endParaRPr lang="en-GB"/>
          </a:p>
        </p:txBody>
      </p:sp>
    </p:spTree>
    <p:extLst>
      <p:ext uri="{BB962C8B-B14F-4D97-AF65-F5344CB8AC3E}">
        <p14:creationId xmlns:p14="http://schemas.microsoft.com/office/powerpoint/2010/main" val="885271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3744-B255-F543-F6EB-CA49FBF1A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E5C1C-1579-F73E-3253-425B860BB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F88F4-D828-7A87-1826-DE678B55B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27BD29-6E26-F534-3369-3FFE7FE4CC65}"/>
              </a:ext>
            </a:extLst>
          </p:cNvPr>
          <p:cNvSpPr>
            <a:spLocks noGrp="1"/>
          </p:cNvSpPr>
          <p:nvPr>
            <p:ph type="sldNum" sz="quarter" idx="5"/>
          </p:nvPr>
        </p:nvSpPr>
        <p:spPr/>
        <p:txBody>
          <a:bodyPr/>
          <a:lstStyle/>
          <a:p>
            <a:fld id="{864CC2F7-CEBA-4292-8D5B-B5693DC7851A}" type="slidenum">
              <a:rPr lang="en-GB" smtClean="0"/>
              <a:t>42</a:t>
            </a:fld>
            <a:endParaRPr lang="en-GB"/>
          </a:p>
        </p:txBody>
      </p:sp>
    </p:spTree>
    <p:extLst>
      <p:ext uri="{BB962C8B-B14F-4D97-AF65-F5344CB8AC3E}">
        <p14:creationId xmlns:p14="http://schemas.microsoft.com/office/powerpoint/2010/main" val="3584687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B7BBD-CA72-B05A-80A7-108FF7689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A88B6-33C0-A6BB-EF3C-FA71D6C8E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C3505-A338-5BE2-076C-6839FE0DA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5DCEE9-A782-35A6-4756-2157858D32F3}"/>
              </a:ext>
            </a:extLst>
          </p:cNvPr>
          <p:cNvSpPr>
            <a:spLocks noGrp="1"/>
          </p:cNvSpPr>
          <p:nvPr>
            <p:ph type="sldNum" sz="quarter" idx="5"/>
          </p:nvPr>
        </p:nvSpPr>
        <p:spPr/>
        <p:txBody>
          <a:bodyPr/>
          <a:lstStyle/>
          <a:p>
            <a:fld id="{864CC2F7-CEBA-4292-8D5B-B5693DC7851A}" type="slidenum">
              <a:rPr lang="en-GB" smtClean="0"/>
              <a:t>43</a:t>
            </a:fld>
            <a:endParaRPr lang="en-GB"/>
          </a:p>
        </p:txBody>
      </p:sp>
    </p:spTree>
    <p:extLst>
      <p:ext uri="{BB962C8B-B14F-4D97-AF65-F5344CB8AC3E}">
        <p14:creationId xmlns:p14="http://schemas.microsoft.com/office/powerpoint/2010/main" val="1158859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B8961-F26E-51CC-B423-94102D192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9B402-1BFC-2AA4-2DC3-DC829ABEE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16A8-0086-BAA2-DA0F-2D341A958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AB252C-0FC1-8BAB-F526-32A3045FE727}"/>
              </a:ext>
            </a:extLst>
          </p:cNvPr>
          <p:cNvSpPr>
            <a:spLocks noGrp="1"/>
          </p:cNvSpPr>
          <p:nvPr>
            <p:ph type="sldNum" sz="quarter" idx="5"/>
          </p:nvPr>
        </p:nvSpPr>
        <p:spPr/>
        <p:txBody>
          <a:bodyPr/>
          <a:lstStyle/>
          <a:p>
            <a:fld id="{864CC2F7-CEBA-4292-8D5B-B5693DC7851A}" type="slidenum">
              <a:rPr lang="en-GB" smtClean="0"/>
              <a:t>44</a:t>
            </a:fld>
            <a:endParaRPr lang="en-GB"/>
          </a:p>
        </p:txBody>
      </p:sp>
    </p:spTree>
    <p:extLst>
      <p:ext uri="{BB962C8B-B14F-4D97-AF65-F5344CB8AC3E}">
        <p14:creationId xmlns:p14="http://schemas.microsoft.com/office/powerpoint/2010/main" val="38752031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4CC2F7-CEBA-4292-8D5B-B5693DC7851A}" type="slidenum">
              <a:rPr lang="en-GB" smtClean="0"/>
              <a:t>45</a:t>
            </a:fld>
            <a:endParaRPr lang="en-GB"/>
          </a:p>
        </p:txBody>
      </p:sp>
    </p:spTree>
    <p:extLst>
      <p:ext uri="{BB962C8B-B14F-4D97-AF65-F5344CB8AC3E}">
        <p14:creationId xmlns:p14="http://schemas.microsoft.com/office/powerpoint/2010/main" val="3704494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8016E-E4CF-D818-B307-A76580D90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7B05B-B132-6D1E-48FF-6BB42AF1E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37B40-38BA-B77E-046C-48C5A0AF7C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D703E9-64B7-24B3-4BA1-BC8055E0869B}"/>
              </a:ext>
            </a:extLst>
          </p:cNvPr>
          <p:cNvSpPr>
            <a:spLocks noGrp="1"/>
          </p:cNvSpPr>
          <p:nvPr>
            <p:ph type="sldNum" sz="quarter" idx="5"/>
          </p:nvPr>
        </p:nvSpPr>
        <p:spPr/>
        <p:txBody>
          <a:bodyPr/>
          <a:lstStyle/>
          <a:p>
            <a:fld id="{864CC2F7-CEBA-4292-8D5B-B5693DC7851A}" type="slidenum">
              <a:rPr lang="en-GB" smtClean="0"/>
              <a:t>46</a:t>
            </a:fld>
            <a:endParaRPr lang="en-GB"/>
          </a:p>
        </p:txBody>
      </p:sp>
    </p:spTree>
    <p:extLst>
      <p:ext uri="{BB962C8B-B14F-4D97-AF65-F5344CB8AC3E}">
        <p14:creationId xmlns:p14="http://schemas.microsoft.com/office/powerpoint/2010/main" val="7738318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5C14-1569-3C9E-BC97-4596202F7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03D5C-7F6F-DAF5-CA29-B52544FFB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56BA1-EC38-19AA-EA64-CC7B2AF71B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66E48F-61F8-D21A-8DAF-922853F08538}"/>
              </a:ext>
            </a:extLst>
          </p:cNvPr>
          <p:cNvSpPr>
            <a:spLocks noGrp="1"/>
          </p:cNvSpPr>
          <p:nvPr>
            <p:ph type="sldNum" sz="quarter" idx="5"/>
          </p:nvPr>
        </p:nvSpPr>
        <p:spPr/>
        <p:txBody>
          <a:bodyPr/>
          <a:lstStyle/>
          <a:p>
            <a:fld id="{864CC2F7-CEBA-4292-8D5B-B5693DC7851A}" type="slidenum">
              <a:rPr lang="en-GB" smtClean="0"/>
              <a:t>47</a:t>
            </a:fld>
            <a:endParaRPr lang="en-GB"/>
          </a:p>
        </p:txBody>
      </p:sp>
    </p:spTree>
    <p:extLst>
      <p:ext uri="{BB962C8B-B14F-4D97-AF65-F5344CB8AC3E}">
        <p14:creationId xmlns:p14="http://schemas.microsoft.com/office/powerpoint/2010/main" val="2779874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261E4-83F2-B42D-C61D-CD82C6F96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8A44D-C898-57D1-D801-36D3ABE58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50B7F-CB95-98EC-FF23-360D04FBB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B33476-39E1-EB87-0DFF-CE002481E708}"/>
              </a:ext>
            </a:extLst>
          </p:cNvPr>
          <p:cNvSpPr>
            <a:spLocks noGrp="1"/>
          </p:cNvSpPr>
          <p:nvPr>
            <p:ph type="sldNum" sz="quarter" idx="5"/>
          </p:nvPr>
        </p:nvSpPr>
        <p:spPr/>
        <p:txBody>
          <a:bodyPr/>
          <a:lstStyle/>
          <a:p>
            <a:fld id="{864CC2F7-CEBA-4292-8D5B-B5693DC7851A}" type="slidenum">
              <a:rPr lang="en-GB" smtClean="0"/>
              <a:t>48</a:t>
            </a:fld>
            <a:endParaRPr lang="en-GB"/>
          </a:p>
        </p:txBody>
      </p:sp>
    </p:spTree>
    <p:extLst>
      <p:ext uri="{BB962C8B-B14F-4D97-AF65-F5344CB8AC3E}">
        <p14:creationId xmlns:p14="http://schemas.microsoft.com/office/powerpoint/2010/main" val="1758038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597BC-6EB1-B05E-AA3B-BE0A88CD6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4BE07-50D4-1B3C-8569-791F7CAB1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ED0B0-DED1-8F1E-15AB-C63BCF6703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2029B7-3CB7-97B3-D9C7-966C4ABF9F4A}"/>
              </a:ext>
            </a:extLst>
          </p:cNvPr>
          <p:cNvSpPr>
            <a:spLocks noGrp="1"/>
          </p:cNvSpPr>
          <p:nvPr>
            <p:ph type="sldNum" sz="quarter" idx="5"/>
          </p:nvPr>
        </p:nvSpPr>
        <p:spPr/>
        <p:txBody>
          <a:bodyPr/>
          <a:lstStyle/>
          <a:p>
            <a:fld id="{864CC2F7-CEBA-4292-8D5B-B5693DC7851A}" type="slidenum">
              <a:rPr lang="en-GB" smtClean="0"/>
              <a:t>49</a:t>
            </a:fld>
            <a:endParaRPr lang="en-GB"/>
          </a:p>
        </p:txBody>
      </p:sp>
    </p:spTree>
    <p:extLst>
      <p:ext uri="{BB962C8B-B14F-4D97-AF65-F5344CB8AC3E}">
        <p14:creationId xmlns:p14="http://schemas.microsoft.com/office/powerpoint/2010/main" val="3922659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White and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hasCustomPrompt="1"/>
          </p:nvPr>
        </p:nvSpPr>
        <p:spPr>
          <a:xfrm>
            <a:off x="370800" y="1598400"/>
            <a:ext cx="5259600" cy="1101600"/>
          </a:xfrm>
        </p:spPr>
        <p:txBody>
          <a:bodyPr anchor="b"/>
          <a:lstStyle>
            <a:lvl1pPr algn="l">
              <a:defRPr sz="2700" cap="all" baseline="0">
                <a:solidFill>
                  <a:schemeClr val="bg1"/>
                </a:solidFill>
              </a:defRPr>
            </a:lvl1pPr>
          </a:lstStyle>
          <a:p>
            <a:r>
              <a:rPr lang="en-GB"/>
              <a:t>CLICK TO EDIT MASTER TITLE SLIDE</a:t>
            </a:r>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baseline="0">
                <a:solidFill>
                  <a:schemeClr val="bg1"/>
                </a:solidFill>
              </a:defRPr>
            </a:lvl1pPr>
          </a:lstStyle>
          <a:p>
            <a:fld id="{D1666282-696E-4BC8-B8B0-F336AA0FA017}" type="datetime1">
              <a:rPr lang="en-GB" smtClean="0"/>
              <a:pPr/>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baseline="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baseline="0">
                <a:solidFill>
                  <a:schemeClr val="bg1"/>
                </a:solidFill>
              </a:defRPr>
            </a:lvl1pPr>
          </a:lstStyle>
          <a:p>
            <a:fld id="{67DE1CF8-1877-4310-8670-A269E8016CAC}" type="slidenum">
              <a:rPr lang="en-GB" smtClean="0"/>
              <a:pPr/>
              <a:t>‹#›</a:t>
            </a:fld>
            <a:endParaRPr lang="en-GB"/>
          </a:p>
        </p:txBody>
      </p:sp>
    </p:spTree>
    <p:extLst>
      <p:ext uri="{BB962C8B-B14F-4D97-AF65-F5344CB8AC3E}">
        <p14:creationId xmlns:p14="http://schemas.microsoft.com/office/powerpoint/2010/main" val="2572744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lvl1pPr>
              <a:defRPr sz="2700" cap="none" baseline="0"/>
            </a:lvl1pPr>
          </a:lstStyle>
          <a:p>
            <a:r>
              <a:rPr lang="en-GB"/>
              <a:t>Click to edit Master title style</a:t>
            </a:r>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D6B97AD8-1FCE-4D4C-86B9-3F1377F62059}" type="datetime1">
              <a:rPr lang="en-GB" smtClean="0"/>
              <a:t>09/10/2026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6715800" y="4361092"/>
            <a:ext cx="2057400" cy="273844"/>
          </a:xfrm>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86789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White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EC0E44-31DD-4789-86DE-B6E31155F116}"/>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cap="all" baseline="0"/>
            </a:lvl1pPr>
          </a:lstStyle>
          <a:p>
            <a:r>
              <a:rPr lang="en-GB"/>
              <a:t>Click to edit Master title style</a:t>
            </a:r>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99D62B8-D7ED-4B07-9A04-1E3FEAB2A48C}" type="datetime1">
              <a:rPr lang="en-GB" smtClean="0"/>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3165264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White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cap="all" baseline="0"/>
            </a:lvl1pPr>
          </a:lstStyle>
          <a:p>
            <a:r>
              <a:rPr lang="en-GB"/>
              <a:t>Click to edit Master title style</a:t>
            </a:r>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1666282-696E-4BC8-B8B0-F336AA0FA017}" type="datetime1">
              <a:rPr lang="en-GB" smtClean="0"/>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Picture Placeholder 8">
            <a:extLst>
              <a:ext uri="{FF2B5EF4-FFF2-40B4-BE49-F238E27FC236}">
                <a16:creationId xmlns:a16="http://schemas.microsoft.com/office/drawing/2014/main" id="{07491796-214B-45DE-99F8-B1AF36C957CE}"/>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GB"/>
              <a:t>Click icon to add picture</a:t>
            </a:r>
            <a:endParaRPr lang="en-US"/>
          </a:p>
        </p:txBody>
      </p:sp>
    </p:spTree>
    <p:extLst>
      <p:ext uri="{BB962C8B-B14F-4D97-AF65-F5344CB8AC3E}">
        <p14:creationId xmlns:p14="http://schemas.microsoft.com/office/powerpoint/2010/main" val="265958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Colour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A903D7F4-2AD2-4C9C-9330-C03E0E70D3F1}"/>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cap="all" baseline="0">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baseline="0">
                <a:solidFill>
                  <a:schemeClr val="bg1"/>
                </a:solidFill>
              </a:defRPr>
            </a:lvl1pPr>
          </a:lstStyle>
          <a:p>
            <a:fld id="{3E2C485A-CFD1-4426-A587-FCC12D6AD237}" type="datetime1">
              <a:rPr lang="en-GB" smtClean="0"/>
              <a:pPr/>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baseline="0">
                <a:solidFill>
                  <a:schemeClr val="bg1"/>
                </a:solidFill>
              </a:defRPr>
            </a:lvl1pPr>
          </a:lstStyle>
          <a:p>
            <a:fld id="{67DE1CF8-1877-4310-8670-A269E8016CAC}" type="slidenum">
              <a:rPr lang="en-GB" smtClean="0"/>
              <a:pPr/>
              <a:t>‹#›</a:t>
            </a:fld>
            <a:endParaRPr lang="en-GB"/>
          </a:p>
        </p:txBody>
      </p:sp>
    </p:spTree>
    <p:extLst>
      <p:ext uri="{BB962C8B-B14F-4D97-AF65-F5344CB8AC3E}">
        <p14:creationId xmlns:p14="http://schemas.microsoft.com/office/powerpoint/2010/main" val="174216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Colour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cap="all" baseline="0">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baseline="0">
                <a:solidFill>
                  <a:schemeClr val="bg1"/>
                </a:solidFill>
              </a:defRPr>
            </a:lvl1pPr>
          </a:lstStyle>
          <a:p>
            <a:fld id="{D904E3C7-3434-41F6-8009-C52959A159FA}" type="datetime1">
              <a:rPr lang="en-GB" smtClean="0"/>
              <a:pPr/>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baseline="0">
                <a:solidFill>
                  <a:schemeClr val="bg1"/>
                </a:solidFill>
              </a:defRPr>
            </a:lvl1pPr>
          </a:lstStyle>
          <a:p>
            <a:fld id="{67DE1CF8-1877-4310-8670-A269E8016CAC}" type="slidenum">
              <a:rPr lang="en-GB" smtClean="0"/>
              <a:pPr/>
              <a:t>‹#›</a:t>
            </a:fld>
            <a:endParaRPr lang="en-GB"/>
          </a:p>
        </p:txBody>
      </p:sp>
      <p:sp>
        <p:nvSpPr>
          <p:cNvPr id="7" name="Picture Placeholder 8">
            <a:extLst>
              <a:ext uri="{FF2B5EF4-FFF2-40B4-BE49-F238E27FC236}">
                <a16:creationId xmlns:a16="http://schemas.microsoft.com/office/drawing/2014/main" id="{558EBCF5-E0AC-439B-A35D-E3E76706493D}"/>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GB"/>
              <a:t>Click icon to add picture</a:t>
            </a:r>
            <a:endParaRPr lang="en-US"/>
          </a:p>
        </p:txBody>
      </p:sp>
    </p:spTree>
    <p:extLst>
      <p:ext uri="{BB962C8B-B14F-4D97-AF65-F5344CB8AC3E}">
        <p14:creationId xmlns:p14="http://schemas.microsoft.com/office/powerpoint/2010/main" val="579066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680400"/>
            <a:ext cx="5259600" cy="1101600"/>
          </a:xfrm>
        </p:spPr>
        <p:txBody>
          <a:bodyPr/>
          <a:lstStyle>
            <a:lvl1pPr>
              <a:defRPr sz="2700" cap="none" baseline="0"/>
            </a:lvl1pPr>
          </a:lstStyle>
          <a:p>
            <a:r>
              <a:rPr lang="en-GB"/>
              <a:t>Click to edit Master title style</a:t>
            </a:r>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825200"/>
            <a:ext cx="5259600" cy="250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F0F96329-32E5-45D1-A44F-3528B41BEAB5}" type="datetime1">
              <a:rPr lang="en-GB" smtClean="0"/>
              <a:t>09/10/2026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7" name="Picture Placeholder 8">
            <a:extLst>
              <a:ext uri="{FF2B5EF4-FFF2-40B4-BE49-F238E27FC236}">
                <a16:creationId xmlns:a16="http://schemas.microsoft.com/office/drawing/2014/main" id="{F8083C25-9322-4123-BA6A-1F002C5AC178}"/>
              </a:ext>
            </a:extLst>
          </p:cNvPr>
          <p:cNvSpPr>
            <a:spLocks noGrp="1"/>
          </p:cNvSpPr>
          <p:nvPr>
            <p:ph type="pic" sz="quarter" idx="13"/>
          </p:nvPr>
        </p:nvSpPr>
        <p:spPr>
          <a:xfrm>
            <a:off x="5682354" y="0"/>
            <a:ext cx="3461646" cy="5143500"/>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075">
                <a:moveTo>
                  <a:pt x="0" y="5143500"/>
                </a:moveTo>
                <a:lnTo>
                  <a:pt x="1183466" y="1"/>
                </a:lnTo>
                <a:lnTo>
                  <a:pt x="3460649" y="0"/>
                </a:lnTo>
                <a:cubicBezTo>
                  <a:pt x="3459700" y="1716429"/>
                  <a:pt x="3470325" y="3438646"/>
                  <a:pt x="3469376" y="5155075"/>
                </a:cubicBezTo>
                <a:lnTo>
                  <a:pt x="0" y="5143500"/>
                </a:lnTo>
                <a:close/>
              </a:path>
            </a:pathLst>
          </a:custGeom>
          <a:noFill/>
        </p:spPr>
        <p:txBody>
          <a:bodyPr/>
          <a:lstStyle/>
          <a:p>
            <a:r>
              <a:rPr lang="en-GB"/>
              <a:t>Click icon to add picture</a:t>
            </a:r>
            <a:endParaRPr lang="en-US"/>
          </a:p>
        </p:txBody>
      </p:sp>
    </p:spTree>
    <p:extLst>
      <p:ext uri="{BB962C8B-B14F-4D97-AF65-F5344CB8AC3E}">
        <p14:creationId xmlns:p14="http://schemas.microsoft.com/office/powerpoint/2010/main" val="7073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lvl1pPr>
              <a:defRPr sz="2700" cap="none" baseline="0"/>
            </a:lvl1pPr>
          </a:lstStyle>
          <a:p>
            <a:r>
              <a:rPr lang="en-GB"/>
              <a:t>Click to edit Master title style</a:t>
            </a:r>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3053E6F-F562-4865-866C-DA32BD24462E}"/>
              </a:ext>
            </a:extLst>
          </p:cNvPr>
          <p:cNvSpPr>
            <a:spLocks noGrp="1"/>
          </p:cNvSpPr>
          <p:nvPr>
            <p:ph sz="half" idx="2"/>
          </p:nvPr>
        </p:nvSpPr>
        <p:spPr>
          <a:xfrm>
            <a:off x="462915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12952901-F037-4335-90F2-449535D19421}" type="datetime1">
              <a:rPr lang="en-GB" smtClean="0"/>
              <a:t>09/10/2026</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3654266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lvl1pPr>
              <a:defRPr sz="2700" cap="none" baseline="0"/>
            </a:lvl1pPr>
          </a:lstStyle>
          <a:p>
            <a:r>
              <a:rPr lang="en-GB"/>
              <a:t>Click to edit Master title style</a:t>
            </a:r>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AD08A0A7-EE55-43F8-B9FF-48474BF01C62}" type="datetime1">
              <a:rPr lang="en-GB" smtClean="0"/>
              <a:t>09/10/2026</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Picture Placeholder 8">
            <a:extLst>
              <a:ext uri="{FF2B5EF4-FFF2-40B4-BE49-F238E27FC236}">
                <a16:creationId xmlns:a16="http://schemas.microsoft.com/office/drawing/2014/main" id="{124EC5BB-E888-4D27-BEC1-966A6DA6EAE2}"/>
              </a:ext>
            </a:extLst>
          </p:cNvPr>
          <p:cNvSpPr>
            <a:spLocks noGrp="1"/>
          </p:cNvSpPr>
          <p:nvPr>
            <p:ph type="pic" sz="quarter" idx="13"/>
          </p:nvPr>
        </p:nvSpPr>
        <p:spPr>
          <a:xfrm>
            <a:off x="4629600" y="1369219"/>
            <a:ext cx="4143600" cy="2888456"/>
          </a:xfrm>
        </p:spPr>
        <p:txBody>
          <a:bodyPr/>
          <a:lstStyle>
            <a:lvl1pPr>
              <a:defRPr/>
            </a:lvl1pPr>
          </a:lstStyle>
          <a:p>
            <a:r>
              <a:rPr lang="en-GB"/>
              <a:t>Click icon to add picture</a:t>
            </a:r>
          </a:p>
        </p:txBody>
      </p:sp>
    </p:spTree>
    <p:extLst>
      <p:ext uri="{BB962C8B-B14F-4D97-AF65-F5344CB8AC3E}">
        <p14:creationId xmlns:p14="http://schemas.microsoft.com/office/powerpoint/2010/main" val="111954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C913EE-2727-4AD5-A4F4-2BB171BD1452}"/>
              </a:ext>
            </a:extLst>
          </p:cNvPr>
          <p:cNvSpPr/>
          <p:nvPr userDrawn="1"/>
        </p:nvSpPr>
        <p:spPr>
          <a:xfrm>
            <a:off x="0" y="0"/>
            <a:ext cx="9144000" cy="42243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4">
            <a:extLst>
              <a:ext uri="{FF2B5EF4-FFF2-40B4-BE49-F238E27FC236}">
                <a16:creationId xmlns:a16="http://schemas.microsoft.com/office/drawing/2014/main" id="{98CD2CEE-C7C6-454F-BABA-D3C681293B7D}"/>
              </a:ext>
            </a:extLst>
          </p:cNvPr>
          <p:cNvSpPr>
            <a:spLocks noGrp="1"/>
          </p:cNvSpPr>
          <p:nvPr>
            <p:ph type="pic" sz="quarter" idx="13"/>
          </p:nvPr>
        </p:nvSpPr>
        <p:spPr>
          <a:xfrm>
            <a:off x="370800" y="335674"/>
            <a:ext cx="8402400" cy="3553088"/>
          </a:xfrm>
          <a:prstGeom prst="rect">
            <a:avLst/>
          </a:prstGeom>
        </p:spPr>
        <p:txBody>
          <a:bodyPr/>
          <a:lstStyle>
            <a:lvl1pPr>
              <a:defRPr/>
            </a:lvl1pPr>
          </a:lstStyle>
          <a:p>
            <a:r>
              <a:rPr lang="en-GB"/>
              <a:t>Click icon to add picture</a:t>
            </a:r>
            <a:endParaRPr lang="en-US"/>
          </a:p>
        </p:txBody>
      </p:sp>
      <p:sp>
        <p:nvSpPr>
          <p:cNvPr id="3" name="Date Placeholder 2">
            <a:extLst>
              <a:ext uri="{FF2B5EF4-FFF2-40B4-BE49-F238E27FC236}">
                <a16:creationId xmlns:a16="http://schemas.microsoft.com/office/drawing/2014/main" id="{E10179F0-3632-4679-B6A5-46A0CB570E33}"/>
              </a:ext>
            </a:extLst>
          </p:cNvPr>
          <p:cNvSpPr>
            <a:spLocks noGrp="1"/>
          </p:cNvSpPr>
          <p:nvPr>
            <p:ph type="dt" sz="half" idx="10"/>
          </p:nvPr>
        </p:nvSpPr>
        <p:spPr/>
        <p:txBody>
          <a:bodyPr/>
          <a:lstStyle/>
          <a:p>
            <a:fld id="{3FAA1A33-3FCE-4155-9EE2-6FE5EF3C5DC7}" type="datetime1">
              <a:rPr lang="en-GB" smtClean="0"/>
              <a:t>09/10/2026</a:t>
            </a:fld>
            <a:endParaRPr lang="en-GB"/>
          </a:p>
        </p:txBody>
      </p:sp>
      <p:sp>
        <p:nvSpPr>
          <p:cNvPr id="4" name="Footer Placeholder 3">
            <a:extLst>
              <a:ext uri="{FF2B5EF4-FFF2-40B4-BE49-F238E27FC236}">
                <a16:creationId xmlns:a16="http://schemas.microsoft.com/office/drawing/2014/main" id="{DD3D66F0-0409-41B5-8F0F-17515FC29F6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2F6746-0473-414F-B00B-B98335701938}"/>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itle 1">
            <a:extLst>
              <a:ext uri="{FF2B5EF4-FFF2-40B4-BE49-F238E27FC236}">
                <a16:creationId xmlns:a16="http://schemas.microsoft.com/office/drawing/2014/main" id="{E5AB8804-944C-44FE-AC90-21977F1B78F3}"/>
              </a:ext>
            </a:extLst>
          </p:cNvPr>
          <p:cNvSpPr>
            <a:spLocks noGrp="1"/>
          </p:cNvSpPr>
          <p:nvPr>
            <p:ph type="title" hasCustomPrompt="1"/>
          </p:nvPr>
        </p:nvSpPr>
        <p:spPr>
          <a:xfrm>
            <a:off x="5628824" y="4348122"/>
            <a:ext cx="3143250" cy="690297"/>
          </a:xfrm>
        </p:spPr>
        <p:txBody>
          <a:bodyPr anchor="b"/>
          <a:lstStyle>
            <a:lvl1pPr>
              <a:defRPr sz="2400" b="0" i="0" baseline="0">
                <a:latin typeface="Arial" panose="020B0604020202020204" pitchFamily="34" charset="0"/>
              </a:defRPr>
            </a:lvl1pPr>
          </a:lstStyle>
          <a:p>
            <a:r>
              <a:rPr lang="en-US"/>
              <a:t>Click to add</a:t>
            </a:r>
            <a:br>
              <a:rPr lang="en-US"/>
            </a:br>
            <a:r>
              <a:rPr lang="en-US"/>
              <a:t>image caption</a:t>
            </a:r>
            <a:endParaRPr lang="en-GB"/>
          </a:p>
        </p:txBody>
      </p:sp>
    </p:spTree>
    <p:extLst>
      <p:ext uri="{BB962C8B-B14F-4D97-AF65-F5344CB8AC3E}">
        <p14:creationId xmlns:p14="http://schemas.microsoft.com/office/powerpoint/2010/main" val="185399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lee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E666FB1-7EB8-48D4-BBC6-25C76E69EA69}"/>
              </a:ext>
            </a:extLst>
          </p:cNvPr>
          <p:cNvSpPr>
            <a:spLocks noGrp="1"/>
          </p:cNvSpPr>
          <p:nvPr>
            <p:ph type="dt" sz="half" idx="10"/>
          </p:nvPr>
        </p:nvSpPr>
        <p:spPr/>
        <p:txBody>
          <a:bodyPr/>
          <a:lstStyle/>
          <a:p>
            <a:fld id="{5EE9515F-EF3A-4544-A4C7-DB909F882D02}" type="datetime1">
              <a:rPr lang="en-GB" smtClean="0"/>
              <a:t>09/10/2026</a:t>
            </a:fld>
            <a:endParaRPr lang="en-GB"/>
          </a:p>
        </p:txBody>
      </p:sp>
      <p:sp>
        <p:nvSpPr>
          <p:cNvPr id="4" name="Footer Placeholder 3">
            <a:extLst>
              <a:ext uri="{FF2B5EF4-FFF2-40B4-BE49-F238E27FC236}">
                <a16:creationId xmlns:a16="http://schemas.microsoft.com/office/drawing/2014/main" id="{6808E062-8FFD-4BEA-9E4D-0665BABE60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6FD1732-3E34-49BE-8B77-1A0F750E24F4}"/>
              </a:ext>
            </a:extLst>
          </p:cNvPr>
          <p:cNvSpPr>
            <a:spLocks noGrp="1"/>
          </p:cNvSpPr>
          <p:nvPr>
            <p:ph type="sldNum" sz="quarter" idx="12"/>
          </p:nvPr>
        </p:nvSpPr>
        <p:spPr/>
        <p:txBody>
          <a:bodyPr/>
          <a:lstStyle/>
          <a:p>
            <a:fld id="{67DE1CF8-1877-4310-8670-A269E8016CAC}" type="slidenum">
              <a:rPr lang="en-GB" smtClean="0"/>
              <a:pPr/>
              <a:t>‹#›</a:t>
            </a:fld>
            <a:endParaRPr lang="en-GB"/>
          </a:p>
        </p:txBody>
      </p:sp>
      <p:sp>
        <p:nvSpPr>
          <p:cNvPr id="6" name="Picture Placeholder 4">
            <a:extLst>
              <a:ext uri="{FF2B5EF4-FFF2-40B4-BE49-F238E27FC236}">
                <a16:creationId xmlns:a16="http://schemas.microsoft.com/office/drawing/2014/main" id="{1DD2EA03-0958-4D81-9330-2608322C4FFA}"/>
              </a:ext>
            </a:extLst>
          </p:cNvPr>
          <p:cNvSpPr>
            <a:spLocks noGrp="1"/>
          </p:cNvSpPr>
          <p:nvPr>
            <p:ph type="pic" sz="quarter" idx="13" hasCustomPrompt="1"/>
          </p:nvPr>
        </p:nvSpPr>
        <p:spPr>
          <a:xfrm>
            <a:off x="0" y="0"/>
            <a:ext cx="9144000" cy="4267200"/>
          </a:xfrm>
          <a:prstGeom prst="rect">
            <a:avLst/>
          </a:prstGeom>
        </p:spPr>
        <p:txBody>
          <a:bodyPr/>
          <a:lstStyle>
            <a:lvl1pPr>
              <a:defRPr/>
            </a:lvl1pPr>
          </a:lstStyle>
          <a:p>
            <a:r>
              <a:rPr lang="en-US"/>
              <a:t>Click icon to add full bleed picture</a:t>
            </a:r>
          </a:p>
        </p:txBody>
      </p:sp>
      <p:sp>
        <p:nvSpPr>
          <p:cNvPr id="8" name="Title 1">
            <a:extLst>
              <a:ext uri="{FF2B5EF4-FFF2-40B4-BE49-F238E27FC236}">
                <a16:creationId xmlns:a16="http://schemas.microsoft.com/office/drawing/2014/main" id="{B52A7153-D257-4B24-9EEA-C9A3F1D1EE96}"/>
              </a:ext>
            </a:extLst>
          </p:cNvPr>
          <p:cNvSpPr>
            <a:spLocks noGrp="1"/>
          </p:cNvSpPr>
          <p:nvPr>
            <p:ph type="title" hasCustomPrompt="1"/>
          </p:nvPr>
        </p:nvSpPr>
        <p:spPr>
          <a:xfrm>
            <a:off x="5628824" y="4348122"/>
            <a:ext cx="3143250" cy="690297"/>
          </a:xfrm>
        </p:spPr>
        <p:txBody>
          <a:bodyPr anchor="b"/>
          <a:lstStyle>
            <a:lvl1pPr>
              <a:defRPr sz="2400" b="0" i="0" baseline="0">
                <a:latin typeface="Arial" panose="020B0604020202020204" pitchFamily="34" charset="0"/>
              </a:defRPr>
            </a:lvl1pPr>
          </a:lstStyle>
          <a:p>
            <a:r>
              <a:rPr lang="en-US"/>
              <a:t>Click to add</a:t>
            </a:r>
            <a:br>
              <a:rPr lang="en-US"/>
            </a:br>
            <a:r>
              <a:rPr lang="en-US"/>
              <a:t>image caption</a:t>
            </a:r>
            <a:endParaRPr lang="en-GB"/>
          </a:p>
        </p:txBody>
      </p:sp>
    </p:spTree>
    <p:extLst>
      <p:ext uri="{BB962C8B-B14F-4D97-AF65-F5344CB8AC3E}">
        <p14:creationId xmlns:p14="http://schemas.microsoft.com/office/powerpoint/2010/main" val="57664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244F-AB7D-4A1B-B659-7C45DEE6D9EC}"/>
              </a:ext>
            </a:extLst>
          </p:cNvPr>
          <p:cNvSpPr>
            <a:spLocks noGrp="1"/>
          </p:cNvSpPr>
          <p:nvPr>
            <p:ph type="title"/>
          </p:nvPr>
        </p:nvSpPr>
        <p:spPr/>
        <p:txBody>
          <a:bodyPr/>
          <a:lstStyle>
            <a:lvl1pPr>
              <a:defRPr sz="2700" cap="none" baseline="0"/>
            </a:lvl1pPr>
          </a:lstStyle>
          <a:p>
            <a:r>
              <a:rPr lang="en-GB"/>
              <a:t>Click to edit Master title style</a:t>
            </a:r>
          </a:p>
        </p:txBody>
      </p:sp>
      <p:sp>
        <p:nvSpPr>
          <p:cNvPr id="3" name="Date Placeholder 2">
            <a:extLst>
              <a:ext uri="{FF2B5EF4-FFF2-40B4-BE49-F238E27FC236}">
                <a16:creationId xmlns:a16="http://schemas.microsoft.com/office/drawing/2014/main" id="{4621212D-E935-40DA-A8C3-8B44174E606C}"/>
              </a:ext>
            </a:extLst>
          </p:cNvPr>
          <p:cNvSpPr>
            <a:spLocks noGrp="1"/>
          </p:cNvSpPr>
          <p:nvPr>
            <p:ph type="dt" sz="half" idx="10"/>
          </p:nvPr>
        </p:nvSpPr>
        <p:spPr/>
        <p:txBody>
          <a:bodyPr/>
          <a:lstStyle/>
          <a:p>
            <a:fld id="{FB922975-2842-4F46-9E3A-BD83A4AB70A7}" type="datetime1">
              <a:rPr lang="en-GB" smtClean="0"/>
              <a:t>09/10/2026</a:t>
            </a:fld>
            <a:endParaRPr lang="en-GB"/>
          </a:p>
        </p:txBody>
      </p:sp>
      <p:sp>
        <p:nvSpPr>
          <p:cNvPr id="4" name="Footer Placeholder 3">
            <a:extLst>
              <a:ext uri="{FF2B5EF4-FFF2-40B4-BE49-F238E27FC236}">
                <a16:creationId xmlns:a16="http://schemas.microsoft.com/office/drawing/2014/main" id="{32684AF7-63FF-4F17-8CEC-05F9D0F11F1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2C3E4AC-67E3-4249-9DF5-A4C70E5F12DF}"/>
              </a:ext>
            </a:extLst>
          </p:cNvPr>
          <p:cNvSpPr>
            <a:spLocks noGrp="1"/>
          </p:cNvSpPr>
          <p:nvPr>
            <p:ph type="sldNum" sz="quarter" idx="12"/>
          </p:nvPr>
        </p:nvSpPr>
        <p:spPr/>
        <p:txBody>
          <a:bodyPr/>
          <a:lstStyle/>
          <a:p>
            <a:fld id="{67DE1CF8-1877-4310-8670-A269E8016CAC}" type="slidenum">
              <a:rPr lang="en-GB" smtClean="0"/>
              <a:pPr/>
              <a:t>‹#›</a:t>
            </a:fld>
            <a:endParaRPr lang="en-GB"/>
          </a:p>
        </p:txBody>
      </p:sp>
    </p:spTree>
    <p:extLst>
      <p:ext uri="{BB962C8B-B14F-4D97-AF65-F5344CB8AC3E}">
        <p14:creationId xmlns:p14="http://schemas.microsoft.com/office/powerpoint/2010/main" val="2752392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926B6-9036-4126-AE1F-8A37EA538A2C}"/>
              </a:ext>
            </a:extLst>
          </p:cNvPr>
          <p:cNvSpPr>
            <a:spLocks noGrp="1"/>
          </p:cNvSpPr>
          <p:nvPr>
            <p:ph type="dt" sz="half" idx="10"/>
          </p:nvPr>
        </p:nvSpPr>
        <p:spPr/>
        <p:txBody>
          <a:bodyPr/>
          <a:lstStyle/>
          <a:p>
            <a:fld id="{160FE109-D549-48E1-9AC0-88A28FCC05A2}" type="datetime1">
              <a:rPr lang="en-GB" smtClean="0"/>
              <a:t>09/10/2026</a:t>
            </a:fld>
            <a:endParaRPr lang="en-GB"/>
          </a:p>
        </p:txBody>
      </p:sp>
      <p:sp>
        <p:nvSpPr>
          <p:cNvPr id="3" name="Footer Placeholder 2">
            <a:extLst>
              <a:ext uri="{FF2B5EF4-FFF2-40B4-BE49-F238E27FC236}">
                <a16:creationId xmlns:a16="http://schemas.microsoft.com/office/drawing/2014/main" id="{889A293D-86F4-467C-A6B2-024611FA1E2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759A11-3108-4192-81AD-C415E05429B6}"/>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557658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1375108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281252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3053E6F-F562-4865-866C-DA32BD24462E}"/>
              </a:ext>
            </a:extLst>
          </p:cNvPr>
          <p:cNvSpPr>
            <a:spLocks noGrp="1"/>
          </p:cNvSpPr>
          <p:nvPr>
            <p:ph sz="half" idx="2"/>
          </p:nvPr>
        </p:nvSpPr>
        <p:spPr>
          <a:xfrm>
            <a:off x="462915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464F4853-AD47-7946-A25E-DB0CFD21869B}" type="datetime4">
              <a:rPr lang="en-GB" smtClean="0"/>
              <a:t>9 October 2026</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r>
              <a:rPr lang="en-GB"/>
              <a:t>CC BY-NC-ND 4.0 @Dan Schien 2019</a:t>
            </a:r>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0" name="Text Placeholder 8">
            <a:extLst>
              <a:ext uri="{FF2B5EF4-FFF2-40B4-BE49-F238E27FC236}">
                <a16:creationId xmlns:a16="http://schemas.microsoft.com/office/drawing/2014/main" id="{36C47FCC-0B07-BD41-B507-64A49B21AE9A}"/>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454183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492067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715930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918815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85219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1256829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122611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9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42706926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0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9711301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1458909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0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7A42366-978C-434A-8C25-54D5101A124A}" type="datetime4">
              <a:rPr lang="en-GB" smtClean="0"/>
              <a:t>9 October 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5864772" y="4669079"/>
            <a:ext cx="2908428" cy="273844"/>
          </a:xfrm>
        </p:spPr>
        <p:txBody>
          <a:bodyPr/>
          <a:lstStyle>
            <a:lvl1pPr>
              <a:defRPr sz="800">
                <a:solidFill>
                  <a:schemeClr val="bg1">
                    <a:lumMod val="65000"/>
                  </a:schemeClr>
                </a:solidFill>
              </a:defRPr>
            </a:lvl1pPr>
          </a:lstStyle>
          <a:p>
            <a:r>
              <a:rPr lang="en-GB"/>
              <a:t>CC BY-NC-ND 4.0 @Dan Schien 2019</a:t>
            </a:r>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F09F2D2F-9D26-B046-A008-9C4C6B47FB99}"/>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3"/>
                </a:solidFill>
                <a:latin typeface="Rockwell" panose="02060603020205020403" pitchFamily="18" charset="77"/>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18168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 White and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baseline="0"/>
            </a:lvl1pPr>
          </a:lstStyle>
          <a:p>
            <a:r>
              <a:rPr lang="en-US"/>
              <a:t>Click to edit Master title style</a:t>
            </a:r>
            <a:endParaRPr lang="en-GB"/>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1666282-696E-4BC8-B8B0-F336AA0FA017}" type="datetime1">
              <a:rPr lang="en-GB" smtClean="0"/>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baseline="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A1277E6E-6749-489A-9A65-DFF1D7BE377F}"/>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904945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lvl1pPr>
              <a:defRPr cap="none" baseline="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D6B97AD8-1FCE-4D4C-86B9-3F1377F62059}" type="datetime1">
              <a:rPr lang="en-GB" smtClean="0"/>
              <a:t>09/10/2026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6715800" y="4361092"/>
            <a:ext cx="2057400" cy="273844"/>
          </a:xfrm>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912F0D55-9CD8-4149-AC74-111428CB375C}"/>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5492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White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EC0E44-31DD-4789-86DE-B6E31155F116}"/>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baseline="0"/>
            </a:lvl1pPr>
          </a:lstStyle>
          <a:p>
            <a:r>
              <a:rPr lang="en-US"/>
              <a:t>Click to edit Master title style</a:t>
            </a:r>
            <a:endParaRPr lang="en-GB"/>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99D62B8-D7ED-4B07-9A04-1E3FEAB2A48C}" type="datetime1">
              <a:rPr lang="en-GB" smtClean="0"/>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B31D6D51-0B2F-EE4F-A57F-A63BF66DADA2}"/>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6699015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 White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baseline="0"/>
            </a:lvl1pPr>
          </a:lstStyle>
          <a:p>
            <a:r>
              <a:rPr lang="en-US"/>
              <a:t>Click to edit Master title style</a:t>
            </a:r>
            <a:endParaRPr lang="en-GB"/>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1666282-696E-4BC8-B8B0-F336AA0FA017}" type="datetime1">
              <a:rPr lang="en-GB" smtClean="0"/>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Picture Placeholder 8">
            <a:extLst>
              <a:ext uri="{FF2B5EF4-FFF2-40B4-BE49-F238E27FC236}">
                <a16:creationId xmlns:a16="http://schemas.microsoft.com/office/drawing/2014/main" id="{07491796-214B-45DE-99F8-B1AF36C957CE}"/>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US"/>
              <a:t>Click icon to add picture</a:t>
            </a:r>
          </a:p>
        </p:txBody>
      </p:sp>
      <p:sp>
        <p:nvSpPr>
          <p:cNvPr id="10" name="Text Placeholder 8">
            <a:extLst>
              <a:ext uri="{FF2B5EF4-FFF2-40B4-BE49-F238E27FC236}">
                <a16:creationId xmlns:a16="http://schemas.microsoft.com/office/drawing/2014/main" id="{616DADB9-326D-1548-B650-735E35C21D8B}"/>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3882890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 Colour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A903D7F4-2AD2-4C9C-9330-C03E0E70D3F1}"/>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baseline="0">
                <a:solidFill>
                  <a:schemeClr val="bg1"/>
                </a:solidFill>
              </a:defRPr>
            </a:lvl1pPr>
          </a:lstStyle>
          <a:p>
            <a:fld id="{3E2C485A-CFD1-4426-A587-FCC12D6AD237}" type="datetime1">
              <a:rPr lang="en-GB" smtClean="0"/>
              <a:pPr/>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baseline="0">
                <a:solidFill>
                  <a:schemeClr val="bg1"/>
                </a:solidFill>
              </a:defRPr>
            </a:lvl1pPr>
          </a:lstStyle>
          <a:p>
            <a:fld id="{67DE1CF8-1877-4310-8670-A269E8016CAC}" type="slidenum">
              <a:rPr lang="en-GB" smtClean="0"/>
              <a:pPr/>
              <a:t>‹#›</a:t>
            </a:fld>
            <a:endParaRPr lang="en-GB"/>
          </a:p>
        </p:txBody>
      </p:sp>
      <p:sp>
        <p:nvSpPr>
          <p:cNvPr id="9" name="Text Placeholder 8">
            <a:extLst>
              <a:ext uri="{FF2B5EF4-FFF2-40B4-BE49-F238E27FC236}">
                <a16:creationId xmlns:a16="http://schemas.microsoft.com/office/drawing/2014/main" id="{32F72749-A371-1D44-B1FE-5603940BB6B8}"/>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bg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8612299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 Colour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2700"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baseline="0">
                <a:solidFill>
                  <a:schemeClr val="bg1"/>
                </a:solidFill>
              </a:defRPr>
            </a:lvl1pPr>
          </a:lstStyle>
          <a:p>
            <a:fld id="{D904E3C7-3434-41F6-8009-C52959A159FA}" type="datetime1">
              <a:rPr lang="en-GB" smtClean="0"/>
              <a:pPr/>
              <a:t>09/10/2026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baseline="0">
                <a:solidFill>
                  <a:schemeClr val="bg1"/>
                </a:solidFill>
              </a:defRPr>
            </a:lvl1pPr>
          </a:lstStyle>
          <a:p>
            <a:fld id="{67DE1CF8-1877-4310-8670-A269E8016CAC}" type="slidenum">
              <a:rPr lang="en-GB" smtClean="0"/>
              <a:pPr/>
              <a:t>‹#›</a:t>
            </a:fld>
            <a:endParaRPr lang="en-GB"/>
          </a:p>
        </p:txBody>
      </p:sp>
      <p:sp>
        <p:nvSpPr>
          <p:cNvPr id="7" name="Picture Placeholder 8">
            <a:extLst>
              <a:ext uri="{FF2B5EF4-FFF2-40B4-BE49-F238E27FC236}">
                <a16:creationId xmlns:a16="http://schemas.microsoft.com/office/drawing/2014/main" id="{558EBCF5-E0AC-439B-A35D-E3E76706493D}"/>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US"/>
              <a:t>Click icon to add picture</a:t>
            </a:r>
          </a:p>
        </p:txBody>
      </p:sp>
      <p:sp>
        <p:nvSpPr>
          <p:cNvPr id="9" name="Text Placeholder 8">
            <a:extLst>
              <a:ext uri="{FF2B5EF4-FFF2-40B4-BE49-F238E27FC236}">
                <a16:creationId xmlns:a16="http://schemas.microsoft.com/office/drawing/2014/main" id="{2E05A56F-2D56-478C-8B76-D1EA61ECFB6D}"/>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bg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3622885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680400"/>
            <a:ext cx="5259600" cy="1101600"/>
          </a:xfrm>
        </p:spPr>
        <p:txBody>
          <a:bodyPr/>
          <a:lstStyle>
            <a:lvl1pPr>
              <a:defRPr cap="none" baseline="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825200"/>
            <a:ext cx="5259600" cy="250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F0F96329-32E5-45D1-A44F-3528B41BEAB5}" type="datetime1">
              <a:rPr lang="en-GB" smtClean="0"/>
              <a:t>09/10/2026</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7" name="Picture Placeholder 8">
            <a:extLst>
              <a:ext uri="{FF2B5EF4-FFF2-40B4-BE49-F238E27FC236}">
                <a16:creationId xmlns:a16="http://schemas.microsoft.com/office/drawing/2014/main" id="{F8083C25-9322-4123-BA6A-1F002C5AC178}"/>
              </a:ext>
            </a:extLst>
          </p:cNvPr>
          <p:cNvSpPr>
            <a:spLocks noGrp="1"/>
          </p:cNvSpPr>
          <p:nvPr>
            <p:ph type="pic" sz="quarter" idx="13"/>
          </p:nvPr>
        </p:nvSpPr>
        <p:spPr>
          <a:xfrm>
            <a:off x="5682354" y="0"/>
            <a:ext cx="3461646" cy="5143500"/>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075">
                <a:moveTo>
                  <a:pt x="0" y="5143500"/>
                </a:moveTo>
                <a:lnTo>
                  <a:pt x="1183466" y="1"/>
                </a:lnTo>
                <a:lnTo>
                  <a:pt x="3460649" y="0"/>
                </a:lnTo>
                <a:cubicBezTo>
                  <a:pt x="3459700" y="1716429"/>
                  <a:pt x="3470325" y="3438646"/>
                  <a:pt x="3469376" y="5155075"/>
                </a:cubicBezTo>
                <a:lnTo>
                  <a:pt x="0" y="5143500"/>
                </a:lnTo>
                <a:close/>
              </a:path>
            </a:pathLst>
          </a:custGeom>
          <a:noFill/>
        </p:spPr>
        <p:txBody>
          <a:bodyPr/>
          <a:lstStyle/>
          <a:p>
            <a:r>
              <a:rPr lang="en-US"/>
              <a:t>Click icon to add picture</a:t>
            </a:r>
          </a:p>
        </p:txBody>
      </p:sp>
      <p:sp>
        <p:nvSpPr>
          <p:cNvPr id="10" name="Text Placeholder 8">
            <a:extLst>
              <a:ext uri="{FF2B5EF4-FFF2-40B4-BE49-F238E27FC236}">
                <a16:creationId xmlns:a16="http://schemas.microsoft.com/office/drawing/2014/main" id="{B60B14CD-4A00-594A-AAD9-53EA942B524C}"/>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726975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lvl1pPr>
              <a:defRPr cap="none" baseline="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3053E6F-F562-4865-866C-DA32BD24462E}"/>
              </a:ext>
            </a:extLst>
          </p:cNvPr>
          <p:cNvSpPr>
            <a:spLocks noGrp="1"/>
          </p:cNvSpPr>
          <p:nvPr>
            <p:ph sz="half" idx="2"/>
          </p:nvPr>
        </p:nvSpPr>
        <p:spPr>
          <a:xfrm>
            <a:off x="462915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12952901-F037-4335-90F2-449535D19421}" type="datetime1">
              <a:rPr lang="en-GB" smtClean="0"/>
              <a:t>09/10/2026</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0" name="Text Placeholder 8">
            <a:extLst>
              <a:ext uri="{FF2B5EF4-FFF2-40B4-BE49-F238E27FC236}">
                <a16:creationId xmlns:a16="http://schemas.microsoft.com/office/drawing/2014/main" id="{5D3A08AC-C1EC-5445-AB28-5F047F0DB56D}"/>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1607494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lvl1pPr>
              <a:defRPr cap="none" baseline="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AD08A0A7-EE55-43F8-B9FF-48474BF01C62}" type="datetime1">
              <a:rPr lang="en-GB" smtClean="0"/>
              <a:t>09/10/2026</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Picture Placeholder 8">
            <a:extLst>
              <a:ext uri="{FF2B5EF4-FFF2-40B4-BE49-F238E27FC236}">
                <a16:creationId xmlns:a16="http://schemas.microsoft.com/office/drawing/2014/main" id="{124EC5BB-E888-4D27-BEC1-966A6DA6EAE2}"/>
              </a:ext>
            </a:extLst>
          </p:cNvPr>
          <p:cNvSpPr>
            <a:spLocks noGrp="1"/>
          </p:cNvSpPr>
          <p:nvPr>
            <p:ph type="pic" sz="quarter" idx="13"/>
          </p:nvPr>
        </p:nvSpPr>
        <p:spPr>
          <a:xfrm>
            <a:off x="4629600" y="1369219"/>
            <a:ext cx="4143600" cy="2888456"/>
          </a:xfrm>
        </p:spPr>
        <p:txBody>
          <a:bodyPr/>
          <a:lstStyle>
            <a:lvl1pPr>
              <a:defRPr/>
            </a:lvl1pPr>
          </a:lstStyle>
          <a:p>
            <a:r>
              <a:rPr lang="en-US"/>
              <a:t>Click icon to add picture</a:t>
            </a:r>
            <a:endParaRPr lang="en-GB"/>
          </a:p>
        </p:txBody>
      </p:sp>
      <p:sp>
        <p:nvSpPr>
          <p:cNvPr id="11" name="Text Placeholder 8">
            <a:extLst>
              <a:ext uri="{FF2B5EF4-FFF2-40B4-BE49-F238E27FC236}">
                <a16:creationId xmlns:a16="http://schemas.microsoft.com/office/drawing/2014/main" id="{F9CD2AA8-A7AF-544F-97FA-69AF01153087}"/>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9663677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8CD2CEE-C7C6-454F-BABA-D3C681293B7D}"/>
              </a:ext>
            </a:extLst>
          </p:cNvPr>
          <p:cNvSpPr>
            <a:spLocks noGrp="1"/>
          </p:cNvSpPr>
          <p:nvPr>
            <p:ph type="pic" sz="quarter" idx="13"/>
          </p:nvPr>
        </p:nvSpPr>
        <p:spPr>
          <a:xfrm>
            <a:off x="370800" y="335674"/>
            <a:ext cx="8402400" cy="3553088"/>
          </a:xfrm>
          <a:prstGeom prst="rect">
            <a:avLst/>
          </a:prstGeom>
        </p:spPr>
        <p:txBody>
          <a:bodyPr/>
          <a:lstStyle>
            <a:lvl1pPr>
              <a:defRPr/>
            </a:lvl1pPr>
          </a:lstStyle>
          <a:p>
            <a:r>
              <a:rPr lang="en-US"/>
              <a:t>Click icon to add picture</a:t>
            </a:r>
          </a:p>
        </p:txBody>
      </p:sp>
      <p:sp>
        <p:nvSpPr>
          <p:cNvPr id="3" name="Date Placeholder 2">
            <a:extLst>
              <a:ext uri="{FF2B5EF4-FFF2-40B4-BE49-F238E27FC236}">
                <a16:creationId xmlns:a16="http://schemas.microsoft.com/office/drawing/2014/main" id="{E10179F0-3632-4679-B6A5-46A0CB570E33}"/>
              </a:ext>
            </a:extLst>
          </p:cNvPr>
          <p:cNvSpPr>
            <a:spLocks noGrp="1"/>
          </p:cNvSpPr>
          <p:nvPr>
            <p:ph type="dt" sz="half" idx="10"/>
          </p:nvPr>
        </p:nvSpPr>
        <p:spPr/>
        <p:txBody>
          <a:bodyPr/>
          <a:lstStyle/>
          <a:p>
            <a:fld id="{3FAA1A33-3FCE-4155-9EE2-6FE5EF3C5DC7}" type="datetime1">
              <a:rPr lang="en-GB" smtClean="0"/>
              <a:t>09/10/2026</a:t>
            </a:fld>
            <a:endParaRPr lang="en-GB"/>
          </a:p>
        </p:txBody>
      </p:sp>
      <p:sp>
        <p:nvSpPr>
          <p:cNvPr id="4" name="Footer Placeholder 3">
            <a:extLst>
              <a:ext uri="{FF2B5EF4-FFF2-40B4-BE49-F238E27FC236}">
                <a16:creationId xmlns:a16="http://schemas.microsoft.com/office/drawing/2014/main" id="{DD3D66F0-0409-41B5-8F0F-17515FC29F6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2F6746-0473-414F-B00B-B98335701938}"/>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Rectangle 10">
            <a:extLst>
              <a:ext uri="{FF2B5EF4-FFF2-40B4-BE49-F238E27FC236}">
                <a16:creationId xmlns:a16="http://schemas.microsoft.com/office/drawing/2014/main" id="{F658813F-CBC4-43D6-900B-5F80FF478B19}"/>
              </a:ext>
            </a:extLst>
          </p:cNvPr>
          <p:cNvSpPr/>
          <p:nvPr userDrawn="1"/>
        </p:nvSpPr>
        <p:spPr>
          <a:xfrm>
            <a:off x="0" y="0"/>
            <a:ext cx="9144000" cy="42243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9A113D54-2F93-4A2E-8BB5-789218AEBACE}"/>
              </a:ext>
            </a:extLst>
          </p:cNvPr>
          <p:cNvSpPr>
            <a:spLocks noGrp="1"/>
          </p:cNvSpPr>
          <p:nvPr>
            <p:ph type="title" hasCustomPrompt="1"/>
          </p:nvPr>
        </p:nvSpPr>
        <p:spPr>
          <a:xfrm>
            <a:off x="5628824" y="4348122"/>
            <a:ext cx="3143250" cy="690297"/>
          </a:xfrm>
        </p:spPr>
        <p:txBody>
          <a:bodyPr anchor="b"/>
          <a:lstStyle>
            <a:lvl1pPr>
              <a:defRPr sz="2400" b="0" i="0" cap="none" baseline="0">
                <a:latin typeface="Arial" panose="020B0604020202020204" pitchFamily="34" charset="0"/>
              </a:defRPr>
            </a:lvl1pPr>
          </a:lstStyle>
          <a:p>
            <a:r>
              <a:rPr lang="en-US"/>
              <a:t>Click to add</a:t>
            </a:r>
            <a:br>
              <a:rPr lang="en-US"/>
            </a:br>
            <a:r>
              <a:rPr lang="en-US"/>
              <a:t>image caption</a:t>
            </a:r>
            <a:endParaRPr lang="en-GB"/>
          </a:p>
        </p:txBody>
      </p:sp>
      <p:sp>
        <p:nvSpPr>
          <p:cNvPr id="9" name="Text Placeholder 8">
            <a:extLst>
              <a:ext uri="{FF2B5EF4-FFF2-40B4-BE49-F238E27FC236}">
                <a16:creationId xmlns:a16="http://schemas.microsoft.com/office/drawing/2014/main" id="{1F8FFA18-F149-0A48-9FB8-6C2B11B51F02}"/>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6972956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E666FB1-7EB8-48D4-BBC6-25C76E69EA69}"/>
              </a:ext>
            </a:extLst>
          </p:cNvPr>
          <p:cNvSpPr>
            <a:spLocks noGrp="1"/>
          </p:cNvSpPr>
          <p:nvPr>
            <p:ph type="dt" sz="half" idx="10"/>
          </p:nvPr>
        </p:nvSpPr>
        <p:spPr/>
        <p:txBody>
          <a:bodyPr/>
          <a:lstStyle/>
          <a:p>
            <a:fld id="{5EE9515F-EF3A-4544-A4C7-DB909F882D02}" type="datetime1">
              <a:rPr lang="en-GB" smtClean="0"/>
              <a:t>09/10/2026</a:t>
            </a:fld>
            <a:endParaRPr lang="en-GB"/>
          </a:p>
        </p:txBody>
      </p:sp>
      <p:sp>
        <p:nvSpPr>
          <p:cNvPr id="4" name="Footer Placeholder 3">
            <a:extLst>
              <a:ext uri="{FF2B5EF4-FFF2-40B4-BE49-F238E27FC236}">
                <a16:creationId xmlns:a16="http://schemas.microsoft.com/office/drawing/2014/main" id="{6808E062-8FFD-4BEA-9E4D-0665BABE60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6FD1732-3E34-49BE-8B77-1A0F750E24F4}"/>
              </a:ext>
            </a:extLst>
          </p:cNvPr>
          <p:cNvSpPr>
            <a:spLocks noGrp="1"/>
          </p:cNvSpPr>
          <p:nvPr>
            <p:ph type="sldNum" sz="quarter" idx="12"/>
          </p:nvPr>
        </p:nvSpPr>
        <p:spPr/>
        <p:txBody>
          <a:bodyPr/>
          <a:lstStyle/>
          <a:p>
            <a:fld id="{67DE1CF8-1877-4310-8670-A269E8016CAC}" type="slidenum">
              <a:rPr lang="en-GB" smtClean="0"/>
              <a:pPr/>
              <a:t>‹#›</a:t>
            </a:fld>
            <a:endParaRPr lang="en-GB"/>
          </a:p>
        </p:txBody>
      </p:sp>
      <p:sp>
        <p:nvSpPr>
          <p:cNvPr id="6" name="Picture Placeholder 4">
            <a:extLst>
              <a:ext uri="{FF2B5EF4-FFF2-40B4-BE49-F238E27FC236}">
                <a16:creationId xmlns:a16="http://schemas.microsoft.com/office/drawing/2014/main" id="{1DD2EA03-0958-4D81-9330-2608322C4FFA}"/>
              </a:ext>
            </a:extLst>
          </p:cNvPr>
          <p:cNvSpPr>
            <a:spLocks noGrp="1"/>
          </p:cNvSpPr>
          <p:nvPr>
            <p:ph type="pic" sz="quarter" idx="13" hasCustomPrompt="1"/>
          </p:nvPr>
        </p:nvSpPr>
        <p:spPr>
          <a:xfrm>
            <a:off x="0" y="0"/>
            <a:ext cx="9144000" cy="4267200"/>
          </a:xfrm>
          <a:prstGeom prst="rect">
            <a:avLst/>
          </a:prstGeom>
        </p:spPr>
        <p:txBody>
          <a:bodyPr/>
          <a:lstStyle>
            <a:lvl1pPr>
              <a:defRPr/>
            </a:lvl1pPr>
          </a:lstStyle>
          <a:p>
            <a:r>
              <a:rPr lang="en-US"/>
              <a:t>Click icon to add full bleed picture</a:t>
            </a:r>
          </a:p>
        </p:txBody>
      </p:sp>
      <p:sp>
        <p:nvSpPr>
          <p:cNvPr id="9" name="Title 1">
            <a:extLst>
              <a:ext uri="{FF2B5EF4-FFF2-40B4-BE49-F238E27FC236}">
                <a16:creationId xmlns:a16="http://schemas.microsoft.com/office/drawing/2014/main" id="{669A0CDB-B305-4654-820B-083E7FB4BF93}"/>
              </a:ext>
            </a:extLst>
          </p:cNvPr>
          <p:cNvSpPr>
            <a:spLocks noGrp="1"/>
          </p:cNvSpPr>
          <p:nvPr>
            <p:ph type="title" hasCustomPrompt="1"/>
          </p:nvPr>
        </p:nvSpPr>
        <p:spPr>
          <a:xfrm>
            <a:off x="5628824" y="4348122"/>
            <a:ext cx="3143250" cy="690297"/>
          </a:xfrm>
        </p:spPr>
        <p:txBody>
          <a:bodyPr anchor="b"/>
          <a:lstStyle>
            <a:lvl1pPr>
              <a:defRPr sz="2400" b="0" i="0" cap="none" baseline="0">
                <a:latin typeface="Arial" panose="020B0604020202020204" pitchFamily="34" charset="0"/>
              </a:defRPr>
            </a:lvl1pPr>
          </a:lstStyle>
          <a:p>
            <a:r>
              <a:rPr lang="en-US"/>
              <a:t>Click to add</a:t>
            </a:r>
            <a:br>
              <a:rPr lang="en-US"/>
            </a:br>
            <a:r>
              <a:rPr lang="en-US"/>
              <a:t>image caption</a:t>
            </a:r>
            <a:endParaRPr lang="en-GB"/>
          </a:p>
        </p:txBody>
      </p:sp>
      <p:sp>
        <p:nvSpPr>
          <p:cNvPr id="10" name="Text Placeholder 8">
            <a:extLst>
              <a:ext uri="{FF2B5EF4-FFF2-40B4-BE49-F238E27FC236}">
                <a16:creationId xmlns:a16="http://schemas.microsoft.com/office/drawing/2014/main" id="{9FC92C9B-A566-5746-8B37-73483CA90870}"/>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554629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244F-AB7D-4A1B-B659-7C45DEE6D9EC}"/>
              </a:ext>
            </a:extLst>
          </p:cNvPr>
          <p:cNvSpPr>
            <a:spLocks noGrp="1"/>
          </p:cNvSpPr>
          <p:nvPr>
            <p:ph type="title"/>
          </p:nvPr>
        </p:nvSpPr>
        <p:spPr/>
        <p:txBody>
          <a:bodyPr/>
          <a:lstStyle>
            <a:lvl1pPr>
              <a:defRPr cap="none" baseline="0"/>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4621212D-E935-40DA-A8C3-8B44174E606C}"/>
              </a:ext>
            </a:extLst>
          </p:cNvPr>
          <p:cNvSpPr>
            <a:spLocks noGrp="1"/>
          </p:cNvSpPr>
          <p:nvPr>
            <p:ph type="dt" sz="half" idx="10"/>
          </p:nvPr>
        </p:nvSpPr>
        <p:spPr/>
        <p:txBody>
          <a:bodyPr/>
          <a:lstStyle/>
          <a:p>
            <a:fld id="{FB922975-2842-4F46-9E3A-BD83A4AB70A7}" type="datetime1">
              <a:rPr lang="en-GB" smtClean="0"/>
              <a:t>09/10/2026</a:t>
            </a:fld>
            <a:endParaRPr lang="en-GB"/>
          </a:p>
        </p:txBody>
      </p:sp>
      <p:sp>
        <p:nvSpPr>
          <p:cNvPr id="4" name="Footer Placeholder 3">
            <a:extLst>
              <a:ext uri="{FF2B5EF4-FFF2-40B4-BE49-F238E27FC236}">
                <a16:creationId xmlns:a16="http://schemas.microsoft.com/office/drawing/2014/main" id="{32684AF7-63FF-4F17-8CEC-05F9D0F11F1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2C3E4AC-67E3-4249-9DF5-A4C70E5F12DF}"/>
              </a:ext>
            </a:extLst>
          </p:cNvPr>
          <p:cNvSpPr>
            <a:spLocks noGrp="1"/>
          </p:cNvSpPr>
          <p:nvPr>
            <p:ph type="sldNum" sz="quarter" idx="12"/>
          </p:nvPr>
        </p:nvSpPr>
        <p:spPr/>
        <p:txBody>
          <a:bodyPr/>
          <a:lstStyle/>
          <a:p>
            <a:fld id="{67DE1CF8-1877-4310-8670-A269E8016CAC}" type="slidenum">
              <a:rPr lang="en-GB" smtClean="0"/>
              <a:pPr/>
              <a:t>‹#›</a:t>
            </a:fld>
            <a:endParaRPr lang="en-GB"/>
          </a:p>
        </p:txBody>
      </p:sp>
      <p:sp>
        <p:nvSpPr>
          <p:cNvPr id="8" name="Text Placeholder 8">
            <a:extLst>
              <a:ext uri="{FF2B5EF4-FFF2-40B4-BE49-F238E27FC236}">
                <a16:creationId xmlns:a16="http://schemas.microsoft.com/office/drawing/2014/main" id="{1E47F59D-6A22-FA41-8C19-6774E8F92CD1}"/>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24575785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926B6-9036-4126-AE1F-8A37EA538A2C}"/>
              </a:ext>
            </a:extLst>
          </p:cNvPr>
          <p:cNvSpPr>
            <a:spLocks noGrp="1"/>
          </p:cNvSpPr>
          <p:nvPr>
            <p:ph type="dt" sz="half" idx="10"/>
          </p:nvPr>
        </p:nvSpPr>
        <p:spPr/>
        <p:txBody>
          <a:bodyPr/>
          <a:lstStyle/>
          <a:p>
            <a:fld id="{160FE109-D549-48E1-9AC0-88A28FCC05A2}" type="datetime1">
              <a:rPr lang="en-GB" smtClean="0"/>
              <a:t>09/10/2026</a:t>
            </a:fld>
            <a:endParaRPr lang="en-GB"/>
          </a:p>
        </p:txBody>
      </p:sp>
      <p:sp>
        <p:nvSpPr>
          <p:cNvPr id="3" name="Footer Placeholder 2">
            <a:extLst>
              <a:ext uri="{FF2B5EF4-FFF2-40B4-BE49-F238E27FC236}">
                <a16:creationId xmlns:a16="http://schemas.microsoft.com/office/drawing/2014/main" id="{889A293D-86F4-467C-A6B2-024611FA1E2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759A11-3108-4192-81AD-C415E05429B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7" name="Text Placeholder 8">
            <a:extLst>
              <a:ext uri="{FF2B5EF4-FFF2-40B4-BE49-F238E27FC236}">
                <a16:creationId xmlns:a16="http://schemas.microsoft.com/office/drawing/2014/main" id="{B63C5EA1-55AB-5E40-9DEF-74679B0447ED}"/>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1900" b="0" i="0" baseline="0">
                <a:solidFill>
                  <a:schemeClr val="tx1"/>
                </a:solidFill>
                <a:latin typeface="Arial" panose="020B0604020202020204" pitchFamily="34" charset="0"/>
              </a:defRPr>
            </a:lvl1pPr>
          </a:lstStyle>
          <a:p>
            <a:pPr lvl="0"/>
            <a:r>
              <a:rPr lang="en-US"/>
              <a:t>bristol.ac.uk/&lt;add </a:t>
            </a:r>
            <a:r>
              <a:rPr lang="en-US" err="1"/>
              <a:t>url</a:t>
            </a:r>
            <a:r>
              <a:rPr lang="en-US"/>
              <a:t>&gt;</a:t>
            </a:r>
            <a:endParaRPr lang="en-GB"/>
          </a:p>
        </p:txBody>
      </p:sp>
    </p:spTree>
    <p:extLst>
      <p:ext uri="{BB962C8B-B14F-4D97-AF65-F5344CB8AC3E}">
        <p14:creationId xmlns:p14="http://schemas.microsoft.com/office/powerpoint/2010/main" val="64316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7C7EFF-4B85-47B4-9AEE-BAC2AEA4EE42}"/>
              </a:ext>
            </a:extLst>
          </p:cNvPr>
          <p:cNvSpPr>
            <a:spLocks noGrp="1"/>
          </p:cNvSpPr>
          <p:nvPr>
            <p:ph type="title"/>
          </p:nvPr>
        </p:nvSpPr>
        <p:spPr>
          <a:xfrm>
            <a:off x="370800" y="273844"/>
            <a:ext cx="8402400" cy="994172"/>
          </a:xfrm>
          <a:prstGeom prst="rect">
            <a:avLst/>
          </a:prstGeom>
        </p:spPr>
        <p:txBody>
          <a:bodyPr vert="horz" lIns="91440" tIns="45720" rIns="91440" bIns="45720" rtlCol="0" anchor="ctr">
            <a:noAutofit/>
          </a:bodyPr>
          <a:lstStyle/>
          <a:p>
            <a:r>
              <a:rPr lang="en-GB"/>
              <a:t>CLICK TO EDIT MASTER TITLE </a:t>
            </a:r>
          </a:p>
        </p:txBody>
      </p:sp>
      <p:sp>
        <p:nvSpPr>
          <p:cNvPr id="3" name="Text Placeholder 2">
            <a:extLst>
              <a:ext uri="{FF2B5EF4-FFF2-40B4-BE49-F238E27FC236}">
                <a16:creationId xmlns:a16="http://schemas.microsoft.com/office/drawing/2014/main" id="{83BE355A-FC37-40C1-881B-11D9A87A1E61}"/>
              </a:ext>
            </a:extLst>
          </p:cNvPr>
          <p:cNvSpPr>
            <a:spLocks noGrp="1"/>
          </p:cNvSpPr>
          <p:nvPr>
            <p:ph type="body" idx="1"/>
          </p:nvPr>
        </p:nvSpPr>
        <p:spPr>
          <a:xfrm>
            <a:off x="370800" y="1369219"/>
            <a:ext cx="8402400" cy="289491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3AC79F3-7BFD-4B2B-9937-D0CB01C01D76}"/>
              </a:ext>
            </a:extLst>
          </p:cNvPr>
          <p:cNvSpPr>
            <a:spLocks noGrp="1"/>
          </p:cNvSpPr>
          <p:nvPr>
            <p:ph type="dt" sz="half" idx="2"/>
          </p:nvPr>
        </p:nvSpPr>
        <p:spPr>
          <a:xfrm>
            <a:off x="370800" y="4361092"/>
            <a:ext cx="2057400" cy="273844"/>
          </a:xfrm>
          <a:prstGeom prst="rect">
            <a:avLst/>
          </a:prstGeom>
        </p:spPr>
        <p:txBody>
          <a:bodyPr vert="horz" lIns="91440" tIns="45720" rIns="91440" bIns="45720" rtlCol="0" anchor="ctr"/>
          <a:lstStyle>
            <a:lvl1pPr algn="l">
              <a:defRPr sz="1200" b="0">
                <a:solidFill>
                  <a:schemeClr val="tx1"/>
                </a:solidFill>
                <a:latin typeface="Arial" panose="020B0604020202020204" pitchFamily="34" charset="0"/>
                <a:cs typeface="Arial" panose="020B0604020202020204" pitchFamily="34" charset="0"/>
              </a:defRPr>
            </a:lvl1pPr>
          </a:lstStyle>
          <a:p>
            <a:fld id="{54D2579E-D2B3-420A-972D-0CF396453095}" type="datetime1">
              <a:rPr lang="en-GB" smtClean="0"/>
              <a:pPr/>
              <a:t>09/10/2026</a:t>
            </a:fld>
            <a:endParaRPr lang="en-GB"/>
          </a:p>
        </p:txBody>
      </p:sp>
      <p:sp>
        <p:nvSpPr>
          <p:cNvPr id="5" name="Footer Placeholder 4">
            <a:extLst>
              <a:ext uri="{FF2B5EF4-FFF2-40B4-BE49-F238E27FC236}">
                <a16:creationId xmlns:a16="http://schemas.microsoft.com/office/drawing/2014/main" id="{85D0D257-02C6-4B88-B728-A31860AD3CB2}"/>
              </a:ext>
            </a:extLst>
          </p:cNvPr>
          <p:cNvSpPr>
            <a:spLocks noGrp="1"/>
          </p:cNvSpPr>
          <p:nvPr>
            <p:ph type="ftr" sz="quarter" idx="3"/>
          </p:nvPr>
        </p:nvSpPr>
        <p:spPr>
          <a:xfrm>
            <a:off x="6715800" y="4361092"/>
            <a:ext cx="2057400" cy="273844"/>
          </a:xfrm>
          <a:prstGeom prst="rect">
            <a:avLst/>
          </a:prstGeom>
        </p:spPr>
        <p:txBody>
          <a:bodyPr vert="horz" lIns="91440" tIns="45720" rIns="91440" bIns="45720" rtlCol="0" anchor="ctr"/>
          <a:lstStyle>
            <a:lvl1pPr algn="r">
              <a:defRPr sz="1200" b="0">
                <a:solidFill>
                  <a:schemeClr val="tx1"/>
                </a:solidFill>
                <a:latin typeface="Arial" panose="020B0604020202020204" pitchFamily="34" charset="0"/>
                <a:cs typeface="Arial" panose="020B0604020202020204" pitchFamily="34" charset="0"/>
              </a:defRPr>
            </a:lvl1pPr>
          </a:lstStyle>
          <a:p>
            <a:endParaRPr lang="en-GB"/>
          </a:p>
        </p:txBody>
      </p:sp>
      <p:sp>
        <p:nvSpPr>
          <p:cNvPr id="6" name="Slide Number Placeholder 5">
            <a:extLst>
              <a:ext uri="{FF2B5EF4-FFF2-40B4-BE49-F238E27FC236}">
                <a16:creationId xmlns:a16="http://schemas.microsoft.com/office/drawing/2014/main" id="{3201B7CE-A778-4036-BB74-3EFF1FE745A8}"/>
              </a:ext>
            </a:extLst>
          </p:cNvPr>
          <p:cNvSpPr>
            <a:spLocks noGrp="1"/>
          </p:cNvSpPr>
          <p:nvPr>
            <p:ph type="sldNum" sz="quarter" idx="4"/>
          </p:nvPr>
        </p:nvSpPr>
        <p:spPr>
          <a:xfrm>
            <a:off x="4321627" y="4771676"/>
            <a:ext cx="540000" cy="273844"/>
          </a:xfrm>
          <a:prstGeom prst="rect">
            <a:avLst/>
          </a:prstGeom>
        </p:spPr>
        <p:txBody>
          <a:bodyPr vert="horz" lIns="91440" tIns="45720" rIns="91440" bIns="45720" rtlCol="0" anchor="ctr"/>
          <a:lstStyle>
            <a:lvl1pPr algn="ctr">
              <a:defRPr sz="1200" b="0">
                <a:solidFill>
                  <a:schemeClr val="tx1"/>
                </a:solidFill>
                <a:latin typeface="Arial" panose="020B0604020202020204" pitchFamily="34" charset="0"/>
                <a:cs typeface="Arial" panose="020B0604020202020204" pitchFamily="34" charset="0"/>
              </a:defRPr>
            </a:lvl1pPr>
          </a:lstStyle>
          <a:p>
            <a:fld id="{67DE1CF8-1877-4310-8670-A269E8016CAC}" type="slidenum">
              <a:rPr lang="en-GB" smtClean="0"/>
              <a:pPr/>
              <a:t>‹#›</a:t>
            </a:fld>
            <a:endParaRPr lang="en-GB"/>
          </a:p>
        </p:txBody>
      </p:sp>
    </p:spTree>
    <p:extLst>
      <p:ext uri="{BB962C8B-B14F-4D97-AF65-F5344CB8AC3E}">
        <p14:creationId xmlns:p14="http://schemas.microsoft.com/office/powerpoint/2010/main" val="3099803651"/>
      </p:ext>
    </p:extLst>
  </p:cSld>
  <p:clrMap bg1="lt1" tx1="dk1" bg2="lt2" tx2="dk2" accent1="accent1" accent2="accent2" accent3="accent3" accent4="accent4" accent5="accent5" accent6="accent6" hlink="hlink" folHlink="folHlink"/>
  <p:sldLayoutIdLst>
    <p:sldLayoutId id="2147483694" r:id="rId1"/>
    <p:sldLayoutId id="2147483674" r:id="rId2"/>
    <p:sldLayoutId id="2147483670" r:id="rId3"/>
    <p:sldLayoutId id="2147483669" r:id="rId4"/>
    <p:sldLayoutId id="2147483672" r:id="rId5"/>
    <p:sldLayoutId id="2147483671" r:id="rId6"/>
    <p:sldLayoutId id="2147483673" r:id="rId7"/>
    <p:sldLayoutId id="2147483675" r:id="rId8"/>
    <p:sldLayoutId id="2147483676" r:id="rId9"/>
    <p:sldLayoutId id="2147483677" r:id="rId10"/>
    <p:sldLayoutId id="2147483678" r:id="rId11"/>
    <p:sldLayoutId id="2147483679" r:id="rId12"/>
    <p:sldLayoutId id="2147483680"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Lst>
  <p:hf sldNum="0" hdr="0" ftr="0" dt="0"/>
  <p:txStyles>
    <p:titleStyle>
      <a:lvl1pPr algn="l" defTabSz="685800" rtl="0" eaLnBrk="1" latinLnBrk="0" hangingPunct="1">
        <a:lnSpc>
          <a:spcPct val="90000"/>
        </a:lnSpc>
        <a:spcBef>
          <a:spcPct val="0"/>
        </a:spcBef>
        <a:buNone/>
        <a:defRPr sz="2700" b="1" i="0" kern="1200" baseline="0">
          <a:solidFill>
            <a:schemeClr val="tx1"/>
          </a:solidFill>
          <a:latin typeface="Arial Black" panose="020B0604020202020204" pitchFamily="34" charset="0"/>
          <a:ea typeface="+mj-ea"/>
          <a:cs typeface="+mj-cs"/>
        </a:defRPr>
      </a:lvl1pPr>
    </p:titleStyle>
    <p:body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7C7EFF-4B85-47B4-9AEE-BAC2AEA4EE42}"/>
              </a:ext>
            </a:extLst>
          </p:cNvPr>
          <p:cNvSpPr>
            <a:spLocks noGrp="1"/>
          </p:cNvSpPr>
          <p:nvPr>
            <p:ph type="title"/>
          </p:nvPr>
        </p:nvSpPr>
        <p:spPr>
          <a:xfrm>
            <a:off x="370800" y="273844"/>
            <a:ext cx="8402400" cy="994172"/>
          </a:xfrm>
          <a:prstGeom prst="rect">
            <a:avLst/>
          </a:prstGeom>
        </p:spPr>
        <p:txBody>
          <a:bodyPr vert="horz" lIns="91440" tIns="45720" rIns="91440" bIns="45720" rtlCol="0" anchor="ctr">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3BE355A-FC37-40C1-881B-11D9A87A1E61}"/>
              </a:ext>
            </a:extLst>
          </p:cNvPr>
          <p:cNvSpPr>
            <a:spLocks noGrp="1"/>
          </p:cNvSpPr>
          <p:nvPr>
            <p:ph type="body" idx="1"/>
          </p:nvPr>
        </p:nvSpPr>
        <p:spPr>
          <a:xfrm>
            <a:off x="370800" y="1369219"/>
            <a:ext cx="8402400" cy="289491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AC79F3-7BFD-4B2B-9937-D0CB01C01D76}"/>
              </a:ext>
            </a:extLst>
          </p:cNvPr>
          <p:cNvSpPr>
            <a:spLocks noGrp="1"/>
          </p:cNvSpPr>
          <p:nvPr>
            <p:ph type="dt" sz="half" idx="2"/>
          </p:nvPr>
        </p:nvSpPr>
        <p:spPr>
          <a:xfrm>
            <a:off x="370800" y="4361092"/>
            <a:ext cx="2057400" cy="273844"/>
          </a:xfrm>
          <a:prstGeom prst="rect">
            <a:avLst/>
          </a:prstGeom>
        </p:spPr>
        <p:txBody>
          <a:bodyPr vert="horz" lIns="91440" tIns="45720" rIns="91440" bIns="45720" rtlCol="0" anchor="ctr"/>
          <a:lstStyle>
            <a:lvl1pPr algn="l">
              <a:defRPr sz="1200" b="0">
                <a:solidFill>
                  <a:schemeClr val="tx1"/>
                </a:solidFill>
                <a:latin typeface="Arial" panose="020B0604020202020204" pitchFamily="34" charset="0"/>
                <a:cs typeface="Arial" panose="020B0604020202020204" pitchFamily="34" charset="0"/>
              </a:defRPr>
            </a:lvl1pPr>
          </a:lstStyle>
          <a:p>
            <a:fld id="{54D2579E-D2B3-420A-972D-0CF396453095}" type="datetime1">
              <a:rPr lang="en-GB" smtClean="0"/>
              <a:pPr/>
              <a:t>09/10/2026</a:t>
            </a:fld>
            <a:endParaRPr lang="en-GB"/>
          </a:p>
        </p:txBody>
      </p:sp>
      <p:sp>
        <p:nvSpPr>
          <p:cNvPr id="5" name="Footer Placeholder 4">
            <a:extLst>
              <a:ext uri="{FF2B5EF4-FFF2-40B4-BE49-F238E27FC236}">
                <a16:creationId xmlns:a16="http://schemas.microsoft.com/office/drawing/2014/main" id="{85D0D257-02C6-4B88-B728-A31860AD3CB2}"/>
              </a:ext>
            </a:extLst>
          </p:cNvPr>
          <p:cNvSpPr>
            <a:spLocks noGrp="1"/>
          </p:cNvSpPr>
          <p:nvPr>
            <p:ph type="ftr" sz="quarter" idx="3"/>
          </p:nvPr>
        </p:nvSpPr>
        <p:spPr>
          <a:xfrm>
            <a:off x="6715800" y="4361092"/>
            <a:ext cx="2057400" cy="273844"/>
          </a:xfrm>
          <a:prstGeom prst="rect">
            <a:avLst/>
          </a:prstGeom>
        </p:spPr>
        <p:txBody>
          <a:bodyPr vert="horz" lIns="91440" tIns="45720" rIns="91440" bIns="45720" rtlCol="0" anchor="ctr"/>
          <a:lstStyle>
            <a:lvl1pPr algn="r">
              <a:defRPr sz="1200" b="0">
                <a:solidFill>
                  <a:schemeClr val="tx1"/>
                </a:solidFill>
                <a:latin typeface="Arial" panose="020B0604020202020204" pitchFamily="34" charset="0"/>
                <a:cs typeface="Arial" panose="020B0604020202020204" pitchFamily="34" charset="0"/>
              </a:defRPr>
            </a:lvl1pPr>
          </a:lstStyle>
          <a:p>
            <a:endParaRPr lang="en-GB"/>
          </a:p>
        </p:txBody>
      </p:sp>
      <p:sp>
        <p:nvSpPr>
          <p:cNvPr id="6" name="Slide Number Placeholder 5">
            <a:extLst>
              <a:ext uri="{FF2B5EF4-FFF2-40B4-BE49-F238E27FC236}">
                <a16:creationId xmlns:a16="http://schemas.microsoft.com/office/drawing/2014/main" id="{3201B7CE-A778-4036-BB74-3EFF1FE745A8}"/>
              </a:ext>
            </a:extLst>
          </p:cNvPr>
          <p:cNvSpPr>
            <a:spLocks noGrp="1"/>
          </p:cNvSpPr>
          <p:nvPr>
            <p:ph type="sldNum" sz="quarter" idx="4"/>
          </p:nvPr>
        </p:nvSpPr>
        <p:spPr>
          <a:xfrm>
            <a:off x="4321627" y="4771676"/>
            <a:ext cx="540000" cy="273844"/>
          </a:xfrm>
          <a:prstGeom prst="rect">
            <a:avLst/>
          </a:prstGeom>
        </p:spPr>
        <p:txBody>
          <a:bodyPr vert="horz" lIns="91440" tIns="45720" rIns="91440" bIns="45720" rtlCol="0" anchor="ctr"/>
          <a:lstStyle>
            <a:lvl1pPr algn="ctr">
              <a:defRPr sz="1200" b="0">
                <a:solidFill>
                  <a:schemeClr val="tx1"/>
                </a:solidFill>
                <a:latin typeface="Arial" panose="020B0604020202020204" pitchFamily="34" charset="0"/>
                <a:cs typeface="Arial" panose="020B0604020202020204" pitchFamily="34" charset="0"/>
              </a:defRPr>
            </a:lvl1pPr>
          </a:lstStyle>
          <a:p>
            <a:fld id="{67DE1CF8-1877-4310-8670-A269E8016CAC}" type="slidenum">
              <a:rPr lang="en-GB" smtClean="0"/>
              <a:pPr/>
              <a:t>‹#›</a:t>
            </a:fld>
            <a:endParaRPr lang="en-GB"/>
          </a:p>
        </p:txBody>
      </p:sp>
    </p:spTree>
    <p:extLst>
      <p:ext uri="{BB962C8B-B14F-4D97-AF65-F5344CB8AC3E}">
        <p14:creationId xmlns:p14="http://schemas.microsoft.com/office/powerpoint/2010/main" val="3449210524"/>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 id="2147483712" r:id="rId4"/>
    <p:sldLayoutId id="2147483713" r:id="rId5"/>
    <p:sldLayoutId id="2147483714" r:id="rId6"/>
    <p:sldLayoutId id="2147483715" r:id="rId7"/>
    <p:sldLayoutId id="2147483717" r:id="rId8"/>
    <p:sldLayoutId id="2147483718" r:id="rId9"/>
    <p:sldLayoutId id="2147483719" r:id="rId10"/>
    <p:sldLayoutId id="2147483720" r:id="rId11"/>
    <p:sldLayoutId id="2147483721" r:id="rId12"/>
    <p:sldLayoutId id="2147483722" r:id="rId13"/>
  </p:sldLayoutIdLst>
  <p:hf sldNum="0" hdr="0" ftr="0" dt="0"/>
  <p:txStyles>
    <p:titleStyle>
      <a:lvl1pPr algn="l" defTabSz="685800" rtl="0" eaLnBrk="1" latinLnBrk="0" hangingPunct="1">
        <a:lnSpc>
          <a:spcPct val="90000"/>
        </a:lnSpc>
        <a:spcBef>
          <a:spcPct val="0"/>
        </a:spcBef>
        <a:buNone/>
        <a:defRPr sz="2700" b="1" i="0" kern="1200" cap="all" baseline="0">
          <a:solidFill>
            <a:schemeClr val="tx1"/>
          </a:solidFill>
          <a:latin typeface="Arial Black" panose="020B0604020202020204" pitchFamily="34" charset="0"/>
          <a:ea typeface="+mj-ea"/>
          <a:cs typeface="+mj-cs"/>
        </a:defRPr>
      </a:lvl1pPr>
    </p:titleStyle>
    <p:body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4model.com/introduction" TargetMode="Externa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hyperlink" Target="https://c4model.com/introductio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spe-uob/2023-RoboSim" TargetMode="External"/><Relationship Id="rId7" Type="http://schemas.openxmlformats.org/officeDocument/2006/relationships/hyperlink" Target="https://github.com/spe-uob/2023-CityFarm" TargetMode="External"/><Relationship Id="rId2" Type="http://schemas.openxmlformats.org/officeDocument/2006/relationships/hyperlink" Target="https://nodejs.org/en" TargetMode="External"/><Relationship Id="rId1" Type="http://schemas.openxmlformats.org/officeDocument/2006/relationships/slideLayout" Target="../slideLayouts/slideLayout14.xml"/><Relationship Id="rId6" Type="http://schemas.openxmlformats.org/officeDocument/2006/relationships/hyperlink" Target="https://docs.spring.io/spring-boot/reference/data/index.html" TargetMode="External"/><Relationship Id="rId5" Type="http://schemas.openxmlformats.org/officeDocument/2006/relationships/hyperlink" Target="https://www.thymeleaf.org/" TargetMode="External"/><Relationship Id="rId4" Type="http://schemas.openxmlformats.org/officeDocument/2006/relationships/hyperlink" Target="https://spring.io/"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github.com/spe-uob/2024-RoboSim/" TargetMode="Externa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hyperlink" Target="https://flutter.dev/" TargetMode="External"/><Relationship Id="rId2" Type="http://schemas.openxmlformats.org/officeDocument/2006/relationships/hyperlink" Target="https://dart.dev/" TargetMode="External"/><Relationship Id="rId1" Type="http://schemas.openxmlformats.org/officeDocument/2006/relationships/slideLayout" Target="../slideLayouts/slideLayout14.xml"/><Relationship Id="rId5" Type="http://schemas.openxmlformats.org/officeDocument/2006/relationships/hyperlink" Target="https://github.com/spe-uob/2023-MarineConservationApp" TargetMode="External"/><Relationship Id="rId4" Type="http://schemas.openxmlformats.org/officeDocument/2006/relationships/hyperlink" Target="https://www.postgresql.or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ithub.com/spe-uob/2024-sprintcommunitytransport" TargetMode="Externa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thub.com/spe-uob/2024-RailwayTrafficAnalysis" TargetMode="Externa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spe-uob/2023-Edutopia" TargetMode="External"/><Relationship Id="rId2" Type="http://schemas.openxmlformats.org/officeDocument/2006/relationships/hyperlink" Target="https://unity.com/" TargetMode="External"/><Relationship Id="rId1" Type="http://schemas.openxmlformats.org/officeDocument/2006/relationships/slideLayout" Target="../slideLayouts/slideLayout14.xml"/><Relationship Id="rId4" Type="http://schemas.openxmlformats.org/officeDocument/2006/relationships/hyperlink" Target="https://github.com/spe-uob/2023-SkillsLearningGame"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github.com/spe-uob/2024-litterrecognition2" TargetMode="External"/><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choosealicense.co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fossa.com/"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07FAD0D9-6B11-6C02-FAA5-74340D037016}"/>
              </a:ext>
            </a:extLst>
          </p:cNvPr>
          <p:cNvSpPr>
            <a:spLocks noGrp="1"/>
          </p:cNvSpPr>
          <p:nvPr>
            <p:ph type="ctrTitle"/>
          </p:nvPr>
        </p:nvSpPr>
        <p:spPr>
          <a:xfrm>
            <a:off x="370800" y="1598400"/>
            <a:ext cx="5259600" cy="1101600"/>
          </a:xfrm>
        </p:spPr>
        <p:txBody>
          <a:bodyPr anchor="b">
            <a:normAutofit/>
          </a:bodyPr>
          <a:lstStyle/>
          <a:p>
            <a:r>
              <a:rPr lang="en-US" sz="2100"/>
              <a:t>SEP Week 3: </a:t>
            </a:r>
            <a:br>
              <a:rPr lang="en-US" sz="2100"/>
            </a:br>
            <a:r>
              <a:rPr lang="en-US" sz="2100"/>
              <a:t>Architecture &amp; Tech Stacks</a:t>
            </a:r>
          </a:p>
        </p:txBody>
      </p:sp>
      <p:sp>
        <p:nvSpPr>
          <p:cNvPr id="35" name="Subtitle 2">
            <a:extLst>
              <a:ext uri="{FF2B5EF4-FFF2-40B4-BE49-F238E27FC236}">
                <a16:creationId xmlns:a16="http://schemas.microsoft.com/office/drawing/2014/main" id="{5FDE648C-DE01-A57F-52DB-4B11A1A48F45}"/>
              </a:ext>
            </a:extLst>
          </p:cNvPr>
          <p:cNvSpPr>
            <a:spLocks noGrp="1"/>
          </p:cNvSpPr>
          <p:nvPr>
            <p:ph type="subTitle" idx="1"/>
          </p:nvPr>
        </p:nvSpPr>
        <p:spPr>
          <a:xfrm>
            <a:off x="370800" y="2701528"/>
            <a:ext cx="5259600" cy="1314000"/>
          </a:xfrm>
        </p:spPr>
        <p:txBody>
          <a:bodyPr vert="horz" lIns="91440" tIns="45720" rIns="91440" bIns="45720" rtlCol="0">
            <a:normAutofit/>
          </a:bodyPr>
          <a:lstStyle/>
          <a:p>
            <a:r>
              <a:rPr lang="en-US" dirty="0"/>
              <a:t>Daniel Schien</a:t>
            </a:r>
          </a:p>
        </p:txBody>
      </p:sp>
    </p:spTree>
    <p:extLst>
      <p:ext uri="{BB962C8B-B14F-4D97-AF65-F5344CB8AC3E}">
        <p14:creationId xmlns:p14="http://schemas.microsoft.com/office/powerpoint/2010/main" val="2009784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1EED-5765-B090-680C-C8A782330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A9D06-E714-CA2A-20EA-33ABAEBB8A6F}"/>
              </a:ext>
            </a:extLst>
          </p:cNvPr>
          <p:cNvSpPr>
            <a:spLocks noGrp="1"/>
          </p:cNvSpPr>
          <p:nvPr>
            <p:ph type="title"/>
          </p:nvPr>
        </p:nvSpPr>
        <p:spPr>
          <a:xfrm>
            <a:off x="370800" y="82925"/>
            <a:ext cx="8402400" cy="994172"/>
          </a:xfrm>
        </p:spPr>
        <p:txBody>
          <a:bodyPr/>
          <a:lstStyle/>
          <a:p>
            <a:r>
              <a:rPr lang="en-GB">
                <a:latin typeface="Arial Black"/>
              </a:rPr>
              <a:t>Overview</a:t>
            </a:r>
            <a:endParaRPr lang="en-US"/>
          </a:p>
        </p:txBody>
      </p:sp>
      <p:sp>
        <p:nvSpPr>
          <p:cNvPr id="6" name="Content Placeholder 2">
            <a:extLst>
              <a:ext uri="{FF2B5EF4-FFF2-40B4-BE49-F238E27FC236}">
                <a16:creationId xmlns:a16="http://schemas.microsoft.com/office/drawing/2014/main" id="{89AED3DF-BD26-D8E7-38B8-A7C1FA2264C7}"/>
              </a:ext>
            </a:extLst>
          </p:cNvPr>
          <p:cNvSpPr txBox="1">
            <a:spLocks/>
          </p:cNvSpPr>
          <p:nvPr/>
        </p:nvSpPr>
        <p:spPr>
          <a:xfrm>
            <a:off x="370800" y="869182"/>
            <a:ext cx="7772364" cy="3858567"/>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System Architecture</a:t>
            </a:r>
          </a:p>
          <a:p>
            <a:pPr lvl="1"/>
            <a:r>
              <a:rPr lang="en-US"/>
              <a:t>Motivations for a formalization</a:t>
            </a:r>
          </a:p>
          <a:p>
            <a:pPr lvl="1"/>
            <a:r>
              <a:rPr lang="en-US"/>
              <a:t>Examples</a:t>
            </a:r>
          </a:p>
          <a:p>
            <a:r>
              <a:rPr lang="en-US"/>
              <a:t>Modelling</a:t>
            </a:r>
          </a:p>
          <a:p>
            <a:pPr lvl="1"/>
            <a:r>
              <a:rPr lang="en-US"/>
              <a:t>Modelling systems at different levels</a:t>
            </a:r>
          </a:p>
          <a:p>
            <a:pPr lvl="1"/>
            <a:r>
              <a:rPr lang="en-US"/>
              <a:t>Static Modeling</a:t>
            </a:r>
          </a:p>
          <a:p>
            <a:pPr lvl="1"/>
            <a:r>
              <a:rPr lang="en-US"/>
              <a:t>Dynamic Modelling</a:t>
            </a:r>
          </a:p>
          <a:p>
            <a:r>
              <a:rPr lang="en-US"/>
              <a:t>Tech Stacks</a:t>
            </a:r>
          </a:p>
          <a:p>
            <a:pPr lvl="1"/>
            <a:r>
              <a:rPr lang="en-US"/>
              <a:t>The technology which implements the system architecture</a:t>
            </a:r>
          </a:p>
          <a:p>
            <a:pPr lvl="1"/>
            <a:r>
              <a:rPr lang="en-US"/>
              <a:t>Examples from previous SEP projects</a:t>
            </a:r>
          </a:p>
          <a:p>
            <a:pPr lvl="1"/>
            <a:r>
              <a:rPr lang="en-US"/>
              <a:t>Choosing a tech stack</a:t>
            </a:r>
          </a:p>
          <a:p>
            <a:r>
              <a:rPr lang="en-US"/>
              <a:t>Open Source &amp; Software Licenses</a:t>
            </a:r>
          </a:p>
          <a:p>
            <a:pPr lvl="1"/>
            <a:endParaRPr lang="en-US"/>
          </a:p>
        </p:txBody>
      </p:sp>
    </p:spTree>
    <p:extLst>
      <p:ext uri="{BB962C8B-B14F-4D97-AF65-F5344CB8AC3E}">
        <p14:creationId xmlns:p14="http://schemas.microsoft.com/office/powerpoint/2010/main" val="454046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6CEC-64C0-668B-87D5-31122DC2A0A9}"/>
              </a:ext>
            </a:extLst>
          </p:cNvPr>
          <p:cNvSpPr>
            <a:spLocks noGrp="1"/>
          </p:cNvSpPr>
          <p:nvPr>
            <p:ph type="title"/>
          </p:nvPr>
        </p:nvSpPr>
        <p:spPr/>
        <p:txBody>
          <a:bodyPr/>
          <a:lstStyle/>
          <a:p>
            <a:r>
              <a:rPr lang="en-GB">
                <a:latin typeface="Arial Black"/>
              </a:rPr>
              <a:t>Software Architecture – What</a:t>
            </a:r>
            <a:endParaRPr lang="en-US"/>
          </a:p>
        </p:txBody>
      </p:sp>
      <p:sp>
        <p:nvSpPr>
          <p:cNvPr id="6" name="Content Placeholder 2">
            <a:extLst>
              <a:ext uri="{FF2B5EF4-FFF2-40B4-BE49-F238E27FC236}">
                <a16:creationId xmlns:a16="http://schemas.microsoft.com/office/drawing/2014/main" id="{43902E2D-D753-1C79-C6E2-8F7F2CEE9074}"/>
              </a:ext>
            </a:extLst>
          </p:cNvPr>
          <p:cNvSpPr txBox="1">
            <a:spLocks/>
          </p:cNvSpPr>
          <p:nvPr/>
        </p:nvSpPr>
        <p:spPr>
          <a:xfrm>
            <a:off x="370800" y="1166184"/>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Software architecture is a set of </a:t>
            </a:r>
            <a:r>
              <a:rPr lang="en-US" b="1"/>
              <a:t>structures</a:t>
            </a:r>
            <a:r>
              <a:rPr lang="en-US"/>
              <a:t> needed to </a:t>
            </a:r>
            <a:r>
              <a:rPr lang="en-US" b="1"/>
              <a:t>reason</a:t>
            </a:r>
            <a:r>
              <a:rPr lang="en-US"/>
              <a:t> about a system. It includes software components, the </a:t>
            </a:r>
            <a:r>
              <a:rPr lang="en-US" b="1"/>
              <a:t>relations</a:t>
            </a:r>
            <a:r>
              <a:rPr lang="en-US"/>
              <a:t> between them and properties of both.</a:t>
            </a:r>
          </a:p>
          <a:p>
            <a:r>
              <a:rPr lang="en-US"/>
              <a:t>Architecture might be implicit</a:t>
            </a:r>
          </a:p>
          <a:p>
            <a:pPr lvl="1"/>
            <a:r>
              <a:rPr lang="en-US"/>
              <a:t>If you’re building any significant system. You cannot not have an architecture. You might just not been have documented or communicated explicitly.</a:t>
            </a:r>
          </a:p>
          <a:p>
            <a:endParaRPr lang="en-US"/>
          </a:p>
        </p:txBody>
      </p:sp>
    </p:spTree>
    <p:extLst>
      <p:ext uri="{BB962C8B-B14F-4D97-AF65-F5344CB8AC3E}">
        <p14:creationId xmlns:p14="http://schemas.microsoft.com/office/powerpoint/2010/main" val="63165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431FD-5B09-8078-19F4-9FD510784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9CEFB-3E1D-0A50-66C4-94974DE5B3BB}"/>
              </a:ext>
            </a:extLst>
          </p:cNvPr>
          <p:cNvSpPr>
            <a:spLocks noGrp="1"/>
          </p:cNvSpPr>
          <p:nvPr>
            <p:ph type="title"/>
          </p:nvPr>
        </p:nvSpPr>
        <p:spPr/>
        <p:txBody>
          <a:bodyPr/>
          <a:lstStyle/>
          <a:p>
            <a:r>
              <a:rPr lang="en-GB">
                <a:latin typeface="Arial Black"/>
              </a:rPr>
              <a:t>Software Architecture – Why</a:t>
            </a:r>
            <a:endParaRPr lang="en-US"/>
          </a:p>
        </p:txBody>
      </p:sp>
      <p:sp>
        <p:nvSpPr>
          <p:cNvPr id="6" name="Content Placeholder 2">
            <a:extLst>
              <a:ext uri="{FF2B5EF4-FFF2-40B4-BE49-F238E27FC236}">
                <a16:creationId xmlns:a16="http://schemas.microsoft.com/office/drawing/2014/main" id="{258CCB78-104B-409D-1861-209273380332}"/>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Enables the engineering or large systems</a:t>
            </a:r>
          </a:p>
          <a:p>
            <a:pPr lvl="1"/>
            <a:r>
              <a:rPr lang="en-US"/>
              <a:t>As systems grow it becomes unattainable to manage infrastructure without a well documented design</a:t>
            </a:r>
          </a:p>
          <a:p>
            <a:r>
              <a:rPr lang="en-US"/>
              <a:t>Communication of Ideas</a:t>
            </a:r>
          </a:p>
          <a:p>
            <a:pPr lvl="1"/>
            <a:r>
              <a:rPr lang="en-US"/>
              <a:t>Between Developers</a:t>
            </a:r>
          </a:p>
          <a:p>
            <a:pPr lvl="1"/>
            <a:r>
              <a:rPr lang="en-US"/>
              <a:t>To non-technical stakeholders</a:t>
            </a:r>
          </a:p>
          <a:p>
            <a:r>
              <a:rPr lang="en-US"/>
              <a:t>The role of a Systems Architect</a:t>
            </a:r>
          </a:p>
          <a:p>
            <a:endParaRPr lang="en-US"/>
          </a:p>
        </p:txBody>
      </p:sp>
    </p:spTree>
    <p:extLst>
      <p:ext uri="{BB962C8B-B14F-4D97-AF65-F5344CB8AC3E}">
        <p14:creationId xmlns:p14="http://schemas.microsoft.com/office/powerpoint/2010/main" val="1934912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1073A-E009-0B4C-A023-319E4A4A5D1E}"/>
              </a:ext>
            </a:extLst>
          </p:cNvPr>
          <p:cNvSpPr>
            <a:spLocks noGrp="1"/>
          </p:cNvSpPr>
          <p:nvPr>
            <p:ph type="title"/>
          </p:nvPr>
        </p:nvSpPr>
        <p:spPr/>
        <p:txBody>
          <a:bodyPr/>
          <a:lstStyle/>
          <a:p>
            <a:r>
              <a:rPr lang="en-US"/>
              <a:t>Example 1: Client-Server</a:t>
            </a:r>
            <a:br>
              <a:rPr lang="en-US"/>
            </a:br>
            <a:endParaRPr lang="en-US"/>
          </a:p>
        </p:txBody>
      </p:sp>
      <p:sp>
        <p:nvSpPr>
          <p:cNvPr id="3" name="Content Placeholder 2">
            <a:extLst>
              <a:ext uri="{FF2B5EF4-FFF2-40B4-BE49-F238E27FC236}">
                <a16:creationId xmlns:a16="http://schemas.microsoft.com/office/drawing/2014/main" id="{1ED9B036-2F68-CC41-807C-DEB855972169}"/>
              </a:ext>
            </a:extLst>
          </p:cNvPr>
          <p:cNvSpPr>
            <a:spLocks noGrp="1"/>
          </p:cNvSpPr>
          <p:nvPr>
            <p:ph idx="1"/>
          </p:nvPr>
        </p:nvSpPr>
        <p:spPr>
          <a:xfrm>
            <a:off x="370801" y="1357027"/>
            <a:ext cx="5636300" cy="2888456"/>
          </a:xfrm>
        </p:spPr>
        <p:txBody>
          <a:bodyPr/>
          <a:lstStyle/>
          <a:p>
            <a:r>
              <a:rPr lang="en-GB"/>
              <a:t>clients requests services</a:t>
            </a:r>
          </a:p>
          <a:p>
            <a:r>
              <a:rPr lang="en-GB"/>
              <a:t>Servers are permanently listening </a:t>
            </a:r>
          </a:p>
          <a:p>
            <a:r>
              <a:rPr lang="en-GB"/>
              <a:t>Inter-process communication causes overhead </a:t>
            </a:r>
          </a:p>
          <a:p>
            <a:r>
              <a:rPr lang="en-GB"/>
              <a:t>Requests and result data often have to be transformed or marshalled </a:t>
            </a:r>
          </a:p>
          <a:p>
            <a:r>
              <a:rPr lang="en-GB"/>
              <a:t>sessions: stateless or stateful server </a:t>
            </a:r>
          </a:p>
        </p:txBody>
      </p:sp>
      <p:pic>
        <p:nvPicPr>
          <p:cNvPr id="8" name="Picture 7">
            <a:extLst>
              <a:ext uri="{FF2B5EF4-FFF2-40B4-BE49-F238E27FC236}">
                <a16:creationId xmlns:a16="http://schemas.microsoft.com/office/drawing/2014/main" id="{09737405-BD30-B54A-A38F-33761D96DD92}"/>
              </a:ext>
            </a:extLst>
          </p:cNvPr>
          <p:cNvPicPr>
            <a:picLocks noChangeAspect="1"/>
          </p:cNvPicPr>
          <p:nvPr/>
        </p:nvPicPr>
        <p:blipFill>
          <a:blip r:embed="rId2"/>
          <a:stretch>
            <a:fillRect/>
          </a:stretch>
        </p:blipFill>
        <p:spPr>
          <a:xfrm>
            <a:off x="6434732" y="573024"/>
            <a:ext cx="2338469" cy="3351276"/>
          </a:xfrm>
          <a:prstGeom prst="rect">
            <a:avLst/>
          </a:prstGeom>
        </p:spPr>
      </p:pic>
    </p:spTree>
    <p:extLst>
      <p:ext uri="{BB962C8B-B14F-4D97-AF65-F5344CB8AC3E}">
        <p14:creationId xmlns:p14="http://schemas.microsoft.com/office/powerpoint/2010/main" val="2312121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16088-CA83-6540-A36C-8B31CDBEFA7A}"/>
              </a:ext>
            </a:extLst>
          </p:cNvPr>
          <p:cNvSpPr>
            <a:spLocks noGrp="1"/>
          </p:cNvSpPr>
          <p:nvPr>
            <p:ph type="title"/>
          </p:nvPr>
        </p:nvSpPr>
        <p:spPr/>
        <p:txBody>
          <a:bodyPr/>
          <a:lstStyle/>
          <a:p>
            <a:r>
              <a:rPr lang="en-US"/>
              <a:t>Example 2: </a:t>
            </a:r>
            <a:br>
              <a:rPr lang="en-US"/>
            </a:br>
            <a:r>
              <a:rPr lang="en-US"/>
              <a:t>Layered Architecture</a:t>
            </a:r>
          </a:p>
        </p:txBody>
      </p:sp>
      <p:sp>
        <p:nvSpPr>
          <p:cNvPr id="3" name="Content Placeholder 2">
            <a:extLst>
              <a:ext uri="{FF2B5EF4-FFF2-40B4-BE49-F238E27FC236}">
                <a16:creationId xmlns:a16="http://schemas.microsoft.com/office/drawing/2014/main" id="{3D5A4E83-37BE-1140-AE50-F370EDE65D79}"/>
              </a:ext>
            </a:extLst>
          </p:cNvPr>
          <p:cNvSpPr>
            <a:spLocks noGrp="1"/>
          </p:cNvSpPr>
          <p:nvPr>
            <p:ph idx="1"/>
          </p:nvPr>
        </p:nvSpPr>
        <p:spPr>
          <a:xfrm>
            <a:off x="370800" y="1369219"/>
            <a:ext cx="4201200" cy="2888456"/>
          </a:xfrm>
        </p:spPr>
        <p:txBody>
          <a:bodyPr>
            <a:normAutofit fontScale="77500" lnSpcReduction="20000"/>
          </a:bodyPr>
          <a:lstStyle/>
          <a:p>
            <a:r>
              <a:rPr lang="en-GB"/>
              <a:t>lower layer can be used by different higher layers </a:t>
            </a:r>
          </a:p>
          <a:p>
            <a:r>
              <a:rPr lang="en-GB"/>
              <a:t>standardization </a:t>
            </a:r>
          </a:p>
          <a:p>
            <a:r>
              <a:rPr lang="en-GB"/>
              <a:t>Dependencies are kept local</a:t>
            </a:r>
          </a:p>
          <a:p>
            <a:r>
              <a:rPr lang="en-GB"/>
              <a:t>a change of the behaviour of a lower layer has an effect on the layers above it</a:t>
            </a:r>
          </a:p>
          <a:p>
            <a:r>
              <a:rPr lang="en-GB"/>
              <a:t>defining an abstract service inter- face is not an easy job </a:t>
            </a:r>
          </a:p>
          <a:p>
            <a:r>
              <a:rPr lang="en-GB"/>
              <a:t>lower layers may perform unnecessary work, not required by the higher layer. </a:t>
            </a:r>
          </a:p>
          <a:p>
            <a:endParaRPr lang="en-US"/>
          </a:p>
        </p:txBody>
      </p:sp>
      <p:pic>
        <p:nvPicPr>
          <p:cNvPr id="6" name="Picture 5">
            <a:extLst>
              <a:ext uri="{FF2B5EF4-FFF2-40B4-BE49-F238E27FC236}">
                <a16:creationId xmlns:a16="http://schemas.microsoft.com/office/drawing/2014/main" id="{F6A1E8D6-7AB7-0545-BB4E-ADD006DC3F23}"/>
              </a:ext>
            </a:extLst>
          </p:cNvPr>
          <p:cNvPicPr>
            <a:picLocks noChangeAspect="1"/>
          </p:cNvPicPr>
          <p:nvPr/>
        </p:nvPicPr>
        <p:blipFill>
          <a:blip r:embed="rId2"/>
          <a:stretch>
            <a:fillRect/>
          </a:stretch>
        </p:blipFill>
        <p:spPr>
          <a:xfrm>
            <a:off x="4572000" y="171450"/>
            <a:ext cx="3886200" cy="4800600"/>
          </a:xfrm>
          <a:prstGeom prst="rect">
            <a:avLst/>
          </a:prstGeom>
        </p:spPr>
      </p:pic>
    </p:spTree>
    <p:extLst>
      <p:ext uri="{BB962C8B-B14F-4D97-AF65-F5344CB8AC3E}">
        <p14:creationId xmlns:p14="http://schemas.microsoft.com/office/powerpoint/2010/main" val="393546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B00B-BB8F-A24E-BABC-EBEF28CCED6D}"/>
              </a:ext>
            </a:extLst>
          </p:cNvPr>
          <p:cNvSpPr>
            <a:spLocks noGrp="1"/>
          </p:cNvSpPr>
          <p:nvPr>
            <p:ph type="title"/>
          </p:nvPr>
        </p:nvSpPr>
        <p:spPr/>
        <p:txBody>
          <a:bodyPr/>
          <a:lstStyle/>
          <a:p>
            <a:r>
              <a:rPr lang="en-US"/>
              <a:t>Example 3: </a:t>
            </a:r>
            <a:br>
              <a:rPr lang="en-US"/>
            </a:br>
            <a:r>
              <a:rPr lang="en-US"/>
              <a:t>Controller / Worker</a:t>
            </a:r>
          </a:p>
        </p:txBody>
      </p:sp>
      <p:pic>
        <p:nvPicPr>
          <p:cNvPr id="7" name="Content Placeholder 6">
            <a:extLst>
              <a:ext uri="{FF2B5EF4-FFF2-40B4-BE49-F238E27FC236}">
                <a16:creationId xmlns:a16="http://schemas.microsoft.com/office/drawing/2014/main" id="{E43BF13A-9B18-7247-86AF-248BB0AF90F0}"/>
              </a:ext>
            </a:extLst>
          </p:cNvPr>
          <p:cNvPicPr>
            <a:picLocks noGrp="1" noChangeAspect="1"/>
          </p:cNvPicPr>
          <p:nvPr>
            <p:ph sz="half" idx="1"/>
          </p:nvPr>
        </p:nvPicPr>
        <p:blipFill>
          <a:blip r:embed="rId2"/>
          <a:stretch>
            <a:fillRect/>
          </a:stretch>
        </p:blipFill>
        <p:spPr>
          <a:xfrm>
            <a:off x="5064882" y="1610352"/>
            <a:ext cx="3708319" cy="2887662"/>
          </a:xfrm>
          <a:prstGeom prst="rect">
            <a:avLst/>
          </a:prstGeom>
        </p:spPr>
      </p:pic>
      <p:sp>
        <p:nvSpPr>
          <p:cNvPr id="10" name="Content Placeholder 9">
            <a:extLst>
              <a:ext uri="{FF2B5EF4-FFF2-40B4-BE49-F238E27FC236}">
                <a16:creationId xmlns:a16="http://schemas.microsoft.com/office/drawing/2014/main" id="{4F8E5A2D-3735-214E-A5D8-6BB3DADD21EE}"/>
              </a:ext>
            </a:extLst>
          </p:cNvPr>
          <p:cNvSpPr>
            <a:spLocks noGrp="1"/>
          </p:cNvSpPr>
          <p:nvPr>
            <p:ph sz="half" idx="2"/>
          </p:nvPr>
        </p:nvSpPr>
        <p:spPr>
          <a:xfrm>
            <a:off x="570186" y="1268017"/>
            <a:ext cx="4144050" cy="3037702"/>
          </a:xfrm>
        </p:spPr>
        <p:txBody>
          <a:bodyPr>
            <a:normAutofit lnSpcReduction="10000"/>
          </a:bodyPr>
          <a:lstStyle/>
          <a:p>
            <a:r>
              <a:rPr lang="en-GB"/>
              <a:t>divide-and-conquer </a:t>
            </a:r>
            <a:endParaRPr lang="en-US"/>
          </a:p>
          <a:p>
            <a:r>
              <a:rPr lang="en-US" err="1"/>
              <a:t>Parallelisation</a:t>
            </a:r>
            <a:r>
              <a:rPr lang="en-US"/>
              <a:t>, Fault Tolerance</a:t>
            </a:r>
          </a:p>
          <a:p>
            <a:endParaRPr lang="en-US"/>
          </a:p>
          <a:p>
            <a:r>
              <a:rPr lang="en-US"/>
              <a:t>Most cloud infrastructure frameworks</a:t>
            </a:r>
          </a:p>
          <a:p>
            <a:pPr lvl="1"/>
            <a:r>
              <a:rPr lang="en-US"/>
              <a:t>Kubernetes, Hadoop, Spark</a:t>
            </a:r>
          </a:p>
          <a:p>
            <a:pPr marL="342900" lvl="1" indent="0">
              <a:buNone/>
            </a:pPr>
            <a:endParaRPr lang="en-US"/>
          </a:p>
          <a:p>
            <a:r>
              <a:rPr lang="en-US"/>
              <a:t>Computer Systems A</a:t>
            </a:r>
          </a:p>
          <a:p>
            <a:r>
              <a:rPr lang="en-US"/>
              <a:t>High Performance Computing</a:t>
            </a:r>
          </a:p>
        </p:txBody>
      </p:sp>
      <p:pic>
        <p:nvPicPr>
          <p:cNvPr id="8" name="Picture 7">
            <a:extLst>
              <a:ext uri="{FF2B5EF4-FFF2-40B4-BE49-F238E27FC236}">
                <a16:creationId xmlns:a16="http://schemas.microsoft.com/office/drawing/2014/main" id="{E438ECE9-20B5-5745-8404-C3B18EF7B117}"/>
              </a:ext>
            </a:extLst>
          </p:cNvPr>
          <p:cNvPicPr>
            <a:picLocks noChangeAspect="1"/>
          </p:cNvPicPr>
          <p:nvPr/>
        </p:nvPicPr>
        <p:blipFill>
          <a:blip r:embed="rId3"/>
          <a:stretch>
            <a:fillRect/>
          </a:stretch>
        </p:blipFill>
        <p:spPr>
          <a:xfrm>
            <a:off x="5442353" y="0"/>
            <a:ext cx="3487641" cy="1740408"/>
          </a:xfrm>
          <a:prstGeom prst="rect">
            <a:avLst/>
          </a:prstGeom>
        </p:spPr>
      </p:pic>
      <p:sp>
        <p:nvSpPr>
          <p:cNvPr id="9" name="TextBox 8">
            <a:extLst>
              <a:ext uri="{FF2B5EF4-FFF2-40B4-BE49-F238E27FC236}">
                <a16:creationId xmlns:a16="http://schemas.microsoft.com/office/drawing/2014/main" id="{2CEDB16E-4233-53E5-794F-0843487D1870}"/>
              </a:ext>
            </a:extLst>
          </p:cNvPr>
          <p:cNvSpPr txBox="1"/>
          <p:nvPr/>
        </p:nvSpPr>
        <p:spPr>
          <a:xfrm>
            <a:off x="5829923" y="1099233"/>
            <a:ext cx="625468" cy="248209"/>
          </a:xfrm>
          <a:prstGeom prst="rect">
            <a:avLst/>
          </a:prstGeom>
          <a:solidFill>
            <a:schemeClr val="bg1"/>
          </a:solidFill>
        </p:spPr>
        <p:txBody>
          <a:bodyPr wrap="square" rtlCol="0">
            <a:spAutoFit/>
          </a:bodyPr>
          <a:lstStyle/>
          <a:p>
            <a:r>
              <a:rPr lang="en-US" sz="1013"/>
              <a:t>worker</a:t>
            </a:r>
          </a:p>
        </p:txBody>
      </p:sp>
      <p:sp>
        <p:nvSpPr>
          <p:cNvPr id="12" name="TextBox 11">
            <a:extLst>
              <a:ext uri="{FF2B5EF4-FFF2-40B4-BE49-F238E27FC236}">
                <a16:creationId xmlns:a16="http://schemas.microsoft.com/office/drawing/2014/main" id="{C28C5FE3-DCF3-423B-A559-715424DDBB0A}"/>
              </a:ext>
            </a:extLst>
          </p:cNvPr>
          <p:cNvSpPr txBox="1"/>
          <p:nvPr/>
        </p:nvSpPr>
        <p:spPr>
          <a:xfrm>
            <a:off x="6878663" y="1101592"/>
            <a:ext cx="625468" cy="248209"/>
          </a:xfrm>
          <a:prstGeom prst="rect">
            <a:avLst/>
          </a:prstGeom>
          <a:solidFill>
            <a:schemeClr val="bg1"/>
          </a:solidFill>
        </p:spPr>
        <p:txBody>
          <a:bodyPr wrap="square" rtlCol="0">
            <a:spAutoFit/>
          </a:bodyPr>
          <a:lstStyle/>
          <a:p>
            <a:r>
              <a:rPr lang="en-US" sz="1013"/>
              <a:t>worker</a:t>
            </a:r>
          </a:p>
        </p:txBody>
      </p:sp>
      <p:sp>
        <p:nvSpPr>
          <p:cNvPr id="13" name="TextBox 12">
            <a:extLst>
              <a:ext uri="{FF2B5EF4-FFF2-40B4-BE49-F238E27FC236}">
                <a16:creationId xmlns:a16="http://schemas.microsoft.com/office/drawing/2014/main" id="{16876DDD-0D03-EFE1-D75E-EE5085E0560B}"/>
              </a:ext>
            </a:extLst>
          </p:cNvPr>
          <p:cNvSpPr txBox="1"/>
          <p:nvPr/>
        </p:nvSpPr>
        <p:spPr>
          <a:xfrm>
            <a:off x="7917941" y="1116042"/>
            <a:ext cx="597409" cy="248209"/>
          </a:xfrm>
          <a:prstGeom prst="rect">
            <a:avLst/>
          </a:prstGeom>
          <a:solidFill>
            <a:schemeClr val="bg1"/>
          </a:solidFill>
        </p:spPr>
        <p:txBody>
          <a:bodyPr wrap="square" rtlCol="0">
            <a:spAutoFit/>
          </a:bodyPr>
          <a:lstStyle/>
          <a:p>
            <a:r>
              <a:rPr lang="en-US" sz="1013"/>
              <a:t>worker</a:t>
            </a:r>
          </a:p>
        </p:txBody>
      </p:sp>
      <p:sp>
        <p:nvSpPr>
          <p:cNvPr id="15" name="TextBox 14">
            <a:extLst>
              <a:ext uri="{FF2B5EF4-FFF2-40B4-BE49-F238E27FC236}">
                <a16:creationId xmlns:a16="http://schemas.microsoft.com/office/drawing/2014/main" id="{180E17E0-6DD2-4278-0F7C-EE072676EB83}"/>
              </a:ext>
            </a:extLst>
          </p:cNvPr>
          <p:cNvSpPr txBox="1"/>
          <p:nvPr/>
        </p:nvSpPr>
        <p:spPr>
          <a:xfrm>
            <a:off x="6775793" y="273844"/>
            <a:ext cx="757071" cy="248209"/>
          </a:xfrm>
          <a:prstGeom prst="rect">
            <a:avLst/>
          </a:prstGeom>
          <a:solidFill>
            <a:schemeClr val="bg1"/>
          </a:solidFill>
        </p:spPr>
        <p:txBody>
          <a:bodyPr wrap="square" rtlCol="0">
            <a:spAutoFit/>
          </a:bodyPr>
          <a:lstStyle/>
          <a:p>
            <a:r>
              <a:rPr lang="en-US" sz="1013"/>
              <a:t>controller</a:t>
            </a:r>
          </a:p>
        </p:txBody>
      </p:sp>
      <p:sp>
        <p:nvSpPr>
          <p:cNvPr id="16" name="TextBox 15">
            <a:extLst>
              <a:ext uri="{FF2B5EF4-FFF2-40B4-BE49-F238E27FC236}">
                <a16:creationId xmlns:a16="http://schemas.microsoft.com/office/drawing/2014/main" id="{0BD28C9A-9492-C831-6F62-1C0882C58580}"/>
              </a:ext>
            </a:extLst>
          </p:cNvPr>
          <p:cNvSpPr txBox="1"/>
          <p:nvPr/>
        </p:nvSpPr>
        <p:spPr>
          <a:xfrm>
            <a:off x="5870784" y="1822365"/>
            <a:ext cx="561076" cy="200055"/>
          </a:xfrm>
          <a:prstGeom prst="rect">
            <a:avLst/>
          </a:prstGeom>
          <a:solidFill>
            <a:schemeClr val="bg1"/>
          </a:solidFill>
        </p:spPr>
        <p:txBody>
          <a:bodyPr wrap="square" rtlCol="0">
            <a:spAutoFit/>
          </a:bodyPr>
          <a:lstStyle/>
          <a:p>
            <a:r>
              <a:rPr lang="en-US" sz="700"/>
              <a:t>controller</a:t>
            </a:r>
          </a:p>
        </p:txBody>
      </p:sp>
      <p:sp>
        <p:nvSpPr>
          <p:cNvPr id="17" name="TextBox 16">
            <a:extLst>
              <a:ext uri="{FF2B5EF4-FFF2-40B4-BE49-F238E27FC236}">
                <a16:creationId xmlns:a16="http://schemas.microsoft.com/office/drawing/2014/main" id="{C94FAF90-2114-936A-2887-8C605312AC3E}"/>
              </a:ext>
            </a:extLst>
          </p:cNvPr>
          <p:cNvSpPr txBox="1"/>
          <p:nvPr/>
        </p:nvSpPr>
        <p:spPr>
          <a:xfrm>
            <a:off x="6905394" y="1822554"/>
            <a:ext cx="585090" cy="248209"/>
          </a:xfrm>
          <a:prstGeom prst="rect">
            <a:avLst/>
          </a:prstGeom>
          <a:solidFill>
            <a:schemeClr val="bg1"/>
          </a:solidFill>
        </p:spPr>
        <p:txBody>
          <a:bodyPr wrap="square" rtlCol="0">
            <a:spAutoFit/>
          </a:bodyPr>
          <a:lstStyle/>
          <a:p>
            <a:r>
              <a:rPr lang="en-US" sz="1013"/>
              <a:t>worker</a:t>
            </a:r>
          </a:p>
        </p:txBody>
      </p:sp>
      <p:sp>
        <p:nvSpPr>
          <p:cNvPr id="18" name="TextBox 17">
            <a:extLst>
              <a:ext uri="{FF2B5EF4-FFF2-40B4-BE49-F238E27FC236}">
                <a16:creationId xmlns:a16="http://schemas.microsoft.com/office/drawing/2014/main" id="{021C7AD2-8C3F-B21D-A0B6-B46562763F66}"/>
              </a:ext>
            </a:extLst>
          </p:cNvPr>
          <p:cNvSpPr txBox="1"/>
          <p:nvPr/>
        </p:nvSpPr>
        <p:spPr>
          <a:xfrm>
            <a:off x="7964019" y="1822365"/>
            <a:ext cx="609795" cy="248209"/>
          </a:xfrm>
          <a:prstGeom prst="rect">
            <a:avLst/>
          </a:prstGeom>
          <a:solidFill>
            <a:schemeClr val="bg1"/>
          </a:solidFill>
        </p:spPr>
        <p:txBody>
          <a:bodyPr wrap="square" rtlCol="0">
            <a:spAutoFit/>
          </a:bodyPr>
          <a:lstStyle/>
          <a:p>
            <a:r>
              <a:rPr lang="en-US" sz="1013"/>
              <a:t>worker</a:t>
            </a:r>
          </a:p>
        </p:txBody>
      </p:sp>
    </p:spTree>
    <p:extLst>
      <p:ext uri="{BB962C8B-B14F-4D97-AF65-F5344CB8AC3E}">
        <p14:creationId xmlns:p14="http://schemas.microsoft.com/office/powerpoint/2010/main" val="1042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54B0-A1D9-FF6E-3FA2-5A815B655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B21F5-2C93-FACC-FF84-F10EDAE7C89A}"/>
              </a:ext>
            </a:extLst>
          </p:cNvPr>
          <p:cNvSpPr>
            <a:spLocks noGrp="1"/>
          </p:cNvSpPr>
          <p:nvPr>
            <p:ph type="title"/>
          </p:nvPr>
        </p:nvSpPr>
        <p:spPr>
          <a:xfrm>
            <a:off x="2586642" y="2074664"/>
            <a:ext cx="3970716" cy="994172"/>
          </a:xfrm>
        </p:spPr>
        <p:txBody>
          <a:bodyPr/>
          <a:lstStyle/>
          <a:p>
            <a:pPr algn="ctr"/>
            <a:r>
              <a:rPr lang="en-US"/>
              <a:t>Software Modelling</a:t>
            </a:r>
          </a:p>
        </p:txBody>
      </p:sp>
    </p:spTree>
    <p:extLst>
      <p:ext uri="{BB962C8B-B14F-4D97-AF65-F5344CB8AC3E}">
        <p14:creationId xmlns:p14="http://schemas.microsoft.com/office/powerpoint/2010/main" val="586244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1CB66-704E-6B45-9152-C8C5B30F1E89}"/>
              </a:ext>
            </a:extLst>
          </p:cNvPr>
          <p:cNvSpPr>
            <a:spLocks noGrp="1"/>
          </p:cNvSpPr>
          <p:nvPr>
            <p:ph type="title"/>
          </p:nvPr>
        </p:nvSpPr>
        <p:spPr/>
        <p:txBody>
          <a:bodyPr/>
          <a:lstStyle/>
          <a:p>
            <a:r>
              <a:rPr lang="en-US"/>
              <a:t>Just Enough Modelling</a:t>
            </a:r>
          </a:p>
        </p:txBody>
      </p:sp>
      <p:sp>
        <p:nvSpPr>
          <p:cNvPr id="3" name="Content Placeholder 2">
            <a:extLst>
              <a:ext uri="{FF2B5EF4-FFF2-40B4-BE49-F238E27FC236}">
                <a16:creationId xmlns:a16="http://schemas.microsoft.com/office/drawing/2014/main" id="{243ADB9E-E488-1E48-8497-98A896B65E6E}"/>
              </a:ext>
            </a:extLst>
          </p:cNvPr>
          <p:cNvSpPr>
            <a:spLocks noGrp="1"/>
          </p:cNvSpPr>
          <p:nvPr>
            <p:ph idx="1"/>
          </p:nvPr>
        </p:nvSpPr>
        <p:spPr/>
        <p:txBody>
          <a:bodyPr/>
          <a:lstStyle/>
          <a:p>
            <a:r>
              <a:rPr lang="en-GB"/>
              <a:t>Big Design Upfront</a:t>
            </a:r>
          </a:p>
          <a:p>
            <a:pPr marL="342892" lvl="1" indent="0">
              <a:buNone/>
            </a:pPr>
            <a:r>
              <a:rPr lang="en-GB" sz="1100" i="1"/>
              <a:t>"Many times, </a:t>
            </a:r>
            <a:r>
              <a:rPr lang="en-GB" sz="1100" b="1" i="1"/>
              <a:t>thinking things out in advance saved us serious development headaches later on</a:t>
            </a:r>
            <a:r>
              <a:rPr lang="en-GB" sz="1100" i="1"/>
              <a:t>. ... [on making a particular specification change] ... Making this change in the spec took </a:t>
            </a:r>
            <a:r>
              <a:rPr lang="en-GB" sz="1100" b="1" i="1"/>
              <a:t>an hour or two</a:t>
            </a:r>
            <a:r>
              <a:rPr lang="en-GB" sz="1100" i="1"/>
              <a:t>. If we had made this change in code, it would have added </a:t>
            </a:r>
            <a:r>
              <a:rPr lang="en-GB" sz="1100" b="1" i="1"/>
              <a:t>weeks</a:t>
            </a:r>
            <a:r>
              <a:rPr lang="en-GB" sz="1100" i="1"/>
              <a:t> to the schedule. I can’t tell you how strongly I believe in Big Design Up Front, which the proponents of Extreme Programming consider anathema. I have consistently saved time and made better products by using BDUF and I’m proud to use it, no matter what the XP fanatics claim. They’re just wrong on this point and I can’t be any clearer than that.”</a:t>
            </a:r>
          </a:p>
          <a:p>
            <a:pPr marL="342892" lvl="1" indent="0">
              <a:buNone/>
            </a:pPr>
            <a:r>
              <a:rPr lang="en-GB" sz="1100"/>
              <a:t>						</a:t>
            </a:r>
            <a:r>
              <a:rPr lang="en-GB" sz="1000"/>
              <a:t>Joel </a:t>
            </a:r>
            <a:r>
              <a:rPr lang="en-GB" sz="1000" err="1"/>
              <a:t>Spolsky</a:t>
            </a:r>
            <a:r>
              <a:rPr lang="en-GB" sz="1000"/>
              <a:t>, </a:t>
            </a:r>
            <a:r>
              <a:rPr lang="en-GB" sz="1000" err="1"/>
              <a:t>Stackoverflow</a:t>
            </a:r>
            <a:r>
              <a:rPr lang="en-GB" sz="1000"/>
              <a:t> and Trello</a:t>
            </a:r>
          </a:p>
          <a:p>
            <a:pPr marL="342892" lvl="1" indent="0">
              <a:buNone/>
            </a:pPr>
            <a:endParaRPr lang="en-GB" sz="1100"/>
          </a:p>
          <a:p>
            <a:r>
              <a:rPr lang="en-US"/>
              <a:t>Be Pragmatic: Design where it provides value</a:t>
            </a:r>
          </a:p>
          <a:p>
            <a:pPr lvl="1"/>
            <a:r>
              <a:rPr lang="en-US"/>
              <a:t>Break down complexity</a:t>
            </a:r>
          </a:p>
          <a:p>
            <a:pPr lvl="1"/>
            <a:r>
              <a:rPr lang="en-US"/>
              <a:t>Enable shared understanding</a:t>
            </a:r>
          </a:p>
          <a:p>
            <a:pPr lvl="1"/>
            <a:r>
              <a:rPr lang="en-US"/>
              <a:t>Driven by risk: how much would it hurt if you got it wrong?</a:t>
            </a:r>
          </a:p>
          <a:p>
            <a:pPr lvl="1"/>
            <a:endParaRPr lang="en-US"/>
          </a:p>
        </p:txBody>
      </p:sp>
    </p:spTree>
    <p:extLst>
      <p:ext uri="{BB962C8B-B14F-4D97-AF65-F5344CB8AC3E}">
        <p14:creationId xmlns:p14="http://schemas.microsoft.com/office/powerpoint/2010/main" val="206381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A005-1F79-D74D-A121-284258FEF606}"/>
              </a:ext>
            </a:extLst>
          </p:cNvPr>
          <p:cNvSpPr>
            <a:spLocks noGrp="1"/>
          </p:cNvSpPr>
          <p:nvPr>
            <p:ph type="title"/>
          </p:nvPr>
        </p:nvSpPr>
        <p:spPr/>
        <p:txBody>
          <a:bodyPr/>
          <a:lstStyle/>
          <a:p>
            <a:r>
              <a:rPr lang="en-US" dirty="0"/>
              <a:t>Analysis and Design Modelling</a:t>
            </a:r>
          </a:p>
        </p:txBody>
      </p:sp>
      <p:sp>
        <p:nvSpPr>
          <p:cNvPr id="3" name="Content Placeholder 2">
            <a:extLst>
              <a:ext uri="{FF2B5EF4-FFF2-40B4-BE49-F238E27FC236}">
                <a16:creationId xmlns:a16="http://schemas.microsoft.com/office/drawing/2014/main" id="{D60F1C18-0F80-944E-AD4A-92B10E857031}"/>
              </a:ext>
            </a:extLst>
          </p:cNvPr>
          <p:cNvSpPr>
            <a:spLocks noGrp="1"/>
          </p:cNvSpPr>
          <p:nvPr>
            <p:ph idx="1"/>
          </p:nvPr>
        </p:nvSpPr>
        <p:spPr/>
        <p:txBody>
          <a:bodyPr>
            <a:normAutofit/>
          </a:bodyPr>
          <a:lstStyle/>
          <a:p>
            <a:r>
              <a:rPr lang="en-US"/>
              <a:t>Analysis</a:t>
            </a:r>
          </a:p>
          <a:p>
            <a:pPr lvl="1"/>
            <a:r>
              <a:rPr lang="en-US"/>
              <a:t>Domain Modelling</a:t>
            </a:r>
          </a:p>
          <a:p>
            <a:pPr lvl="2"/>
            <a:r>
              <a:rPr lang="en-US"/>
              <a:t>Identify objects in the </a:t>
            </a:r>
            <a:r>
              <a:rPr lang="en-US" b="1" i="1" u="sng"/>
              <a:t>problem domain</a:t>
            </a:r>
            <a:r>
              <a:rPr lang="en-US"/>
              <a:t>, relationships</a:t>
            </a:r>
          </a:p>
          <a:p>
            <a:r>
              <a:rPr lang="en-US"/>
              <a:t>Design</a:t>
            </a:r>
          </a:p>
          <a:p>
            <a:pPr lvl="1"/>
            <a:r>
              <a:rPr lang="en-US"/>
              <a:t>Architecture</a:t>
            </a:r>
          </a:p>
          <a:p>
            <a:pPr lvl="1"/>
            <a:r>
              <a:rPr lang="en-US"/>
              <a:t>Static properties</a:t>
            </a:r>
          </a:p>
          <a:p>
            <a:pPr lvl="1"/>
            <a:r>
              <a:rPr lang="en-US"/>
              <a:t>Dynamic properties</a:t>
            </a:r>
          </a:p>
          <a:p>
            <a:endParaRPr lang="en-US"/>
          </a:p>
        </p:txBody>
      </p:sp>
    </p:spTree>
    <p:extLst>
      <p:ext uri="{BB962C8B-B14F-4D97-AF65-F5344CB8AC3E}">
        <p14:creationId xmlns:p14="http://schemas.microsoft.com/office/powerpoint/2010/main" val="285551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Identifying Domain Entities</a:t>
            </a:r>
          </a:p>
        </p:txBody>
      </p:sp>
      <p:sp>
        <p:nvSpPr>
          <p:cNvPr id="3" name="Content Placeholder 2"/>
          <p:cNvSpPr>
            <a:spLocks noGrp="1"/>
          </p:cNvSpPr>
          <p:nvPr>
            <p:ph idx="1"/>
          </p:nvPr>
        </p:nvSpPr>
        <p:spPr/>
        <p:txBody>
          <a:bodyPr>
            <a:normAutofit lnSpcReduction="10000"/>
          </a:bodyPr>
          <a:lstStyle/>
          <a:p>
            <a:r>
              <a:rPr lang="en-US"/>
              <a:t>Not mechanical</a:t>
            </a:r>
          </a:p>
          <a:p>
            <a:r>
              <a:rPr lang="en-US"/>
              <a:t>Discussion Stakeholders</a:t>
            </a:r>
          </a:p>
          <a:p>
            <a:r>
              <a:rPr lang="en-US"/>
              <a:t>Things to look out for</a:t>
            </a:r>
          </a:p>
          <a:p>
            <a:pPr lvl="1"/>
            <a:r>
              <a:rPr lang="en-US"/>
              <a:t>Objects</a:t>
            </a:r>
          </a:p>
          <a:p>
            <a:pPr lvl="1"/>
            <a:r>
              <a:rPr lang="en-US"/>
              <a:t>Business process</a:t>
            </a:r>
          </a:p>
          <a:p>
            <a:pPr lvl="1"/>
            <a:r>
              <a:rPr lang="en-US"/>
              <a:t>Job titles /roles</a:t>
            </a:r>
          </a:p>
          <a:p>
            <a:pPr lvl="1"/>
            <a:r>
              <a:rPr lang="en-US"/>
              <a:t>Sets, grouping, containers, elements</a:t>
            </a:r>
          </a:p>
          <a:p>
            <a:pPr lvl="1"/>
            <a:r>
              <a:rPr lang="en-US"/>
              <a:t>Events</a:t>
            </a:r>
          </a:p>
          <a:p>
            <a:pPr lvl="1"/>
            <a:r>
              <a:rPr lang="en-US"/>
              <a:t>Record of work</a:t>
            </a:r>
          </a:p>
        </p:txBody>
      </p:sp>
    </p:spTree>
    <p:extLst>
      <p:ext uri="{BB962C8B-B14F-4D97-AF65-F5344CB8AC3E}">
        <p14:creationId xmlns:p14="http://schemas.microsoft.com/office/powerpoint/2010/main" val="224552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Entity associations</a:t>
            </a:r>
            <a:br>
              <a:rPr lang="en-US"/>
            </a:br>
            <a:endParaRPr lang="en-US"/>
          </a:p>
        </p:txBody>
      </p:sp>
      <p:sp>
        <p:nvSpPr>
          <p:cNvPr id="3" name="Content Placeholder 2"/>
          <p:cNvSpPr>
            <a:spLocks noGrp="1"/>
          </p:cNvSpPr>
          <p:nvPr>
            <p:ph idx="1"/>
          </p:nvPr>
        </p:nvSpPr>
        <p:spPr/>
        <p:txBody>
          <a:bodyPr>
            <a:normAutofit/>
          </a:bodyPr>
          <a:lstStyle/>
          <a:p>
            <a:r>
              <a:rPr lang="en-US"/>
              <a:t>Describe relationships</a:t>
            </a:r>
          </a:p>
          <a:p>
            <a:r>
              <a:rPr lang="en-US"/>
              <a:t>Look out for </a:t>
            </a:r>
          </a:p>
          <a:p>
            <a:pPr lvl="1"/>
            <a:r>
              <a:rPr lang="en-US"/>
              <a:t>Part of</a:t>
            </a:r>
          </a:p>
          <a:p>
            <a:pPr lvl="1"/>
            <a:r>
              <a:rPr lang="en-US"/>
              <a:t>Description for</a:t>
            </a:r>
          </a:p>
          <a:p>
            <a:pPr lvl="1"/>
            <a:r>
              <a:rPr lang="en-US"/>
              <a:t>Set member</a:t>
            </a:r>
          </a:p>
          <a:p>
            <a:pPr lvl="1"/>
            <a:r>
              <a:rPr lang="en-US"/>
              <a:t>Uses/manages</a:t>
            </a:r>
          </a:p>
          <a:p>
            <a:pPr lvl="1"/>
            <a:r>
              <a:rPr lang="en-US"/>
              <a:t>Communicates with</a:t>
            </a:r>
          </a:p>
          <a:p>
            <a:pPr lvl="1"/>
            <a:r>
              <a:rPr lang="en-US"/>
              <a:t>Owned by</a:t>
            </a:r>
          </a:p>
          <a:p>
            <a:pPr lvl="1"/>
            <a:r>
              <a:rPr lang="en-US"/>
              <a:t>Event</a:t>
            </a:r>
          </a:p>
          <a:p>
            <a:pPr marL="0" indent="0">
              <a:buNone/>
            </a:pPr>
            <a:endParaRPr lang="en-US"/>
          </a:p>
        </p:txBody>
      </p:sp>
    </p:spTree>
    <p:extLst>
      <p:ext uri="{BB962C8B-B14F-4D97-AF65-F5344CB8AC3E}">
        <p14:creationId xmlns:p14="http://schemas.microsoft.com/office/powerpoint/2010/main" val="33159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Associations</a:t>
            </a:r>
          </a:p>
        </p:txBody>
      </p:sp>
      <p:sp>
        <p:nvSpPr>
          <p:cNvPr id="3" name="Content Placeholder 2"/>
          <p:cNvSpPr>
            <a:spLocks noGrp="1"/>
          </p:cNvSpPr>
          <p:nvPr>
            <p:ph idx="1"/>
          </p:nvPr>
        </p:nvSpPr>
        <p:spPr/>
        <p:txBody>
          <a:bodyPr/>
          <a:lstStyle/>
          <a:p>
            <a:r>
              <a:rPr lang="en-US" dirty="0"/>
              <a:t>Can be named</a:t>
            </a:r>
          </a:p>
          <a:p>
            <a:pPr lvl="1"/>
            <a:r>
              <a:rPr lang="en-US" dirty="0"/>
              <a:t>Association name</a:t>
            </a:r>
          </a:p>
          <a:p>
            <a:pPr lvl="1"/>
            <a:r>
              <a:rPr lang="en-US" dirty="0"/>
              <a:t>Role names</a:t>
            </a:r>
          </a:p>
          <a:p>
            <a:r>
              <a:rPr lang="en-US" dirty="0"/>
              <a:t>Can include multiplicity</a:t>
            </a:r>
          </a:p>
          <a:p>
            <a:r>
              <a:rPr lang="en-US" dirty="0"/>
              <a:t>There can be more than one between two entities</a:t>
            </a:r>
          </a:p>
          <a:p>
            <a:r>
              <a:rPr lang="en-US" dirty="0"/>
              <a:t>They can be recursive </a:t>
            </a:r>
          </a:p>
          <a:p>
            <a:endParaRPr lang="en-US" dirty="0"/>
          </a:p>
        </p:txBody>
      </p:sp>
    </p:spTree>
    <p:extLst>
      <p:ext uri="{BB962C8B-B14F-4D97-AF65-F5344CB8AC3E}">
        <p14:creationId xmlns:p14="http://schemas.microsoft.com/office/powerpoint/2010/main" val="297432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Grammatical Parse</a:t>
            </a:r>
          </a:p>
        </p:txBody>
      </p:sp>
      <p:sp>
        <p:nvSpPr>
          <p:cNvPr id="3" name="Content Placeholder 2"/>
          <p:cNvSpPr>
            <a:spLocks noGrp="1"/>
          </p:cNvSpPr>
          <p:nvPr>
            <p:ph idx="1"/>
          </p:nvPr>
        </p:nvSpPr>
        <p:spPr/>
        <p:txBody>
          <a:bodyPr/>
          <a:lstStyle/>
          <a:p>
            <a:r>
              <a:rPr lang="en-US"/>
              <a:t>Identify nouns from existing text</a:t>
            </a:r>
          </a:p>
          <a:p>
            <a:r>
              <a:rPr lang="en-US"/>
              <a:t>Narrow down to remove </a:t>
            </a:r>
          </a:p>
          <a:p>
            <a:pPr lvl="1"/>
            <a:r>
              <a:rPr lang="en-US"/>
              <a:t>Duplicated variations</a:t>
            </a:r>
          </a:p>
          <a:p>
            <a:pPr lvl="1"/>
            <a:r>
              <a:rPr lang="en-US"/>
              <a:t>Irrelevant</a:t>
            </a:r>
          </a:p>
          <a:p>
            <a:pPr lvl="1"/>
            <a:r>
              <a:rPr lang="en-US"/>
              <a:t>Out of scope</a:t>
            </a:r>
          </a:p>
        </p:txBody>
      </p:sp>
    </p:spTree>
    <p:extLst>
      <p:ext uri="{BB962C8B-B14F-4D97-AF65-F5344CB8AC3E}">
        <p14:creationId xmlns:p14="http://schemas.microsoft.com/office/powerpoint/2010/main" val="347992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spcBef>
                <a:spcPts val="0"/>
              </a:spcBef>
              <a:buNone/>
            </a:pPr>
            <a:r>
              <a:rPr lang="en-US"/>
              <a:t>“Cloud computing is an information technology (IT) paradigm, a model for enabling ubiquitous access to shared pools of configurable resources (such as computer networks, servers, storage, applications and services),[1][2] which can be rapidly provisioned with minimal management effort, often over the Internet.” </a:t>
            </a:r>
          </a:p>
          <a:p>
            <a:pPr marL="0" indent="0">
              <a:spcBef>
                <a:spcPts val="0"/>
              </a:spcBef>
              <a:buNone/>
            </a:pPr>
            <a:endParaRPr lang="en-US"/>
          </a:p>
          <a:p>
            <a:pPr marL="0" indent="0">
              <a:spcBef>
                <a:spcPts val="0"/>
              </a:spcBef>
              <a:buNone/>
            </a:pPr>
            <a:endParaRPr lang="en-US"/>
          </a:p>
        </p:txBody>
      </p:sp>
      <p:sp>
        <p:nvSpPr>
          <p:cNvPr id="7" name="TextBox 6"/>
          <p:cNvSpPr txBox="1"/>
          <p:nvPr/>
        </p:nvSpPr>
        <p:spPr>
          <a:xfrm>
            <a:off x="5184740" y="3028171"/>
            <a:ext cx="2757486" cy="244682"/>
          </a:xfrm>
          <a:prstGeom prst="rect">
            <a:avLst/>
          </a:prstGeom>
          <a:noFill/>
        </p:spPr>
        <p:txBody>
          <a:bodyPr wrap="none" rtlCol="0">
            <a:spAutoFit/>
          </a:bodyPr>
          <a:lstStyle/>
          <a:p>
            <a:r>
              <a:rPr lang="en-US" sz="990"/>
              <a:t>https://</a:t>
            </a:r>
            <a:r>
              <a:rPr lang="en-US" sz="990" err="1"/>
              <a:t>en.wikipedia.org</a:t>
            </a:r>
            <a:r>
              <a:rPr lang="en-US" sz="990"/>
              <a:t>/wiki/</a:t>
            </a:r>
            <a:r>
              <a:rPr lang="en-US" sz="990" err="1"/>
              <a:t>Cloud_computing</a:t>
            </a:r>
            <a:endParaRPr lang="en-US" sz="990"/>
          </a:p>
        </p:txBody>
      </p:sp>
    </p:spTree>
    <p:extLst>
      <p:ext uri="{BB962C8B-B14F-4D97-AF65-F5344CB8AC3E}">
        <p14:creationId xmlns:p14="http://schemas.microsoft.com/office/powerpoint/2010/main" val="406208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spcBef>
                <a:spcPts val="0"/>
              </a:spcBef>
              <a:buNone/>
            </a:pPr>
            <a:r>
              <a:rPr lang="en-US"/>
              <a:t>“Cloud computing is an information technology (IT) paradigm, a model for enabling ubiquitous access to shared pools of configurable </a:t>
            </a:r>
            <a:r>
              <a:rPr lang="en-US">
                <a:solidFill>
                  <a:srgbClr val="FF0000"/>
                </a:solidFill>
              </a:rPr>
              <a:t>resources</a:t>
            </a:r>
            <a:r>
              <a:rPr lang="en-US"/>
              <a:t> (such as computer </a:t>
            </a:r>
            <a:r>
              <a:rPr lang="en-US">
                <a:solidFill>
                  <a:srgbClr val="FF0000"/>
                </a:solidFill>
              </a:rPr>
              <a:t>networks</a:t>
            </a:r>
            <a:r>
              <a:rPr lang="en-US"/>
              <a:t>, </a:t>
            </a:r>
            <a:r>
              <a:rPr lang="en-US">
                <a:solidFill>
                  <a:srgbClr val="FF0000"/>
                </a:solidFill>
              </a:rPr>
              <a:t>servers</a:t>
            </a:r>
            <a:r>
              <a:rPr lang="en-US"/>
              <a:t>, </a:t>
            </a:r>
            <a:r>
              <a:rPr lang="en-US">
                <a:solidFill>
                  <a:srgbClr val="FF0000"/>
                </a:solidFill>
              </a:rPr>
              <a:t>storage</a:t>
            </a:r>
            <a:r>
              <a:rPr lang="en-US"/>
              <a:t>, </a:t>
            </a:r>
            <a:r>
              <a:rPr lang="en-US">
                <a:solidFill>
                  <a:srgbClr val="FF0000"/>
                </a:solidFill>
              </a:rPr>
              <a:t>applications</a:t>
            </a:r>
            <a:r>
              <a:rPr lang="en-US"/>
              <a:t> and </a:t>
            </a:r>
            <a:r>
              <a:rPr lang="en-US">
                <a:solidFill>
                  <a:srgbClr val="FF0000"/>
                </a:solidFill>
              </a:rPr>
              <a:t>services</a:t>
            </a:r>
            <a:r>
              <a:rPr lang="en-US"/>
              <a:t>),[1][2] which can be rapidly provisioned with minimal management effort, often over the </a:t>
            </a:r>
            <a:r>
              <a:rPr lang="en-US">
                <a:solidFill>
                  <a:srgbClr val="FF0000"/>
                </a:solidFill>
              </a:rPr>
              <a:t>Internet</a:t>
            </a:r>
            <a:r>
              <a:rPr lang="en-US"/>
              <a:t>.” </a:t>
            </a:r>
          </a:p>
        </p:txBody>
      </p:sp>
      <p:sp>
        <p:nvSpPr>
          <p:cNvPr id="7" name="TextBox 6"/>
          <p:cNvSpPr txBox="1"/>
          <p:nvPr/>
        </p:nvSpPr>
        <p:spPr>
          <a:xfrm>
            <a:off x="3780877" y="3803087"/>
            <a:ext cx="2757486" cy="244682"/>
          </a:xfrm>
          <a:prstGeom prst="rect">
            <a:avLst/>
          </a:prstGeom>
          <a:noFill/>
        </p:spPr>
        <p:txBody>
          <a:bodyPr wrap="none" rtlCol="0">
            <a:spAutoFit/>
          </a:bodyPr>
          <a:lstStyle/>
          <a:p>
            <a:r>
              <a:rPr lang="en-US" sz="990"/>
              <a:t>https://</a:t>
            </a:r>
            <a:r>
              <a:rPr lang="en-US" sz="990" err="1"/>
              <a:t>en.wikipedia.org</a:t>
            </a:r>
            <a:r>
              <a:rPr lang="en-US" sz="990"/>
              <a:t>/wiki/</a:t>
            </a:r>
            <a:r>
              <a:rPr lang="en-US" sz="990" err="1"/>
              <a:t>Cloud_computing</a:t>
            </a:r>
            <a:endParaRPr lang="en-US" sz="990"/>
          </a:p>
        </p:txBody>
      </p:sp>
    </p:spTree>
    <p:extLst>
      <p:ext uri="{BB962C8B-B14F-4D97-AF65-F5344CB8AC3E}">
        <p14:creationId xmlns:p14="http://schemas.microsoft.com/office/powerpoint/2010/main" val="1329285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361C-583D-A188-F7C8-889855046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3B72A-5322-CCAC-2EE4-1A430A1B92BE}"/>
              </a:ext>
            </a:extLst>
          </p:cNvPr>
          <p:cNvSpPr>
            <a:spLocks noGrp="1"/>
          </p:cNvSpPr>
          <p:nvPr>
            <p:ph type="title"/>
          </p:nvPr>
        </p:nvSpPr>
        <p:spPr>
          <a:xfrm>
            <a:off x="370799" y="273844"/>
            <a:ext cx="8521991" cy="994172"/>
          </a:xfrm>
        </p:spPr>
        <p:txBody>
          <a:bodyPr/>
          <a:lstStyle/>
          <a:p>
            <a:r>
              <a:rPr lang="en-GB">
                <a:latin typeface="Arial Black"/>
              </a:rPr>
              <a:t>Task 1: Grammatically Analyse Your Project Brief</a:t>
            </a:r>
            <a:endParaRPr lang="en-US"/>
          </a:p>
        </p:txBody>
      </p:sp>
      <p:sp>
        <p:nvSpPr>
          <p:cNvPr id="6" name="Content Placeholder 2">
            <a:extLst>
              <a:ext uri="{FF2B5EF4-FFF2-40B4-BE49-F238E27FC236}">
                <a16:creationId xmlns:a16="http://schemas.microsoft.com/office/drawing/2014/main" id="{78F1B075-FE17-0FBC-D209-0DE4EDFA4D76}"/>
              </a:ext>
            </a:extLst>
          </p:cNvPr>
          <p:cNvSpPr txBox="1">
            <a:spLocks/>
          </p:cNvSpPr>
          <p:nvPr/>
        </p:nvSpPr>
        <p:spPr>
          <a:xfrm>
            <a:off x="370800" y="1342030"/>
            <a:ext cx="7772364" cy="3129486"/>
          </a:xfrm>
          <a:prstGeom prst="rect">
            <a:avLst/>
          </a:prstGeom>
        </p:spPr>
        <p:txBody>
          <a:bodyPr vert="horz" lIns="91440" tIns="45720" rIns="91440" bIns="45720" rtlCol="0" anchor="t">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As a team, read your project brief again. Parse the text to understand the objects involved.</a:t>
            </a:r>
          </a:p>
          <a:p>
            <a:r>
              <a:rPr lang="en-US"/>
              <a:t>Look out for </a:t>
            </a:r>
            <a:r>
              <a:rPr lang="en-US" b="1"/>
              <a:t>objects </a:t>
            </a:r>
            <a:r>
              <a:rPr lang="en-US"/>
              <a:t>and their </a:t>
            </a:r>
            <a:r>
              <a:rPr lang="en-US" b="1"/>
              <a:t>associations </a:t>
            </a:r>
            <a:r>
              <a:rPr lang="en-US"/>
              <a:t>and write them down</a:t>
            </a:r>
          </a:p>
          <a:p>
            <a:r>
              <a:rPr lang="en-US"/>
              <a:t>If the client has not included enough detail, then write your own brief which describes the objects and associations which might be involved</a:t>
            </a:r>
          </a:p>
          <a:p>
            <a:r>
              <a:rPr lang="en-US"/>
              <a:t>5-10 Minutes</a:t>
            </a:r>
          </a:p>
        </p:txBody>
      </p:sp>
    </p:spTree>
    <p:extLst>
      <p:ext uri="{BB962C8B-B14F-4D97-AF65-F5344CB8AC3E}">
        <p14:creationId xmlns:p14="http://schemas.microsoft.com/office/powerpoint/2010/main" val="2152575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42ABC-FBA9-F097-037A-6BA38B4ED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2B589-C30F-C302-5442-B284B4938934}"/>
              </a:ext>
            </a:extLst>
          </p:cNvPr>
          <p:cNvSpPr>
            <a:spLocks noGrp="1"/>
          </p:cNvSpPr>
          <p:nvPr>
            <p:ph type="title"/>
          </p:nvPr>
        </p:nvSpPr>
        <p:spPr>
          <a:xfrm>
            <a:off x="2309504" y="2074664"/>
            <a:ext cx="8402400" cy="994172"/>
          </a:xfrm>
        </p:spPr>
        <p:txBody>
          <a:bodyPr/>
          <a:lstStyle/>
          <a:p>
            <a:r>
              <a:rPr lang="en-US"/>
              <a:t>Static Design Models</a:t>
            </a:r>
          </a:p>
        </p:txBody>
      </p:sp>
    </p:spTree>
    <p:extLst>
      <p:ext uri="{BB962C8B-B14F-4D97-AF65-F5344CB8AC3E}">
        <p14:creationId xmlns:p14="http://schemas.microsoft.com/office/powerpoint/2010/main" val="1870169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4625E-C8BA-E236-8B3A-8193A4A9C718}"/>
              </a:ext>
            </a:extLst>
          </p:cNvPr>
          <p:cNvSpPr>
            <a:spLocks noGrp="1"/>
          </p:cNvSpPr>
          <p:nvPr>
            <p:ph type="title"/>
          </p:nvPr>
        </p:nvSpPr>
        <p:spPr/>
        <p:txBody>
          <a:bodyPr/>
          <a:lstStyle/>
          <a:p>
            <a:r>
              <a:rPr lang="en-US"/>
              <a:t>C4 model for </a:t>
            </a:r>
            <a:r>
              <a:rPr lang="en-US" err="1"/>
              <a:t>visualising</a:t>
            </a:r>
            <a:r>
              <a:rPr lang="en-US"/>
              <a:t> software architecture</a:t>
            </a:r>
          </a:p>
        </p:txBody>
      </p:sp>
      <p:sp>
        <p:nvSpPr>
          <p:cNvPr id="3" name="Content Placeholder 2">
            <a:extLst>
              <a:ext uri="{FF2B5EF4-FFF2-40B4-BE49-F238E27FC236}">
                <a16:creationId xmlns:a16="http://schemas.microsoft.com/office/drawing/2014/main" id="{7D07F7B9-194A-47E4-A9BD-6D20E50F8216}"/>
              </a:ext>
            </a:extLst>
          </p:cNvPr>
          <p:cNvSpPr>
            <a:spLocks noGrp="1"/>
          </p:cNvSpPr>
          <p:nvPr>
            <p:ph idx="1"/>
          </p:nvPr>
        </p:nvSpPr>
        <p:spPr>
          <a:xfrm>
            <a:off x="370801" y="1369219"/>
            <a:ext cx="2583414" cy="2888456"/>
          </a:xfrm>
        </p:spPr>
        <p:txBody>
          <a:bodyPr/>
          <a:lstStyle/>
          <a:p>
            <a:r>
              <a:rPr lang="en-US">
                <a:hlinkClick r:id="rId2"/>
              </a:rPr>
              <a:t>https://c4model.com/introduction</a:t>
            </a:r>
            <a:endParaRPr lang="en-US"/>
          </a:p>
          <a:p>
            <a:r>
              <a:rPr lang="en-US"/>
              <a:t>Sequence of set choices of level of abstraction</a:t>
            </a:r>
          </a:p>
        </p:txBody>
      </p:sp>
      <p:pic>
        <p:nvPicPr>
          <p:cNvPr id="5" name="Picture 4">
            <a:extLst>
              <a:ext uri="{FF2B5EF4-FFF2-40B4-BE49-F238E27FC236}">
                <a16:creationId xmlns:a16="http://schemas.microsoft.com/office/drawing/2014/main" id="{64A6941C-DEC7-91E0-0084-3311059D5493}"/>
              </a:ext>
            </a:extLst>
          </p:cNvPr>
          <p:cNvPicPr>
            <a:picLocks noChangeAspect="1"/>
          </p:cNvPicPr>
          <p:nvPr/>
        </p:nvPicPr>
        <p:blipFill>
          <a:blip r:embed="rId3"/>
          <a:stretch>
            <a:fillRect/>
          </a:stretch>
        </p:blipFill>
        <p:spPr>
          <a:xfrm>
            <a:off x="3084140" y="1268017"/>
            <a:ext cx="5396219" cy="3414516"/>
          </a:xfrm>
          <a:prstGeom prst="rect">
            <a:avLst/>
          </a:prstGeom>
        </p:spPr>
      </p:pic>
    </p:spTree>
    <p:extLst>
      <p:ext uri="{BB962C8B-B14F-4D97-AF65-F5344CB8AC3E}">
        <p14:creationId xmlns:p14="http://schemas.microsoft.com/office/powerpoint/2010/main" val="3611344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38C5F-C5C6-5A4D-55A5-E77F610B3923}"/>
            </a:ext>
          </a:extLst>
        </p:cNvPr>
        <p:cNvGrpSpPr/>
        <p:nvPr/>
      </p:nvGrpSpPr>
      <p:grpSpPr>
        <a:xfrm>
          <a:off x="0" y="0"/>
          <a:ext cx="0" cy="0"/>
          <a:chOff x="0" y="0"/>
          <a:chExt cx="0" cy="0"/>
        </a:xfrm>
      </p:grpSpPr>
      <p:pic>
        <p:nvPicPr>
          <p:cNvPr id="1026" name="Picture 2" descr="A system context diagram">
            <a:extLst>
              <a:ext uri="{FF2B5EF4-FFF2-40B4-BE49-F238E27FC236}">
                <a16:creationId xmlns:a16="http://schemas.microsoft.com/office/drawing/2014/main" id="{18692D48-F61A-7425-0DCF-785935A28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654" y="561264"/>
            <a:ext cx="5184884" cy="42909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B37ADFB-D3CE-1790-B2D3-BFA49A57E56F}"/>
              </a:ext>
            </a:extLst>
          </p:cNvPr>
          <p:cNvSpPr>
            <a:spLocks noGrp="1"/>
          </p:cNvSpPr>
          <p:nvPr>
            <p:ph type="title"/>
          </p:nvPr>
        </p:nvSpPr>
        <p:spPr/>
        <p:txBody>
          <a:bodyPr/>
          <a:lstStyle/>
          <a:p>
            <a:r>
              <a:rPr lang="en-US"/>
              <a:t>C4 model - Level 1:</a:t>
            </a:r>
            <a:br>
              <a:rPr lang="en-US"/>
            </a:br>
            <a:r>
              <a:rPr lang="en-US"/>
              <a:t>System Context</a:t>
            </a:r>
          </a:p>
        </p:txBody>
      </p:sp>
      <p:sp>
        <p:nvSpPr>
          <p:cNvPr id="3" name="Content Placeholder 2">
            <a:extLst>
              <a:ext uri="{FF2B5EF4-FFF2-40B4-BE49-F238E27FC236}">
                <a16:creationId xmlns:a16="http://schemas.microsoft.com/office/drawing/2014/main" id="{EE1F6A8F-1B19-09DA-93FC-B77396A2533A}"/>
              </a:ext>
            </a:extLst>
          </p:cNvPr>
          <p:cNvSpPr>
            <a:spLocks noGrp="1"/>
          </p:cNvSpPr>
          <p:nvPr>
            <p:ph idx="1"/>
          </p:nvPr>
        </p:nvSpPr>
        <p:spPr>
          <a:xfrm>
            <a:off x="370801" y="1369219"/>
            <a:ext cx="3251630" cy="2888456"/>
          </a:xfrm>
        </p:spPr>
        <p:txBody>
          <a:bodyPr/>
          <a:lstStyle/>
          <a:p>
            <a:r>
              <a:rPr lang="en-US"/>
              <a:t>Intended to be used by technical and non-technical people</a:t>
            </a:r>
          </a:p>
          <a:p>
            <a:pPr lvl="1"/>
            <a:r>
              <a:rPr lang="en-US"/>
              <a:t>Useful for communicating the system back to the client</a:t>
            </a:r>
          </a:p>
          <a:p>
            <a:endParaRPr lang="en-US"/>
          </a:p>
        </p:txBody>
      </p:sp>
    </p:spTree>
    <p:extLst>
      <p:ext uri="{BB962C8B-B14F-4D97-AF65-F5344CB8AC3E}">
        <p14:creationId xmlns:p14="http://schemas.microsoft.com/office/powerpoint/2010/main" val="510690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1870F-0A59-C058-470B-9FE2777D5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F7618-882E-B23E-C998-9F192F68212C}"/>
              </a:ext>
            </a:extLst>
          </p:cNvPr>
          <p:cNvSpPr>
            <a:spLocks noGrp="1"/>
          </p:cNvSpPr>
          <p:nvPr>
            <p:ph type="title"/>
          </p:nvPr>
        </p:nvSpPr>
        <p:spPr>
          <a:xfrm>
            <a:off x="370800" y="273844"/>
            <a:ext cx="4035404" cy="994172"/>
          </a:xfrm>
        </p:spPr>
        <p:txBody>
          <a:bodyPr/>
          <a:lstStyle/>
          <a:p>
            <a:r>
              <a:rPr lang="en-US"/>
              <a:t>C4 model - Level 2: Container Diagram</a:t>
            </a:r>
          </a:p>
        </p:txBody>
      </p:sp>
      <p:sp>
        <p:nvSpPr>
          <p:cNvPr id="3" name="Content Placeholder 2">
            <a:extLst>
              <a:ext uri="{FF2B5EF4-FFF2-40B4-BE49-F238E27FC236}">
                <a16:creationId xmlns:a16="http://schemas.microsoft.com/office/drawing/2014/main" id="{112FAC65-E71B-9F6B-3E82-2BA505865557}"/>
              </a:ext>
            </a:extLst>
          </p:cNvPr>
          <p:cNvSpPr>
            <a:spLocks noGrp="1"/>
          </p:cNvSpPr>
          <p:nvPr>
            <p:ph idx="1"/>
          </p:nvPr>
        </p:nvSpPr>
        <p:spPr>
          <a:xfrm>
            <a:off x="370800" y="1369219"/>
            <a:ext cx="4035403" cy="2888456"/>
          </a:xfrm>
        </p:spPr>
        <p:txBody>
          <a:bodyPr>
            <a:normAutofit/>
          </a:bodyPr>
          <a:lstStyle/>
          <a:p>
            <a:r>
              <a:rPr lang="en-GB"/>
              <a:t>Intended for Technical people inside and outside the software development team; including software architects, developers and operations/support staff.</a:t>
            </a:r>
          </a:p>
          <a:p>
            <a:endParaRPr lang="en-US"/>
          </a:p>
        </p:txBody>
      </p:sp>
      <p:pic>
        <p:nvPicPr>
          <p:cNvPr id="2050" name="Picture 2" descr="A container diagram">
            <a:extLst>
              <a:ext uri="{FF2B5EF4-FFF2-40B4-BE49-F238E27FC236}">
                <a16:creationId xmlns:a16="http://schemas.microsoft.com/office/drawing/2014/main" id="{79C3BD79-36BC-22F6-22D8-37CF7EB56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4994" y="454715"/>
            <a:ext cx="4740955" cy="4487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772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A9ED9-6B95-6A34-D549-D5FB754DF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465A9-4833-6D3B-9941-A69D6D0B66EB}"/>
              </a:ext>
            </a:extLst>
          </p:cNvPr>
          <p:cNvSpPr>
            <a:spLocks noGrp="1"/>
          </p:cNvSpPr>
          <p:nvPr>
            <p:ph type="title"/>
          </p:nvPr>
        </p:nvSpPr>
        <p:spPr/>
        <p:txBody>
          <a:bodyPr/>
          <a:lstStyle/>
          <a:p>
            <a:r>
              <a:rPr lang="en-US"/>
              <a:t>C4 model - Level 3:</a:t>
            </a:r>
            <a:br>
              <a:rPr lang="en-US"/>
            </a:br>
            <a:r>
              <a:rPr lang="en-US"/>
              <a:t>Component Diagram</a:t>
            </a:r>
          </a:p>
        </p:txBody>
      </p:sp>
      <p:sp>
        <p:nvSpPr>
          <p:cNvPr id="3" name="Content Placeholder 2">
            <a:extLst>
              <a:ext uri="{FF2B5EF4-FFF2-40B4-BE49-F238E27FC236}">
                <a16:creationId xmlns:a16="http://schemas.microsoft.com/office/drawing/2014/main" id="{7AA32B04-53D0-2D35-269A-4898350B32CD}"/>
              </a:ext>
            </a:extLst>
          </p:cNvPr>
          <p:cNvSpPr>
            <a:spLocks noGrp="1"/>
          </p:cNvSpPr>
          <p:nvPr>
            <p:ph idx="1"/>
          </p:nvPr>
        </p:nvSpPr>
        <p:spPr>
          <a:xfrm>
            <a:off x="370800" y="1369219"/>
            <a:ext cx="3141825" cy="3453990"/>
          </a:xfrm>
        </p:spPr>
        <p:txBody>
          <a:bodyPr>
            <a:normAutofit fontScale="85000" lnSpcReduction="20000"/>
          </a:bodyPr>
          <a:lstStyle/>
          <a:p>
            <a:endParaRPr lang="en-US"/>
          </a:p>
          <a:p>
            <a:r>
              <a:rPr lang="en-US"/>
              <a:t>This could be:</a:t>
            </a:r>
          </a:p>
          <a:p>
            <a:pPr lvl="1"/>
            <a:r>
              <a:rPr lang="en-US"/>
              <a:t>A single element of your cloud infrastructure</a:t>
            </a:r>
          </a:p>
          <a:p>
            <a:pPr lvl="1"/>
            <a:r>
              <a:rPr lang="en-US"/>
              <a:t>The user application</a:t>
            </a:r>
          </a:p>
          <a:p>
            <a:r>
              <a:rPr lang="en-US"/>
              <a:t>Intended to be used by software architects and developers</a:t>
            </a:r>
          </a:p>
          <a:p>
            <a:r>
              <a:rPr lang="en-US"/>
              <a:t>Is it required?</a:t>
            </a:r>
          </a:p>
          <a:p>
            <a:pPr lvl="1"/>
            <a:r>
              <a:rPr lang="en-US"/>
              <a:t>Not needed for every part of the system</a:t>
            </a:r>
          </a:p>
          <a:p>
            <a:pPr lvl="1"/>
            <a:r>
              <a:rPr lang="en-US"/>
              <a:t>Recommended for more complex components</a:t>
            </a:r>
          </a:p>
          <a:p>
            <a:pPr lvl="1"/>
            <a:r>
              <a:rPr lang="en-US"/>
              <a:t>Useful for documentation and handover</a:t>
            </a:r>
          </a:p>
        </p:txBody>
      </p:sp>
      <p:pic>
        <p:nvPicPr>
          <p:cNvPr id="3074" name="Picture 2" descr="A component diagram">
            <a:extLst>
              <a:ext uri="{FF2B5EF4-FFF2-40B4-BE49-F238E27FC236}">
                <a16:creationId xmlns:a16="http://schemas.microsoft.com/office/drawing/2014/main" id="{DC045CE5-C5CA-FA62-3573-5D6BCA99F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626" y="1155560"/>
            <a:ext cx="5542003" cy="3884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44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A3BD0-8724-5CFF-2FF7-138220439C5C}"/>
            </a:ext>
          </a:extLst>
        </p:cNvPr>
        <p:cNvGrpSpPr/>
        <p:nvPr/>
      </p:nvGrpSpPr>
      <p:grpSpPr>
        <a:xfrm>
          <a:off x="0" y="0"/>
          <a:ext cx="0" cy="0"/>
          <a:chOff x="0" y="0"/>
          <a:chExt cx="0" cy="0"/>
        </a:xfrm>
      </p:grpSpPr>
      <p:pic>
        <p:nvPicPr>
          <p:cNvPr id="4098" name="Picture 2" descr="A code diagram">
            <a:extLst>
              <a:ext uri="{FF2B5EF4-FFF2-40B4-BE49-F238E27FC236}">
                <a16:creationId xmlns:a16="http://schemas.microsoft.com/office/drawing/2014/main" id="{BCFC9C01-21DA-DD5C-F3CD-FFD91384E0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376"/>
          <a:stretch>
            <a:fillRect/>
          </a:stretch>
        </p:blipFill>
        <p:spPr bwMode="auto">
          <a:xfrm>
            <a:off x="3507347" y="273844"/>
            <a:ext cx="5551648" cy="47754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94961DB-2C61-77B9-5B92-A0DBE5F77414}"/>
              </a:ext>
            </a:extLst>
          </p:cNvPr>
          <p:cNvSpPr>
            <a:spLocks noGrp="1"/>
          </p:cNvSpPr>
          <p:nvPr>
            <p:ph type="title"/>
          </p:nvPr>
        </p:nvSpPr>
        <p:spPr/>
        <p:txBody>
          <a:bodyPr/>
          <a:lstStyle/>
          <a:p>
            <a:r>
              <a:rPr lang="en-US"/>
              <a:t>C4 model - Level 4: </a:t>
            </a:r>
            <a:br>
              <a:rPr lang="en-US"/>
            </a:br>
            <a:r>
              <a:rPr lang="en-US"/>
              <a:t>Code Diagram</a:t>
            </a:r>
          </a:p>
        </p:txBody>
      </p:sp>
      <p:sp>
        <p:nvSpPr>
          <p:cNvPr id="3" name="Content Placeholder 2">
            <a:extLst>
              <a:ext uri="{FF2B5EF4-FFF2-40B4-BE49-F238E27FC236}">
                <a16:creationId xmlns:a16="http://schemas.microsoft.com/office/drawing/2014/main" id="{AD1CE270-9006-F17A-ECD5-E2F7B0C4497E}"/>
              </a:ext>
            </a:extLst>
          </p:cNvPr>
          <p:cNvSpPr>
            <a:spLocks noGrp="1"/>
          </p:cNvSpPr>
          <p:nvPr>
            <p:ph idx="1"/>
          </p:nvPr>
        </p:nvSpPr>
        <p:spPr>
          <a:xfrm>
            <a:off x="370800" y="1369219"/>
            <a:ext cx="4201200" cy="2888456"/>
          </a:xfrm>
        </p:spPr>
        <p:txBody>
          <a:bodyPr/>
          <a:lstStyle/>
          <a:p>
            <a:r>
              <a:rPr lang="en-US"/>
              <a:t>A single component of the system</a:t>
            </a:r>
          </a:p>
          <a:p>
            <a:r>
              <a:rPr lang="en-US"/>
              <a:t>Uses a formalized UML</a:t>
            </a:r>
          </a:p>
          <a:p>
            <a:r>
              <a:rPr lang="en-US"/>
              <a:t>Not always necessary</a:t>
            </a:r>
          </a:p>
          <a:p>
            <a:pPr lvl="1"/>
            <a:r>
              <a:rPr lang="en-US"/>
              <a:t>Code structure can change frequently</a:t>
            </a:r>
          </a:p>
          <a:p>
            <a:pPr lvl="1"/>
            <a:r>
              <a:rPr lang="en-US"/>
              <a:t>Smart IDEs can generate this automatically</a:t>
            </a:r>
          </a:p>
        </p:txBody>
      </p:sp>
    </p:spTree>
    <p:extLst>
      <p:ext uri="{BB962C8B-B14F-4D97-AF65-F5344CB8AC3E}">
        <p14:creationId xmlns:p14="http://schemas.microsoft.com/office/powerpoint/2010/main" val="1895307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9A0B4-68EB-02C5-0E35-354EE2C14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0BDD2-310C-AFB3-F1E4-15ACC05918C1}"/>
              </a:ext>
            </a:extLst>
          </p:cNvPr>
          <p:cNvSpPr>
            <a:spLocks noGrp="1"/>
          </p:cNvSpPr>
          <p:nvPr>
            <p:ph type="title"/>
          </p:nvPr>
        </p:nvSpPr>
        <p:spPr>
          <a:xfrm>
            <a:off x="370799" y="273844"/>
            <a:ext cx="8521991" cy="994172"/>
          </a:xfrm>
        </p:spPr>
        <p:txBody>
          <a:bodyPr/>
          <a:lstStyle/>
          <a:p>
            <a:r>
              <a:rPr lang="en-GB">
                <a:latin typeface="Arial Black"/>
              </a:rPr>
              <a:t>Task 2: Create a system context diagram</a:t>
            </a:r>
            <a:endParaRPr lang="en-US"/>
          </a:p>
        </p:txBody>
      </p:sp>
      <p:sp>
        <p:nvSpPr>
          <p:cNvPr id="6" name="Content Placeholder 2">
            <a:extLst>
              <a:ext uri="{FF2B5EF4-FFF2-40B4-BE49-F238E27FC236}">
                <a16:creationId xmlns:a16="http://schemas.microsoft.com/office/drawing/2014/main" id="{74112859-581E-AEC9-D55C-A7515FF4C468}"/>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Visit the C4 website for more info: </a:t>
            </a:r>
            <a:r>
              <a:rPr lang="en-US">
                <a:hlinkClick r:id="rId3"/>
              </a:rPr>
              <a:t>https://c4model.com/introduction</a:t>
            </a:r>
            <a:endParaRPr lang="en-US"/>
          </a:p>
          <a:p>
            <a:r>
              <a:rPr lang="en-US"/>
              <a:t>As a team, create a system context diagram</a:t>
            </a:r>
          </a:p>
          <a:p>
            <a:r>
              <a:rPr lang="en-US"/>
              <a:t>Keep it high level!</a:t>
            </a:r>
          </a:p>
          <a:p>
            <a:r>
              <a:rPr lang="en-US"/>
              <a:t>Take a picture of it afterwards so your don’t lose it!</a:t>
            </a:r>
          </a:p>
          <a:p>
            <a:r>
              <a:rPr lang="en-US"/>
              <a:t>~10-15 Minutes</a:t>
            </a:r>
          </a:p>
        </p:txBody>
      </p:sp>
    </p:spTree>
    <p:extLst>
      <p:ext uri="{BB962C8B-B14F-4D97-AF65-F5344CB8AC3E}">
        <p14:creationId xmlns:p14="http://schemas.microsoft.com/office/powerpoint/2010/main" val="1427335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53F2-FF70-6047-89C9-1334562B16B9}"/>
              </a:ext>
            </a:extLst>
          </p:cNvPr>
          <p:cNvSpPr>
            <a:spLocks noGrp="1"/>
          </p:cNvSpPr>
          <p:nvPr>
            <p:ph type="title"/>
          </p:nvPr>
        </p:nvSpPr>
        <p:spPr>
          <a:xfrm>
            <a:off x="2189732" y="2074664"/>
            <a:ext cx="4764536" cy="994172"/>
          </a:xfrm>
        </p:spPr>
        <p:txBody>
          <a:bodyPr/>
          <a:lstStyle/>
          <a:p>
            <a:pPr algn="ctr"/>
            <a:r>
              <a:rPr lang="en-US"/>
              <a:t>Dynamic Design Models</a:t>
            </a:r>
          </a:p>
        </p:txBody>
      </p:sp>
    </p:spTree>
    <p:extLst>
      <p:ext uri="{BB962C8B-B14F-4D97-AF65-F5344CB8AC3E}">
        <p14:creationId xmlns:p14="http://schemas.microsoft.com/office/powerpoint/2010/main" val="3490623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A9252-76BF-D9DA-B855-ED8B518E63B8}"/>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942C52D5-810A-BB85-390E-8D1973AAC1EB}"/>
              </a:ext>
            </a:extLst>
          </p:cNvPr>
          <p:cNvSpPr>
            <a:spLocks noGrp="1"/>
          </p:cNvSpPr>
          <p:nvPr>
            <p:ph type="title"/>
          </p:nvPr>
        </p:nvSpPr>
        <p:spPr>
          <a:xfrm>
            <a:off x="286660" y="107567"/>
            <a:ext cx="5913174" cy="857250"/>
          </a:xfrm>
        </p:spPr>
        <p:txBody>
          <a:bodyPr>
            <a:normAutofit/>
          </a:bodyPr>
          <a:lstStyle/>
          <a:p>
            <a:r>
              <a:rPr lang="en-US" dirty="0"/>
              <a:t>Activity Diagrams</a:t>
            </a:r>
          </a:p>
        </p:txBody>
      </p:sp>
      <p:pic>
        <p:nvPicPr>
          <p:cNvPr id="1026" name="Picture 2">
            <a:extLst>
              <a:ext uri="{FF2B5EF4-FFF2-40B4-BE49-F238E27FC236}">
                <a16:creationId xmlns:a16="http://schemas.microsoft.com/office/drawing/2014/main" id="{8DC955FC-E56A-B1DA-FC1D-813C5CC81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476" y="330740"/>
            <a:ext cx="4090583" cy="4609909"/>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8D6A0FAA-D8EA-CABA-8072-3D4996F9C7ED}"/>
              </a:ext>
            </a:extLst>
          </p:cNvPr>
          <p:cNvSpPr txBox="1">
            <a:spLocks/>
          </p:cNvSpPr>
          <p:nvPr/>
        </p:nvSpPr>
        <p:spPr>
          <a:xfrm>
            <a:off x="370800" y="1050588"/>
            <a:ext cx="3630511" cy="328146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Defines an application workflow from start to finish including:</a:t>
            </a:r>
          </a:p>
          <a:p>
            <a:pPr lvl="1"/>
            <a:r>
              <a:rPr lang="en-US" dirty="0"/>
              <a:t>Starting and terminating points</a:t>
            </a:r>
          </a:p>
          <a:p>
            <a:pPr lvl="1"/>
            <a:r>
              <a:rPr lang="en-US" dirty="0"/>
              <a:t>Actions</a:t>
            </a:r>
          </a:p>
          <a:p>
            <a:pPr lvl="1"/>
            <a:r>
              <a:rPr lang="en-US" dirty="0"/>
              <a:t>Relations</a:t>
            </a:r>
          </a:p>
          <a:p>
            <a:pPr lvl="1"/>
            <a:r>
              <a:rPr lang="en-US" dirty="0"/>
              <a:t>Branches</a:t>
            </a:r>
          </a:p>
          <a:p>
            <a:pPr lvl="1"/>
            <a:r>
              <a:rPr lang="en-US" dirty="0" err="1"/>
              <a:t>Swimlanes</a:t>
            </a:r>
            <a:endParaRPr lang="en-US" dirty="0"/>
          </a:p>
          <a:p>
            <a:endParaRPr lang="en-US" dirty="0"/>
          </a:p>
        </p:txBody>
      </p:sp>
    </p:spTree>
    <p:extLst>
      <p:ext uri="{BB962C8B-B14F-4D97-AF65-F5344CB8AC3E}">
        <p14:creationId xmlns:p14="http://schemas.microsoft.com/office/powerpoint/2010/main" val="1388354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847377" y="1326190"/>
            <a:ext cx="4810722" cy="3474410"/>
          </a:xfrm>
          <a:prstGeom prst="rect">
            <a:avLst/>
          </a:prstGeom>
        </p:spPr>
      </p:pic>
      <p:cxnSp>
        <p:nvCxnSpPr>
          <p:cNvPr id="9" name="Straight Arrow Connector 8"/>
          <p:cNvCxnSpPr>
            <a:cxnSpLocks/>
            <a:stCxn id="11" idx="2"/>
          </p:cNvCxnSpPr>
          <p:nvPr/>
        </p:nvCxnSpPr>
        <p:spPr>
          <a:xfrm flipH="1">
            <a:off x="3947323" y="1103073"/>
            <a:ext cx="715558" cy="45521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1" name="TextBox 10"/>
          <p:cNvSpPr txBox="1"/>
          <p:nvPr/>
        </p:nvSpPr>
        <p:spPr>
          <a:xfrm>
            <a:off x="3946178" y="823766"/>
            <a:ext cx="1433406" cy="279307"/>
          </a:xfrm>
          <a:prstGeom prst="rect">
            <a:avLst/>
          </a:prstGeom>
          <a:noFill/>
        </p:spPr>
        <p:txBody>
          <a:bodyPr wrap="none" rtlCol="0">
            <a:spAutoFit/>
          </a:bodyPr>
          <a:lstStyle/>
          <a:p>
            <a:r>
              <a:rPr lang="en-US" sz="1215"/>
              <a:t>Actor and Life line</a:t>
            </a:r>
          </a:p>
        </p:txBody>
      </p:sp>
      <p:cxnSp>
        <p:nvCxnSpPr>
          <p:cNvPr id="14" name="Straight Arrow Connector 13"/>
          <p:cNvCxnSpPr>
            <a:cxnSpLocks/>
            <a:stCxn id="15" idx="2"/>
          </p:cNvCxnSpPr>
          <p:nvPr/>
        </p:nvCxnSpPr>
        <p:spPr>
          <a:xfrm flipH="1">
            <a:off x="6878472" y="2513994"/>
            <a:ext cx="1357659" cy="3613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5" name="TextBox 14"/>
          <p:cNvSpPr txBox="1"/>
          <p:nvPr/>
        </p:nvSpPr>
        <p:spPr>
          <a:xfrm>
            <a:off x="7896935" y="2234687"/>
            <a:ext cx="678391" cy="279307"/>
          </a:xfrm>
          <a:prstGeom prst="rect">
            <a:avLst/>
          </a:prstGeom>
          <a:noFill/>
        </p:spPr>
        <p:txBody>
          <a:bodyPr wrap="none" rtlCol="0">
            <a:spAutoFit/>
          </a:bodyPr>
          <a:lstStyle/>
          <a:p>
            <a:r>
              <a:rPr lang="en-US" sz="1215"/>
              <a:t>Branch</a:t>
            </a:r>
          </a:p>
        </p:txBody>
      </p:sp>
      <p:cxnSp>
        <p:nvCxnSpPr>
          <p:cNvPr id="16" name="Straight Arrow Connector 15"/>
          <p:cNvCxnSpPr>
            <a:cxnSpLocks/>
            <a:stCxn id="17" idx="2"/>
          </p:cNvCxnSpPr>
          <p:nvPr/>
        </p:nvCxnSpPr>
        <p:spPr>
          <a:xfrm flipH="1">
            <a:off x="6878472" y="3564625"/>
            <a:ext cx="1395381" cy="49854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p:cNvSpPr txBox="1"/>
          <p:nvPr/>
        </p:nvSpPr>
        <p:spPr>
          <a:xfrm>
            <a:off x="8008395" y="3285318"/>
            <a:ext cx="530915" cy="279307"/>
          </a:xfrm>
          <a:prstGeom prst="rect">
            <a:avLst/>
          </a:prstGeom>
          <a:noFill/>
        </p:spPr>
        <p:txBody>
          <a:bodyPr wrap="none" rtlCol="0">
            <a:spAutoFit/>
          </a:bodyPr>
          <a:lstStyle/>
          <a:p>
            <a:r>
              <a:rPr lang="en-US" sz="1215"/>
              <a:t>Loop</a:t>
            </a:r>
          </a:p>
        </p:txBody>
      </p:sp>
      <p:cxnSp>
        <p:nvCxnSpPr>
          <p:cNvPr id="18" name="Straight Arrow Connector 17"/>
          <p:cNvCxnSpPr>
            <a:cxnSpLocks/>
            <a:stCxn id="19" idx="3"/>
          </p:cNvCxnSpPr>
          <p:nvPr/>
        </p:nvCxnSpPr>
        <p:spPr>
          <a:xfrm>
            <a:off x="2064918" y="2909329"/>
            <a:ext cx="1664590" cy="5697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9" name="TextBox 18"/>
          <p:cNvSpPr txBox="1"/>
          <p:nvPr/>
        </p:nvSpPr>
        <p:spPr>
          <a:xfrm>
            <a:off x="1247065" y="2676188"/>
            <a:ext cx="817853" cy="466281"/>
          </a:xfrm>
          <a:prstGeom prst="rect">
            <a:avLst/>
          </a:prstGeom>
          <a:noFill/>
        </p:spPr>
        <p:txBody>
          <a:bodyPr wrap="none" rtlCol="0">
            <a:spAutoFit/>
          </a:bodyPr>
          <a:lstStyle/>
          <a:p>
            <a:r>
              <a:rPr lang="en-US" sz="1215"/>
              <a:t>Synch </a:t>
            </a:r>
          </a:p>
          <a:p>
            <a:r>
              <a:rPr lang="en-US" sz="1215"/>
              <a:t>Message</a:t>
            </a:r>
          </a:p>
        </p:txBody>
      </p:sp>
      <p:sp>
        <p:nvSpPr>
          <p:cNvPr id="22" name="Title 21"/>
          <p:cNvSpPr>
            <a:spLocks noGrp="1"/>
          </p:cNvSpPr>
          <p:nvPr>
            <p:ph type="title"/>
          </p:nvPr>
        </p:nvSpPr>
        <p:spPr>
          <a:xfrm>
            <a:off x="286660" y="107567"/>
            <a:ext cx="5913174" cy="857250"/>
          </a:xfrm>
        </p:spPr>
        <p:txBody>
          <a:bodyPr>
            <a:normAutofit/>
          </a:bodyPr>
          <a:lstStyle/>
          <a:p>
            <a:r>
              <a:rPr lang="en-US"/>
              <a:t>Sequence Diagram Example</a:t>
            </a:r>
          </a:p>
        </p:txBody>
      </p:sp>
    </p:spTree>
    <p:extLst>
      <p:ext uri="{BB962C8B-B14F-4D97-AF65-F5344CB8AC3E}">
        <p14:creationId xmlns:p14="http://schemas.microsoft.com/office/powerpoint/2010/main" val="428271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7"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2BA6-2065-CE0D-CB8A-5229A228B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D7C20-D8FE-9AE8-4E69-5AF1317B5978}"/>
              </a:ext>
            </a:extLst>
          </p:cNvPr>
          <p:cNvSpPr>
            <a:spLocks noGrp="1"/>
          </p:cNvSpPr>
          <p:nvPr>
            <p:ph type="title"/>
          </p:nvPr>
        </p:nvSpPr>
        <p:spPr>
          <a:xfrm>
            <a:off x="370799" y="273844"/>
            <a:ext cx="8521991" cy="994172"/>
          </a:xfrm>
        </p:spPr>
        <p:txBody>
          <a:bodyPr/>
          <a:lstStyle/>
          <a:p>
            <a:r>
              <a:rPr lang="en-GB">
                <a:latin typeface="Arial Black"/>
              </a:rPr>
              <a:t>Task 3: Create a sequence diagram</a:t>
            </a:r>
            <a:endParaRPr lang="en-US"/>
          </a:p>
        </p:txBody>
      </p:sp>
      <p:sp>
        <p:nvSpPr>
          <p:cNvPr id="6" name="Content Placeholder 2">
            <a:extLst>
              <a:ext uri="{FF2B5EF4-FFF2-40B4-BE49-F238E27FC236}">
                <a16:creationId xmlns:a16="http://schemas.microsoft.com/office/drawing/2014/main" id="{8F99166C-F85D-C5B3-584D-A038998CE370}"/>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Come up with scenarios of use for your project.</a:t>
            </a:r>
          </a:p>
          <a:p>
            <a:r>
              <a:rPr lang="en-US" dirty="0"/>
              <a:t>Create a sequence diagram for each scenario</a:t>
            </a:r>
          </a:p>
          <a:p>
            <a:r>
              <a:rPr lang="en-US" dirty="0"/>
              <a:t>~10 Minutes</a:t>
            </a:r>
          </a:p>
          <a:p>
            <a:endParaRPr lang="en-US" dirty="0"/>
          </a:p>
        </p:txBody>
      </p:sp>
    </p:spTree>
    <p:extLst>
      <p:ext uri="{BB962C8B-B14F-4D97-AF65-F5344CB8AC3E}">
        <p14:creationId xmlns:p14="http://schemas.microsoft.com/office/powerpoint/2010/main" val="1454536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246B9-8774-C985-37AA-9A1776B95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8A532-764B-C0F5-33EC-C4BE73866052}"/>
              </a:ext>
            </a:extLst>
          </p:cNvPr>
          <p:cNvSpPr>
            <a:spLocks noGrp="1"/>
          </p:cNvSpPr>
          <p:nvPr>
            <p:ph type="title"/>
          </p:nvPr>
        </p:nvSpPr>
        <p:spPr>
          <a:xfrm>
            <a:off x="2151038" y="2074664"/>
            <a:ext cx="4841923" cy="994172"/>
          </a:xfrm>
        </p:spPr>
        <p:txBody>
          <a:bodyPr/>
          <a:lstStyle/>
          <a:p>
            <a:r>
              <a:rPr lang="en-US"/>
              <a:t>Choosing a Tech Stacks</a:t>
            </a:r>
          </a:p>
        </p:txBody>
      </p:sp>
    </p:spTree>
    <p:extLst>
      <p:ext uri="{BB962C8B-B14F-4D97-AF65-F5344CB8AC3E}">
        <p14:creationId xmlns:p14="http://schemas.microsoft.com/office/powerpoint/2010/main" val="3350976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6BE1-08D6-0F97-72B6-40995B963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17E39-14D0-F2F9-A04C-635ED6C91466}"/>
              </a:ext>
            </a:extLst>
          </p:cNvPr>
          <p:cNvSpPr>
            <a:spLocks noGrp="1"/>
          </p:cNvSpPr>
          <p:nvPr>
            <p:ph type="title"/>
          </p:nvPr>
        </p:nvSpPr>
        <p:spPr/>
        <p:txBody>
          <a:bodyPr/>
          <a:lstStyle/>
          <a:p>
            <a:r>
              <a:rPr lang="en-US"/>
              <a:t>Tech Stack Example 1:</a:t>
            </a:r>
            <a:br>
              <a:rPr lang="en-US"/>
            </a:br>
            <a:r>
              <a:rPr lang="en-US"/>
              <a:t>Web App</a:t>
            </a:r>
          </a:p>
        </p:txBody>
      </p:sp>
      <p:sp>
        <p:nvSpPr>
          <p:cNvPr id="3" name="Content Placeholder 2">
            <a:extLst>
              <a:ext uri="{FF2B5EF4-FFF2-40B4-BE49-F238E27FC236}">
                <a16:creationId xmlns:a16="http://schemas.microsoft.com/office/drawing/2014/main" id="{20504E3E-05ED-614B-21B0-A160E876A4BB}"/>
              </a:ext>
            </a:extLst>
          </p:cNvPr>
          <p:cNvSpPr>
            <a:spLocks noGrp="1"/>
          </p:cNvSpPr>
          <p:nvPr>
            <p:ph idx="1"/>
          </p:nvPr>
        </p:nvSpPr>
        <p:spPr>
          <a:xfrm>
            <a:off x="370800" y="1369219"/>
            <a:ext cx="7308340" cy="2888456"/>
          </a:xfrm>
        </p:spPr>
        <p:txBody>
          <a:bodyPr>
            <a:normAutofit fontScale="70000" lnSpcReduction="20000"/>
          </a:bodyPr>
          <a:lstStyle/>
          <a:p>
            <a:r>
              <a:rPr lang="en-GB" b="1"/>
              <a:t>Languages:</a:t>
            </a:r>
            <a:r>
              <a:rPr lang="en-GB"/>
              <a:t> JavaScript/TypeScript, HTML, CSS</a:t>
            </a:r>
          </a:p>
          <a:p>
            <a:r>
              <a:rPr lang="en-GB" b="1"/>
              <a:t>Back End:</a:t>
            </a:r>
            <a:r>
              <a:rPr lang="en-GB"/>
              <a:t> </a:t>
            </a:r>
            <a:r>
              <a:rPr lang="en-GB" u="sng">
                <a:hlinkClick r:id="rId2"/>
              </a:rPr>
              <a:t>Node.js</a:t>
            </a:r>
            <a:endParaRPr lang="en-GB"/>
          </a:p>
          <a:p>
            <a:r>
              <a:rPr lang="en-GB" b="1"/>
              <a:t>Databases:</a:t>
            </a:r>
            <a:r>
              <a:rPr lang="en-GB"/>
              <a:t> MySQL, PostgreSQL, MongoDB, and others</a:t>
            </a:r>
          </a:p>
          <a:p>
            <a:r>
              <a:rPr lang="en-GB" b="1"/>
              <a:t>Targeted Platform:</a:t>
            </a:r>
            <a:r>
              <a:rPr lang="en-GB"/>
              <a:t> Browser</a:t>
            </a:r>
          </a:p>
          <a:p>
            <a:r>
              <a:rPr lang="en-GB" b="1"/>
              <a:t>Example Project:</a:t>
            </a:r>
            <a:r>
              <a:rPr lang="en-GB"/>
              <a:t> </a:t>
            </a:r>
            <a:r>
              <a:rPr lang="en-GB" u="sng">
                <a:hlinkClick r:id="rId3"/>
              </a:rPr>
              <a:t>2023-RoboSim</a:t>
            </a:r>
            <a:endParaRPr lang="en-GB" u="sng"/>
          </a:p>
          <a:p>
            <a:r>
              <a:rPr lang="en-GB"/>
              <a:t>or</a:t>
            </a:r>
          </a:p>
          <a:p>
            <a:r>
              <a:rPr lang="en-GB" b="1"/>
              <a:t>Languages:</a:t>
            </a:r>
            <a:r>
              <a:rPr lang="en-GB"/>
              <a:t> Java, JavaScript, HTML, CSS</a:t>
            </a:r>
          </a:p>
          <a:p>
            <a:r>
              <a:rPr lang="en-GB" b="1"/>
              <a:t>Framework:</a:t>
            </a:r>
            <a:r>
              <a:rPr lang="en-GB"/>
              <a:t> </a:t>
            </a:r>
            <a:r>
              <a:rPr lang="en-GB" u="sng">
                <a:hlinkClick r:id="rId4"/>
              </a:rPr>
              <a:t>Spring Boot</a:t>
            </a:r>
            <a:r>
              <a:rPr lang="en-GB"/>
              <a:t> with </a:t>
            </a:r>
            <a:r>
              <a:rPr lang="en-GB" u="sng">
                <a:hlinkClick r:id="rId5"/>
              </a:rPr>
              <a:t>Thymeleaf</a:t>
            </a:r>
            <a:endParaRPr lang="en-GB"/>
          </a:p>
          <a:p>
            <a:r>
              <a:rPr lang="en-GB" b="1"/>
              <a:t>Databases:</a:t>
            </a:r>
            <a:r>
              <a:rPr lang="en-GB"/>
              <a:t> </a:t>
            </a:r>
            <a:r>
              <a:rPr lang="en-GB" u="sng">
                <a:hlinkClick r:id="rId6"/>
              </a:rPr>
              <a:t>Works with SQL or NoSQL databases</a:t>
            </a:r>
            <a:endParaRPr lang="en-GB"/>
          </a:p>
          <a:p>
            <a:r>
              <a:rPr lang="en-GB" b="1"/>
              <a:t>Targeted Platform:</a:t>
            </a:r>
            <a:r>
              <a:rPr lang="en-GB"/>
              <a:t> Browser</a:t>
            </a:r>
          </a:p>
          <a:p>
            <a:r>
              <a:rPr lang="en-GB" b="1"/>
              <a:t>Example Project:</a:t>
            </a:r>
            <a:r>
              <a:rPr lang="en-GB"/>
              <a:t> </a:t>
            </a:r>
            <a:r>
              <a:rPr lang="en-GB" u="sng">
                <a:hlinkClick r:id="rId7"/>
              </a:rPr>
              <a:t>2023-CityFarm</a:t>
            </a:r>
            <a:endParaRPr lang="en-GB"/>
          </a:p>
          <a:p>
            <a:pPr marL="342900" lvl="1" indent="0">
              <a:buNone/>
            </a:pPr>
            <a:endParaRPr lang="en-US"/>
          </a:p>
        </p:txBody>
      </p:sp>
    </p:spTree>
    <p:extLst>
      <p:ext uri="{BB962C8B-B14F-4D97-AF65-F5344CB8AC3E}">
        <p14:creationId xmlns:p14="http://schemas.microsoft.com/office/powerpoint/2010/main" val="66696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1449-F744-DD97-E400-64156C673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CEE15-A910-3CE7-6685-2DCBDEE0CC7E}"/>
              </a:ext>
            </a:extLst>
          </p:cNvPr>
          <p:cNvSpPr>
            <a:spLocks noGrp="1"/>
          </p:cNvSpPr>
          <p:nvPr>
            <p:ph type="title"/>
          </p:nvPr>
        </p:nvSpPr>
        <p:spPr/>
        <p:txBody>
          <a:bodyPr/>
          <a:lstStyle/>
          <a:p>
            <a:r>
              <a:rPr lang="en-US"/>
              <a:t>Tech Stack Example 1:</a:t>
            </a:r>
            <a:br>
              <a:rPr lang="en-US"/>
            </a:br>
            <a:r>
              <a:rPr lang="en-US"/>
              <a:t>Web App – </a:t>
            </a:r>
            <a:r>
              <a:rPr lang="en-US">
                <a:hlinkClick r:id="rId2"/>
              </a:rPr>
              <a:t>2024-RoboSim</a:t>
            </a:r>
            <a:endParaRPr lang="en-US"/>
          </a:p>
        </p:txBody>
      </p:sp>
      <p:pic>
        <p:nvPicPr>
          <p:cNvPr id="4098" name="Picture 2">
            <a:extLst>
              <a:ext uri="{FF2B5EF4-FFF2-40B4-BE49-F238E27FC236}">
                <a16:creationId xmlns:a16="http://schemas.microsoft.com/office/drawing/2014/main" id="{AE0C7219-C3D7-0732-B307-A70C6F0836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582" y="1268016"/>
            <a:ext cx="7096836" cy="3669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04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8641-F5B5-0C0C-8C04-152694584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A2C82-512E-DDFA-DC16-D2D911173691}"/>
              </a:ext>
            </a:extLst>
          </p:cNvPr>
          <p:cNvSpPr>
            <a:spLocks noGrp="1"/>
          </p:cNvSpPr>
          <p:nvPr>
            <p:ph type="title"/>
          </p:nvPr>
        </p:nvSpPr>
        <p:spPr/>
        <p:txBody>
          <a:bodyPr/>
          <a:lstStyle/>
          <a:p>
            <a:r>
              <a:rPr lang="en-US"/>
              <a:t>Tech Stack Example 2:</a:t>
            </a:r>
            <a:br>
              <a:rPr lang="en-US"/>
            </a:br>
            <a:r>
              <a:rPr lang="en-GB"/>
              <a:t>Cross-Platform / Mobile Applications</a:t>
            </a:r>
            <a:endParaRPr lang="en-US"/>
          </a:p>
        </p:txBody>
      </p:sp>
      <p:sp>
        <p:nvSpPr>
          <p:cNvPr id="3" name="Content Placeholder 2">
            <a:extLst>
              <a:ext uri="{FF2B5EF4-FFF2-40B4-BE49-F238E27FC236}">
                <a16:creationId xmlns:a16="http://schemas.microsoft.com/office/drawing/2014/main" id="{BAFCBF98-128E-9AC1-9B67-8FF3A3FA4C9B}"/>
              </a:ext>
            </a:extLst>
          </p:cNvPr>
          <p:cNvSpPr>
            <a:spLocks noGrp="1"/>
          </p:cNvSpPr>
          <p:nvPr>
            <p:ph idx="1"/>
          </p:nvPr>
        </p:nvSpPr>
        <p:spPr>
          <a:xfrm>
            <a:off x="370800" y="1369219"/>
            <a:ext cx="7308340" cy="2888456"/>
          </a:xfrm>
        </p:spPr>
        <p:txBody>
          <a:bodyPr>
            <a:normAutofit/>
          </a:bodyPr>
          <a:lstStyle/>
          <a:p>
            <a:r>
              <a:rPr lang="en-GB" b="1"/>
              <a:t>Languages:</a:t>
            </a:r>
            <a:r>
              <a:rPr lang="en-GB"/>
              <a:t> </a:t>
            </a:r>
            <a:r>
              <a:rPr lang="en-GB" u="sng">
                <a:hlinkClick r:id="rId2"/>
              </a:rPr>
              <a:t>Dart</a:t>
            </a:r>
            <a:endParaRPr lang="en-GB"/>
          </a:p>
          <a:p>
            <a:r>
              <a:rPr lang="en-GB" b="1"/>
              <a:t>Framework:</a:t>
            </a:r>
            <a:r>
              <a:rPr lang="en-GB"/>
              <a:t> </a:t>
            </a:r>
            <a:r>
              <a:rPr lang="en-GB" u="sng">
                <a:hlinkClick r:id="rId3"/>
              </a:rPr>
              <a:t>Flutter</a:t>
            </a:r>
            <a:endParaRPr lang="en-GB"/>
          </a:p>
          <a:p>
            <a:r>
              <a:rPr lang="en-GB" b="1"/>
              <a:t>Databases:</a:t>
            </a:r>
            <a:r>
              <a:rPr lang="en-GB"/>
              <a:t> </a:t>
            </a:r>
            <a:r>
              <a:rPr lang="en-GB" u="sng">
                <a:hlinkClick r:id="rId4"/>
              </a:rPr>
              <a:t>PostgreSQL</a:t>
            </a:r>
            <a:endParaRPr lang="en-GB"/>
          </a:p>
          <a:p>
            <a:r>
              <a:rPr lang="en-GB" b="1"/>
              <a:t>Example Project:</a:t>
            </a:r>
            <a:r>
              <a:rPr lang="en-GB"/>
              <a:t> </a:t>
            </a:r>
            <a:r>
              <a:rPr lang="en-GB" u="sng">
                <a:hlinkClick r:id="rId5"/>
              </a:rPr>
              <a:t>2023-MarineConservationApp</a:t>
            </a:r>
            <a:endParaRPr lang="en-US"/>
          </a:p>
        </p:txBody>
      </p:sp>
    </p:spTree>
    <p:extLst>
      <p:ext uri="{BB962C8B-B14F-4D97-AF65-F5344CB8AC3E}">
        <p14:creationId xmlns:p14="http://schemas.microsoft.com/office/powerpoint/2010/main" val="3232854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7BC65-73EF-429B-F745-63C143B58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3654B-AD52-869F-E21A-8CF22FDCE367}"/>
              </a:ext>
            </a:extLst>
          </p:cNvPr>
          <p:cNvSpPr>
            <a:spLocks noGrp="1"/>
          </p:cNvSpPr>
          <p:nvPr>
            <p:ph type="title"/>
          </p:nvPr>
        </p:nvSpPr>
        <p:spPr/>
        <p:txBody>
          <a:bodyPr/>
          <a:lstStyle/>
          <a:p>
            <a:r>
              <a:rPr lang="en-US"/>
              <a:t>Tech Stack Example 2:</a:t>
            </a:r>
            <a:br>
              <a:rPr lang="en-US"/>
            </a:br>
            <a:r>
              <a:rPr lang="en-GB"/>
              <a:t>Cross-Platform / Mobile Applications</a:t>
            </a:r>
            <a:br>
              <a:rPr lang="en-GB"/>
            </a:br>
            <a:r>
              <a:rPr lang="en-GB">
                <a:hlinkClick r:id="rId2"/>
              </a:rPr>
              <a:t>2024-SprintCommunityTransport</a:t>
            </a:r>
            <a:endParaRPr lang="en-US"/>
          </a:p>
        </p:txBody>
      </p:sp>
      <p:pic>
        <p:nvPicPr>
          <p:cNvPr id="1026" name="Picture 2">
            <a:extLst>
              <a:ext uri="{FF2B5EF4-FFF2-40B4-BE49-F238E27FC236}">
                <a16:creationId xmlns:a16="http://schemas.microsoft.com/office/drawing/2014/main" id="{2D4D9CD1-7492-840E-DCCF-BD68B86B4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231" y="1375703"/>
            <a:ext cx="5321537" cy="3622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837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1E6D9-8B42-A056-8F22-3BB0AE4C5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A7397-4FF3-3AE9-3C2D-FA4BCA548316}"/>
              </a:ext>
            </a:extLst>
          </p:cNvPr>
          <p:cNvSpPr>
            <a:spLocks noGrp="1"/>
          </p:cNvSpPr>
          <p:nvPr>
            <p:ph type="title"/>
          </p:nvPr>
        </p:nvSpPr>
        <p:spPr/>
        <p:txBody>
          <a:bodyPr/>
          <a:lstStyle/>
          <a:p>
            <a:r>
              <a:rPr lang="en-US"/>
              <a:t>Tech Stack Example 2:</a:t>
            </a:r>
            <a:br>
              <a:rPr lang="en-US"/>
            </a:br>
            <a:r>
              <a:rPr lang="en-GB"/>
              <a:t>Cross-Platform / Mobile Applications</a:t>
            </a:r>
            <a:br>
              <a:rPr lang="en-GB"/>
            </a:br>
            <a:r>
              <a:rPr lang="en-GB">
                <a:hlinkClick r:id="rId2"/>
              </a:rPr>
              <a:t>2024-RailwayTrafficAnalysis</a:t>
            </a:r>
            <a:endParaRPr lang="en-US"/>
          </a:p>
        </p:txBody>
      </p:sp>
      <p:pic>
        <p:nvPicPr>
          <p:cNvPr id="2050" name="Picture 2">
            <a:extLst>
              <a:ext uri="{FF2B5EF4-FFF2-40B4-BE49-F238E27FC236}">
                <a16:creationId xmlns:a16="http://schemas.microsoft.com/office/drawing/2014/main" id="{D2EB1497-1DAE-C201-B736-52F65355A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787" y="1390847"/>
            <a:ext cx="6714426" cy="3597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973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96BA8-E253-33E3-4DF5-2F38F0E11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35229-D4F4-E047-52FD-0A2C4968727C}"/>
              </a:ext>
            </a:extLst>
          </p:cNvPr>
          <p:cNvSpPr>
            <a:spLocks noGrp="1"/>
          </p:cNvSpPr>
          <p:nvPr>
            <p:ph type="title"/>
          </p:nvPr>
        </p:nvSpPr>
        <p:spPr/>
        <p:txBody>
          <a:bodyPr/>
          <a:lstStyle/>
          <a:p>
            <a:r>
              <a:rPr lang="en-US"/>
              <a:t>Tech Stack Example 3:</a:t>
            </a:r>
            <a:br>
              <a:rPr lang="en-US"/>
            </a:br>
            <a:r>
              <a:rPr lang="en-GB"/>
              <a:t>Games &amp; 3D Environments</a:t>
            </a:r>
            <a:endParaRPr lang="en-US"/>
          </a:p>
        </p:txBody>
      </p:sp>
      <p:sp>
        <p:nvSpPr>
          <p:cNvPr id="3" name="Content Placeholder 2">
            <a:extLst>
              <a:ext uri="{FF2B5EF4-FFF2-40B4-BE49-F238E27FC236}">
                <a16:creationId xmlns:a16="http://schemas.microsoft.com/office/drawing/2014/main" id="{0C2FDA65-ABAE-16A1-0CA8-531766450A43}"/>
              </a:ext>
            </a:extLst>
          </p:cNvPr>
          <p:cNvSpPr>
            <a:spLocks noGrp="1"/>
          </p:cNvSpPr>
          <p:nvPr>
            <p:ph idx="1"/>
          </p:nvPr>
        </p:nvSpPr>
        <p:spPr>
          <a:xfrm>
            <a:off x="370800" y="1369219"/>
            <a:ext cx="7308340" cy="2888456"/>
          </a:xfrm>
        </p:spPr>
        <p:txBody>
          <a:bodyPr>
            <a:normAutofit fontScale="92500" lnSpcReduction="10000"/>
          </a:bodyPr>
          <a:lstStyle/>
          <a:p>
            <a:r>
              <a:rPr lang="en-GB" b="1"/>
              <a:t>Languages:</a:t>
            </a:r>
            <a:r>
              <a:rPr lang="en-GB"/>
              <a:t> C#</a:t>
            </a:r>
          </a:p>
          <a:p>
            <a:r>
              <a:rPr lang="en-GB" b="1"/>
              <a:t>Framework:</a:t>
            </a:r>
            <a:r>
              <a:rPr lang="en-GB"/>
              <a:t> </a:t>
            </a:r>
            <a:r>
              <a:rPr lang="en-GB" u="sng">
                <a:hlinkClick r:id="rId2"/>
              </a:rPr>
              <a:t>Unity</a:t>
            </a:r>
            <a:endParaRPr lang="en-GB"/>
          </a:p>
          <a:p>
            <a:r>
              <a:rPr lang="en-GB" b="1"/>
              <a:t>Databases:</a:t>
            </a:r>
            <a:r>
              <a:rPr lang="en-GB"/>
              <a:t> C# libraries can connect to a variety of SQL or no-SQL databases.</a:t>
            </a:r>
          </a:p>
          <a:p>
            <a:r>
              <a:rPr lang="en-GB" b="1"/>
              <a:t>Targeted Platforms:</a:t>
            </a:r>
            <a:r>
              <a:rPr lang="en-GB"/>
              <a:t> Windows, Linux, macOS, iOS, </a:t>
            </a:r>
            <a:r>
              <a:rPr lang="en-GB" err="1"/>
              <a:t>Andriod</a:t>
            </a:r>
            <a:r>
              <a:rPr lang="en-GB"/>
              <a:t> and others.</a:t>
            </a:r>
          </a:p>
          <a:p>
            <a:r>
              <a:rPr lang="en-GB" b="1"/>
              <a:t>Example Projects:</a:t>
            </a:r>
            <a:r>
              <a:rPr lang="en-GB"/>
              <a:t> </a:t>
            </a:r>
            <a:r>
              <a:rPr lang="en-GB" u="sng">
                <a:hlinkClick r:id="rId3"/>
              </a:rPr>
              <a:t>2023-Edutopia</a:t>
            </a:r>
            <a:r>
              <a:rPr lang="en-GB"/>
              <a:t> &amp; </a:t>
            </a:r>
            <a:r>
              <a:rPr lang="en-GB" u="sng">
                <a:hlinkClick r:id="rId4"/>
              </a:rPr>
              <a:t>2023-SkillsLearningGame</a:t>
            </a:r>
            <a:r>
              <a:rPr lang="en-GB"/>
              <a:t> (This has some interesting design documents in their 'docs' folders that you might want to take inspiration from.)</a:t>
            </a:r>
          </a:p>
          <a:p>
            <a:pPr marL="342900" lvl="1" indent="0">
              <a:buNone/>
            </a:pPr>
            <a:endParaRPr lang="en-US"/>
          </a:p>
        </p:txBody>
      </p:sp>
    </p:spTree>
    <p:extLst>
      <p:ext uri="{BB962C8B-B14F-4D97-AF65-F5344CB8AC3E}">
        <p14:creationId xmlns:p14="http://schemas.microsoft.com/office/powerpoint/2010/main" val="829321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E3232-DDDC-CB50-7385-98FED3700166}"/>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F9AFD27F-B8F5-852C-DC6A-7D62A3673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158" y="1268016"/>
            <a:ext cx="6805684" cy="378566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24337E-998A-DF66-72DA-436CCE9CA89C}"/>
              </a:ext>
            </a:extLst>
          </p:cNvPr>
          <p:cNvSpPr>
            <a:spLocks noGrp="1"/>
          </p:cNvSpPr>
          <p:nvPr>
            <p:ph type="title"/>
          </p:nvPr>
        </p:nvSpPr>
        <p:spPr>
          <a:xfrm>
            <a:off x="370800" y="273843"/>
            <a:ext cx="8402400" cy="1204664"/>
          </a:xfrm>
        </p:spPr>
        <p:txBody>
          <a:bodyPr/>
          <a:lstStyle/>
          <a:p>
            <a:r>
              <a:rPr lang="en-US"/>
              <a:t>Tech Stack Example 4:</a:t>
            </a:r>
            <a:br>
              <a:rPr lang="en-US"/>
            </a:br>
            <a:r>
              <a:rPr lang="en-GB"/>
              <a:t>Hardware Based Project</a:t>
            </a:r>
            <a:br>
              <a:rPr lang="en-GB"/>
            </a:br>
            <a:r>
              <a:rPr lang="en-GB">
                <a:hlinkClick r:id="rId3"/>
              </a:rPr>
              <a:t>2024-LitterRecognition2</a:t>
            </a:r>
            <a:endParaRPr lang="en-US"/>
          </a:p>
        </p:txBody>
      </p:sp>
    </p:spTree>
    <p:extLst>
      <p:ext uri="{BB962C8B-B14F-4D97-AF65-F5344CB8AC3E}">
        <p14:creationId xmlns:p14="http://schemas.microsoft.com/office/powerpoint/2010/main" val="3878073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83ED7-5EFF-938C-68D9-A3935EB40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15F8B-0E0F-29FD-B57D-8CB4E6DE4E8B}"/>
              </a:ext>
            </a:extLst>
          </p:cNvPr>
          <p:cNvSpPr>
            <a:spLocks noGrp="1"/>
          </p:cNvSpPr>
          <p:nvPr>
            <p:ph type="title"/>
          </p:nvPr>
        </p:nvSpPr>
        <p:spPr>
          <a:xfrm>
            <a:off x="370799" y="273844"/>
            <a:ext cx="8521991" cy="994172"/>
          </a:xfrm>
        </p:spPr>
        <p:txBody>
          <a:bodyPr/>
          <a:lstStyle/>
          <a:p>
            <a:r>
              <a:rPr lang="en-US" dirty="0"/>
              <a:t>Middleware</a:t>
            </a:r>
          </a:p>
        </p:txBody>
      </p:sp>
      <p:sp>
        <p:nvSpPr>
          <p:cNvPr id="6" name="Content Placeholder 2">
            <a:extLst>
              <a:ext uri="{FF2B5EF4-FFF2-40B4-BE49-F238E27FC236}">
                <a16:creationId xmlns:a16="http://schemas.microsoft.com/office/drawing/2014/main" id="{F8C2E149-AFA5-C5CD-40C2-93A67E091694}"/>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Software which connects different components or applications</a:t>
            </a:r>
          </a:p>
          <a:p>
            <a:r>
              <a:rPr lang="en-US" dirty="0"/>
              <a:t>Sits between applications and infrastructure to simplify the handling of services such as:</a:t>
            </a:r>
          </a:p>
          <a:p>
            <a:pPr lvl="1"/>
            <a:r>
              <a:rPr lang="en-US" dirty="0"/>
              <a:t>Databases – e.g. JDBC</a:t>
            </a:r>
          </a:p>
          <a:p>
            <a:pPr lvl="1"/>
            <a:r>
              <a:rPr lang="en-US" dirty="0"/>
              <a:t>API Management – e.g. Nginx</a:t>
            </a:r>
          </a:p>
          <a:p>
            <a:pPr lvl="1"/>
            <a:r>
              <a:rPr lang="en-US" dirty="0"/>
              <a:t>Message Passing - e.g. </a:t>
            </a:r>
            <a:r>
              <a:rPr lang="en-GB" dirty="0"/>
              <a:t>Kafka</a:t>
            </a:r>
            <a:endParaRPr lang="en-US" dirty="0"/>
          </a:p>
          <a:p>
            <a:r>
              <a:rPr lang="en-US" dirty="0"/>
              <a:t>Decouples components to </a:t>
            </a:r>
            <a:r>
              <a:rPr lang="en-US"/>
              <a:t>increase scalability</a:t>
            </a:r>
            <a:endParaRPr lang="en-US" dirty="0"/>
          </a:p>
        </p:txBody>
      </p:sp>
    </p:spTree>
    <p:extLst>
      <p:ext uri="{BB962C8B-B14F-4D97-AF65-F5344CB8AC3E}">
        <p14:creationId xmlns:p14="http://schemas.microsoft.com/office/powerpoint/2010/main" val="1244440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C2F9F-95F1-5C64-153F-473E0CB10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7DC88-73F8-71CF-68FC-EFC79A9E65DE}"/>
              </a:ext>
            </a:extLst>
          </p:cNvPr>
          <p:cNvSpPr>
            <a:spLocks noGrp="1"/>
          </p:cNvSpPr>
          <p:nvPr>
            <p:ph type="title"/>
          </p:nvPr>
        </p:nvSpPr>
        <p:spPr>
          <a:xfrm>
            <a:off x="370799" y="273844"/>
            <a:ext cx="8521991" cy="994172"/>
          </a:xfrm>
        </p:spPr>
        <p:txBody>
          <a:bodyPr/>
          <a:lstStyle/>
          <a:p>
            <a:r>
              <a:rPr lang="en-GB">
                <a:latin typeface="Arial Black"/>
              </a:rPr>
              <a:t>Tech Stacks are not Static!</a:t>
            </a:r>
            <a:endParaRPr lang="en-US"/>
          </a:p>
        </p:txBody>
      </p:sp>
      <p:sp>
        <p:nvSpPr>
          <p:cNvPr id="6" name="Content Placeholder 2">
            <a:extLst>
              <a:ext uri="{FF2B5EF4-FFF2-40B4-BE49-F238E27FC236}">
                <a16:creationId xmlns:a16="http://schemas.microsoft.com/office/drawing/2014/main" id="{916F46DE-C329-5C6F-25B0-7453CB697B5F}"/>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Tech Stacks can:</a:t>
            </a:r>
          </a:p>
          <a:p>
            <a:pPr lvl="1"/>
            <a:r>
              <a:rPr lang="en-US"/>
              <a:t>Change</a:t>
            </a:r>
          </a:p>
          <a:p>
            <a:pPr lvl="1"/>
            <a:r>
              <a:rPr lang="en-US"/>
              <a:t>Evolve</a:t>
            </a:r>
          </a:p>
          <a:p>
            <a:pPr lvl="1"/>
            <a:r>
              <a:rPr lang="en-US"/>
              <a:t>Mature</a:t>
            </a:r>
          </a:p>
          <a:p>
            <a:pPr lvl="1"/>
            <a:r>
              <a:rPr lang="en-US"/>
              <a:t>Be rewritten</a:t>
            </a:r>
          </a:p>
        </p:txBody>
      </p:sp>
    </p:spTree>
    <p:extLst>
      <p:ext uri="{BB962C8B-B14F-4D97-AF65-F5344CB8AC3E}">
        <p14:creationId xmlns:p14="http://schemas.microsoft.com/office/powerpoint/2010/main" val="1095322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37F41-5ED4-62EB-178B-57F28ACC83F0}"/>
              </a:ext>
            </a:extLst>
          </p:cNvPr>
          <p:cNvSpPr>
            <a:spLocks noGrp="1"/>
          </p:cNvSpPr>
          <p:nvPr>
            <p:ph type="title"/>
          </p:nvPr>
        </p:nvSpPr>
        <p:spPr/>
        <p:txBody>
          <a:bodyPr/>
          <a:lstStyle/>
          <a:p>
            <a:r>
              <a:rPr lang="en-US"/>
              <a:t>Task 3: Technology Choice Matrix</a:t>
            </a:r>
          </a:p>
        </p:txBody>
      </p:sp>
      <p:graphicFrame>
        <p:nvGraphicFramePr>
          <p:cNvPr id="5" name="Table 4">
            <a:extLst>
              <a:ext uri="{FF2B5EF4-FFF2-40B4-BE49-F238E27FC236}">
                <a16:creationId xmlns:a16="http://schemas.microsoft.com/office/drawing/2014/main" id="{F32B8484-715F-06AC-A675-AFD0A4713F28}"/>
              </a:ext>
            </a:extLst>
          </p:cNvPr>
          <p:cNvGraphicFramePr>
            <a:graphicFrameLocks noGrp="1"/>
          </p:cNvGraphicFramePr>
          <p:nvPr>
            <p:extLst>
              <p:ext uri="{D42A27DB-BD31-4B8C-83A1-F6EECF244321}">
                <p14:modId xmlns:p14="http://schemas.microsoft.com/office/powerpoint/2010/main" val="2396785438"/>
              </p:ext>
            </p:extLst>
          </p:nvPr>
        </p:nvGraphicFramePr>
        <p:xfrm>
          <a:off x="309349" y="1150621"/>
          <a:ext cx="8321063" cy="3456923"/>
        </p:xfrm>
        <a:graphic>
          <a:graphicData uri="http://schemas.openxmlformats.org/drawingml/2006/table">
            <a:tbl>
              <a:tblPr firstRow="1" firstCol="1">
                <a:tableStyleId>{5C22544A-7EE6-4342-B048-85BDC9FD1C3A}</a:tableStyleId>
              </a:tblPr>
              <a:tblGrid>
                <a:gridCol w="1402738">
                  <a:extLst>
                    <a:ext uri="{9D8B030D-6E8A-4147-A177-3AD203B41FA5}">
                      <a16:colId xmlns:a16="http://schemas.microsoft.com/office/drawing/2014/main" val="117756040"/>
                    </a:ext>
                  </a:extLst>
                </a:gridCol>
                <a:gridCol w="1383665">
                  <a:extLst>
                    <a:ext uri="{9D8B030D-6E8A-4147-A177-3AD203B41FA5}">
                      <a16:colId xmlns:a16="http://schemas.microsoft.com/office/drawing/2014/main" val="738562627"/>
                    </a:ext>
                  </a:extLst>
                </a:gridCol>
                <a:gridCol w="1383665">
                  <a:extLst>
                    <a:ext uri="{9D8B030D-6E8A-4147-A177-3AD203B41FA5}">
                      <a16:colId xmlns:a16="http://schemas.microsoft.com/office/drawing/2014/main" val="4270200866"/>
                    </a:ext>
                  </a:extLst>
                </a:gridCol>
                <a:gridCol w="1383665">
                  <a:extLst>
                    <a:ext uri="{9D8B030D-6E8A-4147-A177-3AD203B41FA5}">
                      <a16:colId xmlns:a16="http://schemas.microsoft.com/office/drawing/2014/main" val="1512455428"/>
                    </a:ext>
                  </a:extLst>
                </a:gridCol>
                <a:gridCol w="1383665">
                  <a:extLst>
                    <a:ext uri="{9D8B030D-6E8A-4147-A177-3AD203B41FA5}">
                      <a16:colId xmlns:a16="http://schemas.microsoft.com/office/drawing/2014/main" val="4024845523"/>
                    </a:ext>
                  </a:extLst>
                </a:gridCol>
                <a:gridCol w="1383665">
                  <a:extLst>
                    <a:ext uri="{9D8B030D-6E8A-4147-A177-3AD203B41FA5}">
                      <a16:colId xmlns:a16="http://schemas.microsoft.com/office/drawing/2014/main" val="2723645728"/>
                    </a:ext>
                  </a:extLst>
                </a:gridCol>
              </a:tblGrid>
              <a:tr h="2188178">
                <a:tc>
                  <a:txBody>
                    <a:bodyPr/>
                    <a:lstStyle/>
                    <a:p>
                      <a:pPr>
                        <a:lnSpc>
                          <a:spcPct val="115000"/>
                        </a:lnSpc>
                      </a:pPr>
                      <a:r>
                        <a:rPr lang="en-US" sz="1400" err="1">
                          <a:effectLst/>
                        </a:rPr>
                        <a:t>Te</a:t>
                      </a:r>
                      <a:r>
                        <a:rPr lang="en-GB" sz="1400" err="1">
                          <a:effectLst/>
                        </a:rPr>
                        <a:t>ch</a:t>
                      </a:r>
                      <a:r>
                        <a:rPr lang="en-GB" sz="1400">
                          <a:effectLst/>
                        </a:rPr>
                        <a:t> Stack</a:t>
                      </a:r>
                    </a:p>
                    <a:p>
                      <a:pPr>
                        <a:lnSpc>
                          <a:spcPct val="115000"/>
                        </a:lnSpc>
                      </a:pPr>
                      <a:endParaRPr lang="en-GB" sz="1400">
                        <a:effectLst/>
                      </a:endParaRPr>
                    </a:p>
                    <a:p>
                      <a:pPr>
                        <a:lnSpc>
                          <a:spcPct val="115000"/>
                        </a:lnSpc>
                      </a:pPr>
                      <a:r>
                        <a:rPr lang="en-GB" sz="1100">
                          <a:effectLst/>
                        </a:rPr>
                        <a:t>Fill in the matrix with evidence.</a:t>
                      </a:r>
                      <a:br>
                        <a:rPr lang="en-GB" sz="1100">
                          <a:effectLst/>
                        </a:rPr>
                      </a:br>
                      <a:r>
                        <a:rPr lang="en-GB" sz="1100">
                          <a:effectLst/>
                        </a:rPr>
                        <a:t>Present to your client with advantages / disadvantages of each stack.</a:t>
                      </a:r>
                      <a:endParaRPr lang="en-GB" sz="1400">
                        <a:effectLst/>
                      </a:endParaRPr>
                    </a:p>
                  </a:txBody>
                  <a:tcPr marL="51435" marR="51435" marT="0" marB="0">
                    <a:solidFill>
                      <a:schemeClr val="tx2"/>
                    </a:solidFill>
                  </a:tcPr>
                </a:tc>
                <a:tc>
                  <a:txBody>
                    <a:bodyPr/>
                    <a:lstStyle/>
                    <a:p>
                      <a:pPr>
                        <a:lnSpc>
                          <a:spcPct val="115000"/>
                        </a:lnSpc>
                      </a:pPr>
                      <a:r>
                        <a:rPr lang="en-US" sz="1400">
                          <a:effectLst/>
                        </a:rPr>
                        <a:t>Description</a:t>
                      </a:r>
                    </a:p>
                    <a:p>
                      <a:pPr>
                        <a:lnSpc>
                          <a:spcPct val="115000"/>
                        </a:lnSpc>
                      </a:pPr>
                      <a:endParaRPr lang="en-US" sz="1400">
                        <a:effectLst/>
                        <a:latin typeface="Arial" panose="020B0604020202020204" pitchFamily="34" charset="0"/>
                        <a:ea typeface="Arial" panose="020B0604020202020204" pitchFamily="34" charset="0"/>
                      </a:endParaRPr>
                    </a:p>
                    <a:p>
                      <a:pPr>
                        <a:lnSpc>
                          <a:spcPct val="115000"/>
                        </a:lnSpc>
                      </a:pPr>
                      <a:r>
                        <a:rPr lang="en-US" sz="1100">
                          <a:effectLst/>
                          <a:latin typeface="Arial" panose="020B0604020202020204" pitchFamily="34" charset="0"/>
                          <a:ea typeface="Arial" panose="020B0604020202020204" pitchFamily="34" charset="0"/>
                        </a:rPr>
                        <a:t>Where deployed?</a:t>
                      </a:r>
                    </a:p>
                    <a:p>
                      <a:pPr>
                        <a:lnSpc>
                          <a:spcPct val="115000"/>
                        </a:lnSpc>
                      </a:pPr>
                      <a:r>
                        <a:rPr lang="en-US" sz="1100">
                          <a:effectLst/>
                          <a:latin typeface="Arial" panose="020B0604020202020204" pitchFamily="34" charset="0"/>
                          <a:ea typeface="Arial" panose="020B0604020202020204" pitchFamily="34" charset="0"/>
                        </a:rPr>
                        <a:t>Vendor? Open Source? Maturity? Popularity?</a:t>
                      </a: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US" sz="1400">
                          <a:effectLst/>
                        </a:rPr>
                        <a:t>Fit to </a:t>
                      </a:r>
                      <a:r>
                        <a:rPr lang="en-US" sz="1400" err="1">
                          <a:effectLst/>
                        </a:rPr>
                        <a:t>Projec</a:t>
                      </a:r>
                      <a:r>
                        <a:rPr lang="en-GB" sz="1400">
                          <a:effectLst/>
                        </a:rPr>
                        <a:t>t</a:t>
                      </a:r>
                    </a:p>
                    <a:p>
                      <a:pPr>
                        <a:lnSpc>
                          <a:spcPct val="115000"/>
                        </a:lnSpc>
                      </a:pPr>
                      <a:endParaRPr lang="en-GB" sz="1100">
                        <a:effectLst/>
                        <a:latin typeface="Arial" panose="020B0604020202020204" pitchFamily="34" charset="0"/>
                        <a:ea typeface="Arial" panose="020B0604020202020204" pitchFamily="34" charset="0"/>
                      </a:endParaRPr>
                    </a:p>
                    <a:p>
                      <a:pPr>
                        <a:lnSpc>
                          <a:spcPct val="115000"/>
                        </a:lnSpc>
                      </a:pPr>
                      <a:r>
                        <a:rPr lang="en-GB" sz="1100">
                          <a:effectLst/>
                          <a:latin typeface="Arial" panose="020B0604020202020204" pitchFamily="34" charset="0"/>
                          <a:ea typeface="Arial" panose="020B0604020202020204" pitchFamily="34" charset="0"/>
                        </a:rPr>
                        <a:t>What requirements drive this choice? </a:t>
                      </a:r>
                    </a:p>
                  </a:txBody>
                  <a:tcPr marL="51435" marR="51435" marT="0" marB="0">
                    <a:solidFill>
                      <a:schemeClr val="tx2"/>
                    </a:solidFill>
                  </a:tcPr>
                </a:tc>
                <a:tc>
                  <a:txBody>
                    <a:bodyPr/>
                    <a:lstStyle/>
                    <a:p>
                      <a:pPr>
                        <a:lnSpc>
                          <a:spcPct val="115000"/>
                        </a:lnSpc>
                      </a:pPr>
                      <a:r>
                        <a:rPr lang="en-US" sz="1400">
                          <a:effectLst/>
                        </a:rPr>
                        <a:t>Experience in Team</a:t>
                      </a:r>
                    </a:p>
                    <a:p>
                      <a:pPr>
                        <a:lnSpc>
                          <a:spcPct val="115000"/>
                        </a:lnSpc>
                      </a:pPr>
                      <a:endParaRPr lang="en-US" sz="140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lang="en-GB" sz="900">
                          <a:effectLst/>
                          <a:latin typeface="Arial" panose="020B0604020202020204" pitchFamily="34" charset="0"/>
                          <a:ea typeface="Arial" panose="020B0604020202020204" pitchFamily="34" charset="0"/>
                        </a:rPr>
                        <a:t>Have you worked with these technologies before? How high is the learning curve? Is there a champion who will support others? Where will you get help?</a:t>
                      </a:r>
                    </a:p>
                    <a:p>
                      <a:pPr>
                        <a:lnSpc>
                          <a:spcPct val="115000"/>
                        </a:lnSpc>
                      </a:pP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US" sz="1400">
                          <a:effectLst/>
                        </a:rPr>
                        <a:t>Maintenance</a:t>
                      </a:r>
                    </a:p>
                    <a:p>
                      <a:pPr>
                        <a:lnSpc>
                          <a:spcPct val="115000"/>
                        </a:lnSpc>
                      </a:pPr>
                      <a:endParaRPr lang="en-US" sz="140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lang="en-GB" sz="900">
                          <a:effectLst/>
                          <a:latin typeface="Arial" panose="020B0604020202020204" pitchFamily="34" charset="0"/>
                          <a:ea typeface="Arial" panose="020B0604020202020204" pitchFamily="34" charset="0"/>
                        </a:rPr>
                        <a:t>How will the client maintain the system built with these tech.?</a:t>
                      </a:r>
                    </a:p>
                    <a:p>
                      <a:pPr>
                        <a:lnSpc>
                          <a:spcPct val="115000"/>
                        </a:lnSpc>
                      </a:pP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US" sz="1400">
                          <a:effectLst/>
                        </a:rPr>
                        <a:t>Risks</a:t>
                      </a:r>
                    </a:p>
                    <a:p>
                      <a:pPr>
                        <a:lnSpc>
                          <a:spcPct val="115000"/>
                        </a:lnSpc>
                      </a:pPr>
                      <a:endParaRPr lang="en-US" sz="1400">
                        <a:effectLst/>
                        <a:latin typeface="Arial" panose="020B0604020202020204" pitchFamily="34" charset="0"/>
                        <a:ea typeface="Arial" panose="020B0604020202020204" pitchFamily="34" charset="0"/>
                      </a:endParaRPr>
                    </a:p>
                    <a:p>
                      <a:pPr>
                        <a:lnSpc>
                          <a:spcPct val="115000"/>
                        </a:lnSpc>
                      </a:pPr>
                      <a:r>
                        <a:rPr lang="en-US" sz="900">
                          <a:effectLst/>
                          <a:latin typeface="Arial" panose="020B0604020202020204" pitchFamily="34" charset="0"/>
                          <a:ea typeface="Arial" panose="020B0604020202020204" pitchFamily="34" charset="0"/>
                        </a:rPr>
                        <a:t>Cost? Security/ software updates? </a:t>
                      </a:r>
                    </a:p>
                    <a:p>
                      <a:pPr>
                        <a:lnSpc>
                          <a:spcPct val="115000"/>
                        </a:lnSpc>
                      </a:pPr>
                      <a:r>
                        <a:rPr lang="en-GB" sz="900">
                          <a:effectLst/>
                          <a:latin typeface="Arial" panose="020B0604020202020204" pitchFamily="34" charset="0"/>
                          <a:ea typeface="Arial" panose="020B0604020202020204" pitchFamily="34" charset="0"/>
                        </a:rPr>
                        <a:t>Will the technologies interact well?</a:t>
                      </a: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extLst>
                  <a:ext uri="{0D108BD9-81ED-4DB2-BD59-A6C34878D82A}">
                    <a16:rowId xmlns:a16="http://schemas.microsoft.com/office/drawing/2014/main" val="2969795225"/>
                  </a:ext>
                </a:extLst>
              </a:tr>
              <a:tr h="356419">
                <a:tc>
                  <a:txBody>
                    <a:bodyPr/>
                    <a:lstStyle/>
                    <a:p>
                      <a:pPr>
                        <a:lnSpc>
                          <a:spcPct val="115000"/>
                        </a:lnSpc>
                      </a:pPr>
                      <a:r>
                        <a:rPr lang="en-GB" sz="1400">
                          <a:effectLst/>
                        </a:rPr>
                        <a:t>A</a:t>
                      </a: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extLst>
                  <a:ext uri="{0D108BD9-81ED-4DB2-BD59-A6C34878D82A}">
                    <a16:rowId xmlns:a16="http://schemas.microsoft.com/office/drawing/2014/main" val="3701964250"/>
                  </a:ext>
                </a:extLst>
              </a:tr>
              <a:tr h="348832">
                <a:tc>
                  <a:txBody>
                    <a:bodyPr/>
                    <a:lstStyle/>
                    <a:p>
                      <a:pPr>
                        <a:lnSpc>
                          <a:spcPct val="115000"/>
                        </a:lnSpc>
                      </a:pPr>
                      <a:r>
                        <a:rPr lang="en-GB" sz="1400">
                          <a:effectLst/>
                        </a:rPr>
                        <a:t>B</a:t>
                      </a: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extLst>
                  <a:ext uri="{0D108BD9-81ED-4DB2-BD59-A6C34878D82A}">
                    <a16:rowId xmlns:a16="http://schemas.microsoft.com/office/drawing/2014/main" val="579842905"/>
                  </a:ext>
                </a:extLst>
              </a:tr>
              <a:tr h="529235">
                <a:tc>
                  <a:txBody>
                    <a:bodyPr/>
                    <a:lstStyle/>
                    <a:p>
                      <a:pPr>
                        <a:lnSpc>
                          <a:spcPct val="115000"/>
                        </a:lnSpc>
                      </a:pPr>
                      <a:r>
                        <a:rPr lang="en-GB" sz="1400">
                          <a:effectLst/>
                        </a:rPr>
                        <a:t>C</a:t>
                      </a:r>
                      <a:endParaRPr lang="en-GB" sz="1400">
                        <a:effectLst/>
                        <a:latin typeface="Arial" panose="020B0604020202020204" pitchFamily="34" charset="0"/>
                        <a:ea typeface="Arial" panose="020B0604020202020204" pitchFamily="34" charset="0"/>
                      </a:endParaRPr>
                    </a:p>
                  </a:txBody>
                  <a:tcPr marL="51435" marR="51435" marT="0" marB="0">
                    <a:solidFill>
                      <a:schemeClr val="tx2"/>
                    </a:solidFill>
                  </a:tcPr>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tc>
                  <a:txBody>
                    <a:bodyPr/>
                    <a:lstStyle/>
                    <a:p>
                      <a:pPr>
                        <a:lnSpc>
                          <a:spcPct val="115000"/>
                        </a:lnSpc>
                      </a:pPr>
                      <a:r>
                        <a:rPr lang="en-GB" sz="1400">
                          <a:effectLst/>
                        </a:rPr>
                        <a:t> </a:t>
                      </a:r>
                      <a:endParaRPr lang="en-GB" sz="1400">
                        <a:effectLst/>
                        <a:latin typeface="Arial" panose="020B0604020202020204" pitchFamily="34" charset="0"/>
                        <a:ea typeface="Arial" panose="020B0604020202020204" pitchFamily="34" charset="0"/>
                      </a:endParaRPr>
                    </a:p>
                  </a:txBody>
                  <a:tcPr marL="51435" marR="51435" marT="0" marB="0"/>
                </a:tc>
                <a:extLst>
                  <a:ext uri="{0D108BD9-81ED-4DB2-BD59-A6C34878D82A}">
                    <a16:rowId xmlns:a16="http://schemas.microsoft.com/office/drawing/2014/main" val="2288882492"/>
                  </a:ext>
                </a:extLst>
              </a:tr>
            </a:tbl>
          </a:graphicData>
        </a:graphic>
      </p:graphicFrame>
    </p:spTree>
    <p:extLst>
      <p:ext uri="{BB962C8B-B14F-4D97-AF65-F5344CB8AC3E}">
        <p14:creationId xmlns:p14="http://schemas.microsoft.com/office/powerpoint/2010/main" val="28774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9E539-9851-FC1B-1244-27171AB6A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10C63-1440-00C4-2B9B-69439567881F}"/>
              </a:ext>
            </a:extLst>
          </p:cNvPr>
          <p:cNvSpPr>
            <a:spLocks noGrp="1"/>
          </p:cNvSpPr>
          <p:nvPr>
            <p:ph type="title"/>
          </p:nvPr>
        </p:nvSpPr>
        <p:spPr>
          <a:xfrm>
            <a:off x="370799" y="273844"/>
            <a:ext cx="8521991" cy="994172"/>
          </a:xfrm>
        </p:spPr>
        <p:txBody>
          <a:bodyPr/>
          <a:lstStyle/>
          <a:p>
            <a:r>
              <a:rPr lang="en-GB">
                <a:latin typeface="Arial Black"/>
              </a:rPr>
              <a:t>Task 4: Create a Container Diagram</a:t>
            </a:r>
            <a:endParaRPr lang="en-US"/>
          </a:p>
        </p:txBody>
      </p:sp>
      <p:sp>
        <p:nvSpPr>
          <p:cNvPr id="6" name="Content Placeholder 2">
            <a:extLst>
              <a:ext uri="{FF2B5EF4-FFF2-40B4-BE49-F238E27FC236}">
                <a16:creationId xmlns:a16="http://schemas.microsoft.com/office/drawing/2014/main" id="{0F2CA86F-97DA-D18F-8E19-392C133AE5D6}"/>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Using the C4 model, zoom into one of you main components identified in tasks 1 &amp; 2 and create a container diagram with the tech stack which most likely to be used</a:t>
            </a:r>
          </a:p>
          <a:p>
            <a:r>
              <a:rPr lang="en-US"/>
              <a:t>20 Minutes?</a:t>
            </a:r>
          </a:p>
        </p:txBody>
      </p:sp>
    </p:spTree>
    <p:extLst>
      <p:ext uri="{BB962C8B-B14F-4D97-AF65-F5344CB8AC3E}">
        <p14:creationId xmlns:p14="http://schemas.microsoft.com/office/powerpoint/2010/main" val="851529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0905-BC56-6309-577E-7B2D753E3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D29CA-FC37-18C1-6C33-69E385630425}"/>
              </a:ext>
            </a:extLst>
          </p:cNvPr>
          <p:cNvSpPr>
            <a:spLocks noGrp="1"/>
          </p:cNvSpPr>
          <p:nvPr>
            <p:ph type="title"/>
          </p:nvPr>
        </p:nvSpPr>
        <p:spPr>
          <a:xfrm>
            <a:off x="370799" y="273844"/>
            <a:ext cx="8521991" cy="994172"/>
          </a:xfrm>
        </p:spPr>
        <p:txBody>
          <a:bodyPr/>
          <a:lstStyle/>
          <a:p>
            <a:r>
              <a:rPr lang="en-GB" dirty="0">
                <a:latin typeface="Arial Black"/>
              </a:rPr>
              <a:t>How to organise your team</a:t>
            </a:r>
            <a:endParaRPr lang="en-US" dirty="0"/>
          </a:p>
        </p:txBody>
      </p:sp>
      <p:sp>
        <p:nvSpPr>
          <p:cNvPr id="6" name="Content Placeholder 2">
            <a:extLst>
              <a:ext uri="{FF2B5EF4-FFF2-40B4-BE49-F238E27FC236}">
                <a16:creationId xmlns:a16="http://schemas.microsoft.com/office/drawing/2014/main" id="{B72040CC-B5C7-B7EA-E5A6-F2FD1D4BB883}"/>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We DON’T recommend splitting up into a </a:t>
            </a:r>
            <a:r>
              <a:rPr lang="en-US" dirty="0" err="1"/>
              <a:t>FrontEnd</a:t>
            </a:r>
            <a:r>
              <a:rPr lang="en-US" dirty="0"/>
              <a:t> and </a:t>
            </a:r>
            <a:r>
              <a:rPr lang="en-US" dirty="0" err="1"/>
              <a:t>BackEnd</a:t>
            </a:r>
            <a:r>
              <a:rPr lang="en-US" dirty="0"/>
              <a:t> team, or similar</a:t>
            </a:r>
            <a:br>
              <a:rPr lang="en-US" dirty="0"/>
            </a:br>
            <a:endParaRPr lang="en-US" dirty="0"/>
          </a:p>
          <a:p>
            <a:r>
              <a:rPr lang="en-US" dirty="0"/>
              <a:t>While it’s good to start out with specific tasks and roles, having static sub-teams is bad for SEP</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292114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9F62-7685-B785-2CB9-5E19BFDFD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8129D-F4A5-1BA1-AEA5-D5CB4FBB2877}"/>
              </a:ext>
            </a:extLst>
          </p:cNvPr>
          <p:cNvSpPr>
            <a:spLocks noGrp="1"/>
          </p:cNvSpPr>
          <p:nvPr>
            <p:ph type="title"/>
          </p:nvPr>
        </p:nvSpPr>
        <p:spPr>
          <a:xfrm>
            <a:off x="370799" y="273844"/>
            <a:ext cx="8521991" cy="994172"/>
          </a:xfrm>
        </p:spPr>
        <p:txBody>
          <a:bodyPr/>
          <a:lstStyle/>
          <a:p>
            <a:r>
              <a:rPr lang="en-GB" dirty="0">
                <a:latin typeface="Arial Black"/>
              </a:rPr>
              <a:t>How to organise your team</a:t>
            </a:r>
            <a:endParaRPr lang="en-US" dirty="0"/>
          </a:p>
        </p:txBody>
      </p:sp>
      <p:sp>
        <p:nvSpPr>
          <p:cNvPr id="6" name="Content Placeholder 2">
            <a:extLst>
              <a:ext uri="{FF2B5EF4-FFF2-40B4-BE49-F238E27FC236}">
                <a16:creationId xmlns:a16="http://schemas.microsoft.com/office/drawing/2014/main" id="{C54D8FEC-0881-48F6-A932-81001B8D8A20}"/>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b="1" dirty="0"/>
              <a:t>You will all need to review each others' code </a:t>
            </a:r>
            <a:r>
              <a:rPr lang="en-GB" dirty="0"/>
              <a:t>-</a:t>
            </a:r>
            <a:r>
              <a:rPr lang="en-GB" b="1" dirty="0"/>
              <a:t> </a:t>
            </a:r>
            <a:r>
              <a:rPr lang="en-GB" dirty="0"/>
              <a:t>separation makes this much harder.</a:t>
            </a:r>
          </a:p>
          <a:p>
            <a:r>
              <a:rPr lang="en-GB" b="1" dirty="0"/>
              <a:t>You will be completing work at a different pace</a:t>
            </a:r>
            <a:r>
              <a:rPr lang="en-GB" dirty="0"/>
              <a:t> – leading to mismatched bursts</a:t>
            </a:r>
          </a:p>
          <a:p>
            <a:r>
              <a:rPr lang="en-GB" b="1" dirty="0"/>
              <a:t>You will need to be integrating the work at some point</a:t>
            </a:r>
          </a:p>
          <a:p>
            <a:r>
              <a:rPr lang="en-GB" b="1" dirty="0"/>
              <a:t>Resilience: </a:t>
            </a:r>
            <a:r>
              <a:rPr lang="en-GB" dirty="0"/>
              <a:t>If a team member leaves, your project shouldn’t break</a:t>
            </a:r>
          </a:p>
          <a:p>
            <a:r>
              <a:rPr lang="en-GB" b="1" dirty="0"/>
              <a:t>Flexibility is better for your goals – </a:t>
            </a:r>
            <a:r>
              <a:rPr lang="en-GB" dirty="0"/>
              <a:t>in SEP and elsewhere</a:t>
            </a:r>
            <a:endParaRPr lang="en-US" dirty="0"/>
          </a:p>
          <a:p>
            <a:endParaRPr lang="en-US" dirty="0"/>
          </a:p>
          <a:p>
            <a:endParaRPr lang="en-US" dirty="0"/>
          </a:p>
        </p:txBody>
      </p:sp>
    </p:spTree>
    <p:extLst>
      <p:ext uri="{BB962C8B-B14F-4D97-AF65-F5344CB8AC3E}">
        <p14:creationId xmlns:p14="http://schemas.microsoft.com/office/powerpoint/2010/main" val="1038516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B3A2C-E9E5-C7CB-1155-B514AE46F56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368DED-CDEF-1D0D-5E19-97FBB7D1D095}"/>
              </a:ext>
            </a:extLst>
          </p:cNvPr>
          <p:cNvPicPr>
            <a:picLocks noChangeAspect="1"/>
          </p:cNvPicPr>
          <p:nvPr/>
        </p:nvPicPr>
        <p:blipFill>
          <a:blip r:embed="rId3"/>
          <a:stretch>
            <a:fillRect/>
          </a:stretch>
        </p:blipFill>
        <p:spPr>
          <a:xfrm>
            <a:off x="1995416" y="0"/>
            <a:ext cx="5153168" cy="5143500"/>
          </a:xfrm>
          <a:prstGeom prst="rect">
            <a:avLst/>
          </a:prstGeom>
        </p:spPr>
      </p:pic>
    </p:spTree>
    <p:extLst>
      <p:ext uri="{BB962C8B-B14F-4D97-AF65-F5344CB8AC3E}">
        <p14:creationId xmlns:p14="http://schemas.microsoft.com/office/powerpoint/2010/main" val="271784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17DB-B80D-D537-601F-F17BABAAA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E4837-EA34-C83F-4CB6-218D176B9796}"/>
              </a:ext>
            </a:extLst>
          </p:cNvPr>
          <p:cNvSpPr>
            <a:spLocks noGrp="1"/>
          </p:cNvSpPr>
          <p:nvPr>
            <p:ph type="title"/>
          </p:nvPr>
        </p:nvSpPr>
        <p:spPr>
          <a:xfrm>
            <a:off x="370799" y="273844"/>
            <a:ext cx="8521991" cy="994172"/>
          </a:xfrm>
        </p:spPr>
        <p:txBody>
          <a:bodyPr/>
          <a:lstStyle/>
          <a:p>
            <a:r>
              <a:rPr lang="en-GB" dirty="0">
                <a:latin typeface="Arial Black"/>
              </a:rPr>
              <a:t>How to organise your team</a:t>
            </a:r>
            <a:endParaRPr lang="en-US" dirty="0"/>
          </a:p>
        </p:txBody>
      </p:sp>
      <p:sp>
        <p:nvSpPr>
          <p:cNvPr id="6" name="Content Placeholder 2">
            <a:extLst>
              <a:ext uri="{FF2B5EF4-FFF2-40B4-BE49-F238E27FC236}">
                <a16:creationId xmlns:a16="http://schemas.microsoft.com/office/drawing/2014/main" id="{A9E9100F-8C65-7331-CCD3-7FF4C7E21B95}"/>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b="1" dirty="0"/>
              <a:t>DO NOT </a:t>
            </a:r>
            <a:r>
              <a:rPr lang="en-US" dirty="0" err="1"/>
              <a:t>organise</a:t>
            </a:r>
            <a:r>
              <a:rPr lang="en-US" dirty="0"/>
              <a:t> sub-teams around nationality/language!</a:t>
            </a:r>
            <a:br>
              <a:rPr lang="en-US" dirty="0"/>
            </a:br>
            <a:endParaRPr lang="en-US" dirty="0"/>
          </a:p>
          <a:p>
            <a:r>
              <a:rPr lang="en-US" dirty="0"/>
              <a:t>You are at an international University, preparing for careers with international companies – employers will expect you to be able to work with people from different backgrounds/nationalities/languages</a:t>
            </a:r>
            <a:br>
              <a:rPr lang="en-US" dirty="0"/>
            </a:br>
            <a:endParaRPr lang="en-US" dirty="0"/>
          </a:p>
          <a:p>
            <a:r>
              <a:rPr lang="en-US" b="1" dirty="0"/>
              <a:t>Rotating roles is a marks magnet</a:t>
            </a:r>
            <a:r>
              <a:rPr lang="en-US" dirty="0"/>
              <a:t>!</a:t>
            </a:r>
          </a:p>
          <a:p>
            <a:endParaRPr lang="en-US" dirty="0"/>
          </a:p>
        </p:txBody>
      </p:sp>
    </p:spTree>
    <p:extLst>
      <p:ext uri="{BB962C8B-B14F-4D97-AF65-F5344CB8AC3E}">
        <p14:creationId xmlns:p14="http://schemas.microsoft.com/office/powerpoint/2010/main" val="31545853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4B8A-FAC8-B097-2D3B-6CD834A49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FFB52-E2D5-6680-33FB-617040902C42}"/>
              </a:ext>
            </a:extLst>
          </p:cNvPr>
          <p:cNvSpPr>
            <a:spLocks noGrp="1"/>
          </p:cNvSpPr>
          <p:nvPr>
            <p:ph type="title"/>
          </p:nvPr>
        </p:nvSpPr>
        <p:spPr>
          <a:xfrm>
            <a:off x="2151038" y="2074664"/>
            <a:ext cx="4841923" cy="994172"/>
          </a:xfrm>
        </p:spPr>
        <p:txBody>
          <a:bodyPr/>
          <a:lstStyle/>
          <a:p>
            <a:r>
              <a:rPr lang="en-US"/>
              <a:t>Open Source &amp; Licenses </a:t>
            </a:r>
          </a:p>
        </p:txBody>
      </p:sp>
    </p:spTree>
    <p:extLst>
      <p:ext uri="{BB962C8B-B14F-4D97-AF65-F5344CB8AC3E}">
        <p14:creationId xmlns:p14="http://schemas.microsoft.com/office/powerpoint/2010/main" val="1283241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0085-83B2-5EB0-7543-EC23221EA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D60D8-0523-45FD-B73E-F1F6F302DA5F}"/>
              </a:ext>
            </a:extLst>
          </p:cNvPr>
          <p:cNvSpPr>
            <a:spLocks noGrp="1"/>
          </p:cNvSpPr>
          <p:nvPr>
            <p:ph type="title"/>
          </p:nvPr>
        </p:nvSpPr>
        <p:spPr/>
        <p:txBody>
          <a:bodyPr/>
          <a:lstStyle/>
          <a:p>
            <a:r>
              <a:rPr lang="en-US"/>
              <a:t>Software Licenses</a:t>
            </a:r>
          </a:p>
        </p:txBody>
      </p:sp>
      <p:sp>
        <p:nvSpPr>
          <p:cNvPr id="6" name="Content Placeholder 2">
            <a:extLst>
              <a:ext uri="{FF2B5EF4-FFF2-40B4-BE49-F238E27FC236}">
                <a16:creationId xmlns:a16="http://schemas.microsoft.com/office/drawing/2014/main" id="{81881628-468D-77C0-7486-5067D382E503}"/>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p>
        </p:txBody>
      </p:sp>
      <p:sp>
        <p:nvSpPr>
          <p:cNvPr id="3" name="Content Placeholder 2">
            <a:extLst>
              <a:ext uri="{FF2B5EF4-FFF2-40B4-BE49-F238E27FC236}">
                <a16:creationId xmlns:a16="http://schemas.microsoft.com/office/drawing/2014/main" id="{CE2DC91D-3473-3652-977D-8A735C525E4A}"/>
              </a:ext>
            </a:extLst>
          </p:cNvPr>
          <p:cNvSpPr txBox="1">
            <a:spLocks/>
          </p:cNvSpPr>
          <p:nvPr/>
        </p:nvSpPr>
        <p:spPr>
          <a:xfrm>
            <a:off x="523200" y="14944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i="1"/>
          </a:p>
        </p:txBody>
      </p:sp>
      <p:sp>
        <p:nvSpPr>
          <p:cNvPr id="7" name="Content Placeholder 2">
            <a:extLst>
              <a:ext uri="{FF2B5EF4-FFF2-40B4-BE49-F238E27FC236}">
                <a16:creationId xmlns:a16="http://schemas.microsoft.com/office/drawing/2014/main" id="{7CC63832-29A1-2B52-48FC-E5D41CAC5897}"/>
              </a:ext>
            </a:extLst>
          </p:cNvPr>
          <p:cNvSpPr txBox="1">
            <a:spLocks/>
          </p:cNvSpPr>
          <p:nvPr/>
        </p:nvSpPr>
        <p:spPr>
          <a:xfrm>
            <a:off x="446999" y="1104220"/>
            <a:ext cx="8074003"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Licenses are not Patents!</a:t>
            </a:r>
          </a:p>
          <a:p>
            <a:r>
              <a:rPr lang="en-US"/>
              <a:t>Copyright Laws</a:t>
            </a:r>
          </a:p>
          <a:p>
            <a:r>
              <a:rPr lang="en-US"/>
              <a:t>Modification</a:t>
            </a:r>
          </a:p>
          <a:p>
            <a:r>
              <a:rPr lang="en-US"/>
              <a:t>Distribution</a:t>
            </a:r>
          </a:p>
          <a:p>
            <a:r>
              <a:rPr lang="en-US"/>
              <a:t>Usage – Commercial, Patent, Private</a:t>
            </a:r>
          </a:p>
          <a:p>
            <a:r>
              <a:rPr lang="en-US"/>
              <a:t>Liability – Can you be held responsible if something goes wrong?</a:t>
            </a:r>
          </a:p>
          <a:p>
            <a:r>
              <a:rPr lang="en-US"/>
              <a:t>Warranty – Will you help if something goes wrong?</a:t>
            </a:r>
          </a:p>
          <a:p>
            <a:r>
              <a:rPr lang="en-US"/>
              <a:t>Working within software communities</a:t>
            </a:r>
          </a:p>
          <a:p>
            <a:pPr lvl="1"/>
            <a:r>
              <a:rPr lang="en-US"/>
              <a:t>i.e. a </a:t>
            </a:r>
            <a:r>
              <a:rPr lang="en-US" err="1"/>
              <a:t>Wordpress</a:t>
            </a:r>
            <a:r>
              <a:rPr lang="en-US"/>
              <a:t> Plugin must have a GNU GPLv2 license or later</a:t>
            </a:r>
          </a:p>
          <a:p>
            <a:endParaRPr lang="en-US"/>
          </a:p>
        </p:txBody>
      </p:sp>
    </p:spTree>
    <p:extLst>
      <p:ext uri="{BB962C8B-B14F-4D97-AF65-F5344CB8AC3E}">
        <p14:creationId xmlns:p14="http://schemas.microsoft.com/office/powerpoint/2010/main" val="1519159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F7252-B99B-BEAD-25E2-CA713AB98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19215-C592-1DF2-FAC9-322F796ABE95}"/>
              </a:ext>
            </a:extLst>
          </p:cNvPr>
          <p:cNvSpPr>
            <a:spLocks noGrp="1"/>
          </p:cNvSpPr>
          <p:nvPr>
            <p:ph type="title"/>
          </p:nvPr>
        </p:nvSpPr>
        <p:spPr/>
        <p:txBody>
          <a:bodyPr/>
          <a:lstStyle/>
          <a:p>
            <a:r>
              <a:rPr lang="en-US"/>
              <a:t>Open Source Software</a:t>
            </a:r>
          </a:p>
        </p:txBody>
      </p:sp>
      <p:sp>
        <p:nvSpPr>
          <p:cNvPr id="6" name="Content Placeholder 2">
            <a:extLst>
              <a:ext uri="{FF2B5EF4-FFF2-40B4-BE49-F238E27FC236}">
                <a16:creationId xmlns:a16="http://schemas.microsoft.com/office/drawing/2014/main" id="{9E7600C3-5F31-3E47-4B3E-0172E2CC7129}"/>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p>
        </p:txBody>
      </p:sp>
      <p:sp>
        <p:nvSpPr>
          <p:cNvPr id="3" name="Content Placeholder 2">
            <a:extLst>
              <a:ext uri="{FF2B5EF4-FFF2-40B4-BE49-F238E27FC236}">
                <a16:creationId xmlns:a16="http://schemas.microsoft.com/office/drawing/2014/main" id="{E44421D3-1CA2-AD72-250B-A8BC1989A336}"/>
              </a:ext>
            </a:extLst>
          </p:cNvPr>
          <p:cNvSpPr txBox="1">
            <a:spLocks/>
          </p:cNvSpPr>
          <p:nvPr/>
        </p:nvSpPr>
        <p:spPr>
          <a:xfrm>
            <a:off x="523200" y="14944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i="1"/>
          </a:p>
        </p:txBody>
      </p:sp>
      <p:sp>
        <p:nvSpPr>
          <p:cNvPr id="7" name="Content Placeholder 2">
            <a:extLst>
              <a:ext uri="{FF2B5EF4-FFF2-40B4-BE49-F238E27FC236}">
                <a16:creationId xmlns:a16="http://schemas.microsoft.com/office/drawing/2014/main" id="{48FA41E8-8C8C-CF56-498E-31ACE208E4AC}"/>
              </a:ext>
            </a:extLst>
          </p:cNvPr>
          <p:cNvSpPr txBox="1">
            <a:spLocks/>
          </p:cNvSpPr>
          <p:nvPr/>
        </p:nvSpPr>
        <p:spPr>
          <a:xfrm>
            <a:off x="446999" y="1104220"/>
            <a:ext cx="8074003"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Improves collaboration &amp; compatibility</a:t>
            </a:r>
          </a:p>
          <a:p>
            <a:r>
              <a:rPr lang="en-US"/>
              <a:t>Community Driven</a:t>
            </a:r>
          </a:p>
          <a:p>
            <a:r>
              <a:rPr lang="en-US"/>
              <a:t>Most SEP projects are Open Source</a:t>
            </a:r>
          </a:p>
          <a:p>
            <a:r>
              <a:rPr lang="en-US"/>
              <a:t>Comes with a legal responsibility to ensure other licenses are not broken</a:t>
            </a:r>
          </a:p>
          <a:p>
            <a:pPr lvl="1"/>
            <a:r>
              <a:rPr lang="en-US"/>
              <a:t>Are you using any libraries in accordance with their license?</a:t>
            </a:r>
          </a:p>
          <a:p>
            <a:pPr lvl="1"/>
            <a:r>
              <a:rPr lang="en-US"/>
              <a:t>What are the licenses restrictions of any images or resources?</a:t>
            </a:r>
          </a:p>
          <a:p>
            <a:r>
              <a:rPr lang="en-US"/>
              <a:t>Discuss with your client!</a:t>
            </a:r>
          </a:p>
          <a:p>
            <a:endParaRPr lang="en-US"/>
          </a:p>
        </p:txBody>
      </p:sp>
    </p:spTree>
    <p:extLst>
      <p:ext uri="{BB962C8B-B14F-4D97-AF65-F5344CB8AC3E}">
        <p14:creationId xmlns:p14="http://schemas.microsoft.com/office/powerpoint/2010/main" val="3433121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665C8-656F-DBBE-DBC9-B286AC5CF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CFBB5-9CCB-43FA-2886-32C2FD2B4870}"/>
              </a:ext>
            </a:extLst>
          </p:cNvPr>
          <p:cNvSpPr>
            <a:spLocks noGrp="1"/>
          </p:cNvSpPr>
          <p:nvPr>
            <p:ph type="title"/>
          </p:nvPr>
        </p:nvSpPr>
        <p:spPr/>
        <p:txBody>
          <a:bodyPr/>
          <a:lstStyle/>
          <a:p>
            <a:r>
              <a:rPr lang="en-GB">
                <a:latin typeface="Arial Black"/>
              </a:rPr>
              <a:t>Task 5: Choose a License</a:t>
            </a:r>
            <a:endParaRPr lang="en-US"/>
          </a:p>
        </p:txBody>
      </p:sp>
      <p:sp>
        <p:nvSpPr>
          <p:cNvPr id="6" name="Content Placeholder 2">
            <a:extLst>
              <a:ext uri="{FF2B5EF4-FFF2-40B4-BE49-F238E27FC236}">
                <a16:creationId xmlns:a16="http://schemas.microsoft.com/office/drawing/2014/main" id="{CC95013C-A00D-9AB9-7245-7C7C2ECF0520}"/>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Discuss as a group:</a:t>
            </a:r>
          </a:p>
          <a:p>
            <a:pPr lvl="1"/>
            <a:r>
              <a:rPr lang="en-US"/>
              <a:t>Will the software be closed or open source?</a:t>
            </a:r>
          </a:p>
          <a:p>
            <a:pPr lvl="1"/>
            <a:r>
              <a:rPr lang="en-US"/>
              <a:t>Which license will the project have - </a:t>
            </a:r>
            <a:r>
              <a:rPr lang="en-US">
                <a:hlinkClick r:id="rId3"/>
              </a:rPr>
              <a:t>Choose-a-License</a:t>
            </a:r>
            <a:endParaRPr lang="en-US"/>
          </a:p>
          <a:p>
            <a:r>
              <a:rPr lang="en-US"/>
              <a:t>Push a LICENSE file to the root directory of your project</a:t>
            </a:r>
          </a:p>
          <a:p>
            <a:r>
              <a:rPr lang="en-US"/>
              <a:t>If intending to become open source: Explore the </a:t>
            </a:r>
            <a:r>
              <a:rPr lang="en-US">
                <a:hlinkClick r:id="rId4"/>
              </a:rPr>
              <a:t>FOSSA tool</a:t>
            </a:r>
            <a:endParaRPr lang="en-US"/>
          </a:p>
          <a:p>
            <a:pPr marL="0" indent="0">
              <a:buNone/>
            </a:pPr>
            <a:endParaRPr lang="en-US"/>
          </a:p>
          <a:p>
            <a:pPr marL="0" indent="0">
              <a:buNone/>
            </a:pPr>
            <a:r>
              <a:rPr lang="en-US" i="1"/>
              <a:t>You might need to discuss this with your client at the next meeting!</a:t>
            </a:r>
          </a:p>
        </p:txBody>
      </p:sp>
    </p:spTree>
    <p:extLst>
      <p:ext uri="{BB962C8B-B14F-4D97-AF65-F5344CB8AC3E}">
        <p14:creationId xmlns:p14="http://schemas.microsoft.com/office/powerpoint/2010/main" val="34472210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A649B-5B60-6D13-FDE3-D46D037CB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60DD4-6E7E-F1E0-AFC7-1F6710BADCB1}"/>
              </a:ext>
            </a:extLst>
          </p:cNvPr>
          <p:cNvSpPr>
            <a:spLocks noGrp="1"/>
          </p:cNvSpPr>
          <p:nvPr>
            <p:ph type="title"/>
          </p:nvPr>
        </p:nvSpPr>
        <p:spPr/>
        <p:txBody>
          <a:bodyPr/>
          <a:lstStyle/>
          <a:p>
            <a:r>
              <a:rPr lang="en-GB">
                <a:latin typeface="Arial Black"/>
              </a:rPr>
              <a:t>Wrapping Up!</a:t>
            </a:r>
            <a:endParaRPr lang="en-US"/>
          </a:p>
        </p:txBody>
      </p:sp>
      <p:sp>
        <p:nvSpPr>
          <p:cNvPr id="6" name="Content Placeholder 2">
            <a:extLst>
              <a:ext uri="{FF2B5EF4-FFF2-40B4-BE49-F238E27FC236}">
                <a16:creationId xmlns:a16="http://schemas.microsoft.com/office/drawing/2014/main" id="{F47A4481-B6C8-73C7-4CDB-70AFCC9EB0CF}"/>
              </a:ext>
            </a:extLst>
          </p:cNvPr>
          <p:cNvSpPr txBox="1">
            <a:spLocks/>
          </p:cNvSpPr>
          <p:nvPr/>
        </p:nvSpPr>
        <p:spPr>
          <a:xfrm>
            <a:off x="370800" y="1342030"/>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i="1"/>
          </a:p>
        </p:txBody>
      </p:sp>
      <p:sp>
        <p:nvSpPr>
          <p:cNvPr id="4" name="Content Placeholder 2">
            <a:extLst>
              <a:ext uri="{FF2B5EF4-FFF2-40B4-BE49-F238E27FC236}">
                <a16:creationId xmlns:a16="http://schemas.microsoft.com/office/drawing/2014/main" id="{6D184ECA-E6A5-485F-537B-92E3A32E5234}"/>
              </a:ext>
            </a:extLst>
          </p:cNvPr>
          <p:cNvSpPr txBox="1">
            <a:spLocks/>
          </p:cNvSpPr>
          <p:nvPr/>
        </p:nvSpPr>
        <p:spPr>
          <a:xfrm>
            <a:off x="461236" y="1177907"/>
            <a:ext cx="7772364" cy="35933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Independent Software Development Research</a:t>
            </a:r>
          </a:p>
          <a:p>
            <a:r>
              <a:rPr lang="en-US"/>
              <a:t>Expectations for SEP:</a:t>
            </a:r>
          </a:p>
          <a:p>
            <a:pPr lvl="1"/>
            <a:r>
              <a:rPr lang="en-GB"/>
              <a:t>Develop a software system of significant scale within a mature and repeatable Software Development process and apply Agile Principles &amp; Practices.</a:t>
            </a:r>
          </a:p>
          <a:p>
            <a:pPr lvl="1"/>
            <a:r>
              <a:rPr lang="en-GB"/>
              <a:t>Select and employ development support tools (as appropriate to the project being undertaken).</a:t>
            </a:r>
            <a:endParaRPr lang="en-US"/>
          </a:p>
          <a:p>
            <a:pPr marL="0" indent="0">
              <a:buNone/>
            </a:pPr>
            <a:endParaRPr lang="en-US"/>
          </a:p>
        </p:txBody>
      </p:sp>
      <p:sp>
        <p:nvSpPr>
          <p:cNvPr id="5" name="Content Placeholder 2">
            <a:extLst>
              <a:ext uri="{FF2B5EF4-FFF2-40B4-BE49-F238E27FC236}">
                <a16:creationId xmlns:a16="http://schemas.microsoft.com/office/drawing/2014/main" id="{D4311F82-5ADD-F9C8-554E-870280CC9853}"/>
              </a:ext>
            </a:extLst>
          </p:cNvPr>
          <p:cNvSpPr txBox="1">
            <a:spLocks/>
          </p:cNvSpPr>
          <p:nvPr/>
        </p:nvSpPr>
        <p:spPr>
          <a:xfrm>
            <a:off x="2163251" y="3965593"/>
            <a:ext cx="4368333" cy="427012"/>
          </a:xfrm>
          <a:prstGeom prst="rect">
            <a:avLst/>
          </a:prstGeom>
        </p:spPr>
        <p:txBody>
          <a:bodyPr vert="horz" lIns="91440" tIns="45720" rIns="91440" bIns="45720" rtlCol="0" anchor="ctr">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b="1"/>
              <a:t>Questions?</a:t>
            </a:r>
          </a:p>
        </p:txBody>
      </p:sp>
    </p:spTree>
    <p:extLst>
      <p:ext uri="{BB962C8B-B14F-4D97-AF65-F5344CB8AC3E}">
        <p14:creationId xmlns:p14="http://schemas.microsoft.com/office/powerpoint/2010/main" val="180893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University of Bristol (Main URL)">
  <a:themeElements>
    <a:clrScheme name="University of Bristol">
      <a:dk1>
        <a:sysClr val="windowText" lastClr="000000"/>
      </a:dk1>
      <a:lt1>
        <a:sysClr val="window" lastClr="FFFFFF"/>
      </a:lt1>
      <a:dk2>
        <a:srgbClr val="AB1F2D"/>
      </a:dk2>
      <a:lt2>
        <a:srgbClr val="E3E6E5"/>
      </a:lt2>
      <a:accent1>
        <a:srgbClr val="00C0B5"/>
      </a:accent1>
      <a:accent2>
        <a:srgbClr val="0CC6DE"/>
      </a:accent2>
      <a:accent3>
        <a:srgbClr val="EE7219"/>
      </a:accent3>
      <a:accent4>
        <a:srgbClr val="9278D1"/>
      </a:accent4>
      <a:accent5>
        <a:srgbClr val="E0249A"/>
      </a:accent5>
      <a:accent6>
        <a:srgbClr val="BED600"/>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242F8F13-2998-DF4F-BD55-F97E0348F1D9}" vid="{F083564A-2207-4647-8BE4-8FD103A87836}"/>
    </a:ext>
  </a:extLst>
</a:theme>
</file>

<file path=ppt/theme/theme2.xml><?xml version="1.0" encoding="utf-8"?>
<a:theme xmlns:a="http://schemas.openxmlformats.org/drawingml/2006/main" name="University of Bristol (Custom URL)">
  <a:themeElements>
    <a:clrScheme name="University of Bristol">
      <a:dk1>
        <a:sysClr val="windowText" lastClr="000000"/>
      </a:dk1>
      <a:lt1>
        <a:sysClr val="window" lastClr="FFFFFF"/>
      </a:lt1>
      <a:dk2>
        <a:srgbClr val="AB1F2D"/>
      </a:dk2>
      <a:lt2>
        <a:srgbClr val="E3E6E5"/>
      </a:lt2>
      <a:accent1>
        <a:srgbClr val="00C0B5"/>
      </a:accent1>
      <a:accent2>
        <a:srgbClr val="0CC6DE"/>
      </a:accent2>
      <a:accent3>
        <a:srgbClr val="EE7219"/>
      </a:accent3>
      <a:accent4>
        <a:srgbClr val="9278D1"/>
      </a:accent4>
      <a:accent5>
        <a:srgbClr val="E0249A"/>
      </a:accent5>
      <a:accent6>
        <a:srgbClr val="BED600"/>
      </a:accent6>
      <a:hlink>
        <a:srgbClr val="0563C1"/>
      </a:hlink>
      <a:folHlink>
        <a:srgbClr val="954F72"/>
      </a:folHlink>
    </a:clrScheme>
    <a:fontScheme name="University of Bristol">
      <a:majorFont>
        <a:latin typeface="Sanchez Regular"/>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242F8F13-2998-DF4F-BD55-F97E0348F1D9}" vid="{2CA93492-6BF1-6943-AC27-762D379CC76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EF46017227CC4C9F91CE430CAF7FB2" ma:contentTypeVersion="13" ma:contentTypeDescription="Create a new document." ma:contentTypeScope="" ma:versionID="044aa50e7352548b0c5cd5fa8be43b6c">
  <xsd:schema xmlns:xsd="http://www.w3.org/2001/XMLSchema" xmlns:xs="http://www.w3.org/2001/XMLSchema" xmlns:p="http://schemas.microsoft.com/office/2006/metadata/properties" xmlns:ns2="ffd0f281-4fbc-4670-b912-7be072a9d667" xmlns:ns3="d9d7bf91-b5fb-4526-a0aa-704c980172bb" targetNamespace="http://schemas.microsoft.com/office/2006/metadata/properties" ma:root="true" ma:fieldsID="e779aa9211261958ba54b6fb7d1e2f54" ns2:_="" ns3:_="">
    <xsd:import namespace="ffd0f281-4fbc-4670-b912-7be072a9d667"/>
    <xsd:import namespace="d9d7bf91-b5fb-4526-a0aa-704c980172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0f281-4fbc-4670-b912-7be072a9d6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9d7bf91-b5fb-4526-a0aa-704c980172b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13199d5-2fdf-41e1-a464-885f1f2d903c}" ma:internalName="TaxCatchAll" ma:showField="CatchAllData" ma:web="d9d7bf91-b5fb-4526-a0aa-704c980172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9d7bf91-b5fb-4526-a0aa-704c980172bb" xsi:nil="true"/>
    <lcf76f155ced4ddcb4097134ff3c332f xmlns="ffd0f281-4fbc-4670-b912-7be072a9d66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3303F02-DE4E-417A-9784-5D54B9CC7C14}">
  <ds:schemaRefs>
    <ds:schemaRef ds:uri="http://schemas.microsoft.com/sharepoint/v3/contenttype/forms"/>
  </ds:schemaRefs>
</ds:datastoreItem>
</file>

<file path=customXml/itemProps2.xml><?xml version="1.0" encoding="utf-8"?>
<ds:datastoreItem xmlns:ds="http://schemas.openxmlformats.org/officeDocument/2006/customXml" ds:itemID="{C7C68A76-A73D-4E28-A016-04AE1269CA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0f281-4fbc-4670-b912-7be072a9d667"/>
    <ds:schemaRef ds:uri="d9d7bf91-b5fb-4526-a0aa-704c980172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028FE9-68BF-412E-910D-75B363E82F19}">
  <ds:schemaRefs>
    <ds:schemaRef ds:uri="http://purl.org/dc/dcmitype/"/>
    <ds:schemaRef ds:uri="http://schemas.microsoft.com/office/2006/documentManagement/types"/>
    <ds:schemaRef ds:uri="http://schemas.microsoft.com/office/infopath/2007/PartnerControls"/>
    <ds:schemaRef ds:uri="http://purl.org/dc/terms/"/>
    <ds:schemaRef ds:uri="http://purl.org/dc/elements/1.1/"/>
    <ds:schemaRef ds:uri="http://www.w3.org/XML/1998/namespace"/>
    <ds:schemaRef ds:uri="http://schemas.openxmlformats.org/package/2006/metadata/core-properties"/>
    <ds:schemaRef ds:uri="d9d7bf91-b5fb-4526-a0aa-704c980172bb"/>
    <ds:schemaRef ds:uri="ffd0f281-4fbc-4670-b912-7be072a9d66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University of Bristol (Main URL)</Template>
  <TotalTime>1</TotalTime>
  <Words>2072</Words>
  <Application>Microsoft Macintosh PowerPoint</Application>
  <PresentationFormat>On-screen Show (16:9)</PresentationFormat>
  <Paragraphs>346</Paragraphs>
  <Slides>49</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49</vt:i4>
      </vt:variant>
    </vt:vector>
  </HeadingPairs>
  <TitlesOfParts>
    <vt:vector size="57" baseType="lpstr">
      <vt:lpstr>Arial</vt:lpstr>
      <vt:lpstr>Arial Black</vt:lpstr>
      <vt:lpstr>Calibri</vt:lpstr>
      <vt:lpstr>Courier New</vt:lpstr>
      <vt:lpstr>Rockwell</vt:lpstr>
      <vt:lpstr>Wingdings</vt:lpstr>
      <vt:lpstr>University of Bristol (Main URL)</vt:lpstr>
      <vt:lpstr>University of Bristol (Custom URL)</vt:lpstr>
      <vt:lpstr>SEP Week 3:  Architecture &amp; Tech Stacks</vt:lpstr>
      <vt:lpstr>Overview</vt:lpstr>
      <vt:lpstr>Software Architecture – What</vt:lpstr>
      <vt:lpstr>Software Architecture – Why</vt:lpstr>
      <vt:lpstr>Example 1: Client-Server </vt:lpstr>
      <vt:lpstr>Example 2:  Layered Architecture</vt:lpstr>
      <vt:lpstr>Example 3:  Controller / Worker</vt:lpstr>
      <vt:lpstr>Software Modelling</vt:lpstr>
      <vt:lpstr>Just Enough Modelling</vt:lpstr>
      <vt:lpstr>Analysis and Design Modelling</vt:lpstr>
      <vt:lpstr>Identifying Domain Entities</vt:lpstr>
      <vt:lpstr>Entity associations </vt:lpstr>
      <vt:lpstr>Associations</vt:lpstr>
      <vt:lpstr>Grammatical Parse</vt:lpstr>
      <vt:lpstr>Example</vt:lpstr>
      <vt:lpstr>Example</vt:lpstr>
      <vt:lpstr>Task 1: Grammatically Analyse Your Project Brief</vt:lpstr>
      <vt:lpstr>Static Design Models</vt:lpstr>
      <vt:lpstr>C4 model for visualising software architecture</vt:lpstr>
      <vt:lpstr>C4 model - Level 1: System Context</vt:lpstr>
      <vt:lpstr>C4 model - Level 2: Container Diagram</vt:lpstr>
      <vt:lpstr>C4 model - Level 3: Component Diagram</vt:lpstr>
      <vt:lpstr>C4 model - Level 4:  Code Diagram</vt:lpstr>
      <vt:lpstr>Task 2: Create a system context diagram</vt:lpstr>
      <vt:lpstr>Dynamic Design Models</vt:lpstr>
      <vt:lpstr>Activity Diagrams</vt:lpstr>
      <vt:lpstr>Sequence Diagram Example</vt:lpstr>
      <vt:lpstr>Task 3: Create a sequence diagram</vt:lpstr>
      <vt:lpstr>Choosing a Tech Stacks</vt:lpstr>
      <vt:lpstr>Tech Stack Example 1: Web App</vt:lpstr>
      <vt:lpstr>Tech Stack Example 1: Web App – 2024-RoboSim</vt:lpstr>
      <vt:lpstr>Tech Stack Example 2: Cross-Platform / Mobile Applications</vt:lpstr>
      <vt:lpstr>Tech Stack Example 2: Cross-Platform / Mobile Applications 2024-SprintCommunityTransport</vt:lpstr>
      <vt:lpstr>Tech Stack Example 2: Cross-Platform / Mobile Applications 2024-RailwayTrafficAnalysis</vt:lpstr>
      <vt:lpstr>Tech Stack Example 3: Games &amp; 3D Environments</vt:lpstr>
      <vt:lpstr>Tech Stack Example 4: Hardware Based Project 2024-LitterRecognition2</vt:lpstr>
      <vt:lpstr>Middleware</vt:lpstr>
      <vt:lpstr>Tech Stacks are not Static!</vt:lpstr>
      <vt:lpstr>Task 3: Technology Choice Matrix</vt:lpstr>
      <vt:lpstr>Task 4: Create a Container Diagram</vt:lpstr>
      <vt:lpstr>How to organise your team</vt:lpstr>
      <vt:lpstr>How to organise your team</vt:lpstr>
      <vt:lpstr>PowerPoint Presentation</vt:lpstr>
      <vt:lpstr>How to organise your team</vt:lpstr>
      <vt:lpstr>Open Source &amp; Licenses </vt:lpstr>
      <vt:lpstr>Software Licenses</vt:lpstr>
      <vt:lpstr>Open Source Software</vt:lpstr>
      <vt:lpstr>Task 5: Choose a License</vt:lpstr>
      <vt:lpstr>Wrapping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Lee-Warren</dc:creator>
  <cp:lastModifiedBy>Daniel Schien</cp:lastModifiedBy>
  <cp:revision>1</cp:revision>
  <dcterms:created xsi:type="dcterms:W3CDTF">2022-10-18T14:37:12Z</dcterms:created>
  <dcterms:modified xsi:type="dcterms:W3CDTF">2026-10-09T08:26:30Z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0x01010054EF46017227CC4C9F91CE430CAF7FB2</vt:lpwstr>
  </property>
  <property fmtid="{D5CDD505-2E9C-101B-9397-08002B2CF9AE}" pid="3" name="MediaServiceImageTags">
    <vt:lpwstr/>
  </property>
</Properties>
</file>