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  <p:sldMasterId id="2147483687" r:id="rId6"/>
    <p:sldMasterId id="2147483699" r:id="rId7"/>
  </p:sldMasterIdLst>
  <p:notesMasterIdLst>
    <p:notesMasterId r:id="rId80"/>
  </p:notesMasterIdLst>
  <p:sldIdLst>
    <p:sldId id="1212" r:id="rId8"/>
    <p:sldId id="809" r:id="rId9"/>
    <p:sldId id="2612" r:id="rId10"/>
    <p:sldId id="256" r:id="rId11"/>
    <p:sldId id="2604" r:id="rId12"/>
    <p:sldId id="2606" r:id="rId13"/>
    <p:sldId id="2607" r:id="rId14"/>
    <p:sldId id="2605" r:id="rId15"/>
    <p:sldId id="2609" r:id="rId16"/>
    <p:sldId id="2610" r:id="rId17"/>
    <p:sldId id="808" r:id="rId18"/>
    <p:sldId id="810" r:id="rId19"/>
    <p:sldId id="1213" r:id="rId20"/>
    <p:sldId id="1215" r:id="rId21"/>
    <p:sldId id="1214" r:id="rId22"/>
    <p:sldId id="1216" r:id="rId23"/>
    <p:sldId id="1217" r:id="rId24"/>
    <p:sldId id="1218" r:id="rId25"/>
    <p:sldId id="1219" r:id="rId26"/>
    <p:sldId id="1220" r:id="rId27"/>
    <p:sldId id="1223" r:id="rId28"/>
    <p:sldId id="1224" r:id="rId29"/>
    <p:sldId id="1225" r:id="rId30"/>
    <p:sldId id="1226" r:id="rId31"/>
    <p:sldId id="1227" r:id="rId32"/>
    <p:sldId id="1222" r:id="rId33"/>
    <p:sldId id="1228" r:id="rId34"/>
    <p:sldId id="812" r:id="rId35"/>
    <p:sldId id="1229" r:id="rId36"/>
    <p:sldId id="813" r:id="rId37"/>
    <p:sldId id="1230" r:id="rId38"/>
    <p:sldId id="1231" r:id="rId39"/>
    <p:sldId id="1232" r:id="rId40"/>
    <p:sldId id="811" r:id="rId41"/>
    <p:sldId id="814" r:id="rId42"/>
    <p:sldId id="1233" r:id="rId43"/>
    <p:sldId id="815" r:id="rId44"/>
    <p:sldId id="1234" r:id="rId45"/>
    <p:sldId id="1236" r:id="rId46"/>
    <p:sldId id="1235" r:id="rId47"/>
    <p:sldId id="1238" r:id="rId48"/>
    <p:sldId id="1239" r:id="rId49"/>
    <p:sldId id="1241" r:id="rId50"/>
    <p:sldId id="1242" r:id="rId51"/>
    <p:sldId id="1265" r:id="rId52"/>
    <p:sldId id="1240" r:id="rId53"/>
    <p:sldId id="1243" r:id="rId54"/>
    <p:sldId id="1268" r:id="rId55"/>
    <p:sldId id="1266" r:id="rId56"/>
    <p:sldId id="1267" r:id="rId57"/>
    <p:sldId id="1244" r:id="rId58"/>
    <p:sldId id="1269" r:id="rId59"/>
    <p:sldId id="1245" r:id="rId60"/>
    <p:sldId id="1246" r:id="rId61"/>
    <p:sldId id="1247" r:id="rId62"/>
    <p:sldId id="1249" r:id="rId63"/>
    <p:sldId id="1250" r:id="rId64"/>
    <p:sldId id="1251" r:id="rId65"/>
    <p:sldId id="1252" r:id="rId66"/>
    <p:sldId id="1253" r:id="rId67"/>
    <p:sldId id="1254" r:id="rId68"/>
    <p:sldId id="1255" r:id="rId69"/>
    <p:sldId id="1256" r:id="rId70"/>
    <p:sldId id="1257" r:id="rId71"/>
    <p:sldId id="1258" r:id="rId72"/>
    <p:sldId id="1259" r:id="rId73"/>
    <p:sldId id="1260" r:id="rId74"/>
    <p:sldId id="1261" r:id="rId75"/>
    <p:sldId id="1262" r:id="rId76"/>
    <p:sldId id="1263" r:id="rId77"/>
    <p:sldId id="1264" r:id="rId78"/>
    <p:sldId id="1270" r:id="rId79"/>
  </p:sldIdLst>
  <p:sldSz cx="12192000" cy="6858000"/>
  <p:notesSz cx="6797675" cy="98726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G Bullock" initials="SB" lastIdx="9" clrIdx="0">
    <p:extLst>
      <p:ext uri="{19B8F6BF-5375-455C-9EA6-DF929625EA0E}">
        <p15:presenceInfo xmlns:p15="http://schemas.microsoft.com/office/powerpoint/2012/main" userId="S-1-5-21-1117850145-1682116191-196506527-1424016" providerId="AD"/>
      </p:ext>
    </p:extLst>
  </p:cmAuthor>
  <p:cmAuthor id="2" name="Freya Dabson" initials="FD" lastIdx="1" clrIdx="1">
    <p:extLst>
      <p:ext uri="{19B8F6BF-5375-455C-9EA6-DF929625EA0E}">
        <p15:presenceInfo xmlns:p15="http://schemas.microsoft.com/office/powerpoint/2012/main" userId="S::fd18744@bristol.ac.uk::fe8edcae-13e8-479e-b1f2-7599a2370ba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1E2C"/>
    <a:srgbClr val="9A1C2B"/>
    <a:srgbClr val="FF5050"/>
    <a:srgbClr val="FF9999"/>
    <a:srgbClr val="C2A00E"/>
    <a:srgbClr val="FFFF99"/>
    <a:srgbClr val="EEC518"/>
    <a:srgbClr val="FFFF66"/>
    <a:srgbClr val="FF00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F5E9DF-D02E-6B4E-8507-D513CBA0B116}" v="1" dt="2026-09-28T12:01:39.8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/>
    <p:restoredTop sz="94795"/>
  </p:normalViewPr>
  <p:slideViewPr>
    <p:cSldViewPr snapToGrid="0">
      <p:cViewPr varScale="1">
        <p:scale>
          <a:sx n="120" d="100"/>
          <a:sy n="120" d="100"/>
        </p:scale>
        <p:origin x="8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84" Type="http://schemas.openxmlformats.org/officeDocument/2006/relationships/theme" Target="theme/theme1.xml"/><Relationship Id="rId16" Type="http://schemas.openxmlformats.org/officeDocument/2006/relationships/slide" Target="slides/slide9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74" Type="http://schemas.openxmlformats.org/officeDocument/2006/relationships/slide" Target="slides/slide67.xml"/><Relationship Id="rId79" Type="http://schemas.openxmlformats.org/officeDocument/2006/relationships/slide" Target="slides/slide72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77" Type="http://schemas.openxmlformats.org/officeDocument/2006/relationships/slide" Target="slides/slide70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83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slide" Target="slides/slide71.xml"/><Relationship Id="rId81" Type="http://schemas.openxmlformats.org/officeDocument/2006/relationships/commentAuthors" Target="commentAuthors.xml"/><Relationship Id="rId86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slide" Target="slides/slide69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4.xml"/><Relationship Id="rId2" Type="http://schemas.openxmlformats.org/officeDocument/2006/relationships/customXml" Target="../customXml/item2.xml"/><Relationship Id="rId29" Type="http://schemas.openxmlformats.org/officeDocument/2006/relationships/slide" Target="slides/slide22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slide" Target="slides/slide59.xml"/><Relationship Id="rId87" Type="http://schemas.microsoft.com/office/2015/10/relationships/revisionInfo" Target="revisionInfo.xml"/><Relationship Id="rId61" Type="http://schemas.openxmlformats.org/officeDocument/2006/relationships/slide" Target="slides/slide54.xml"/><Relationship Id="rId8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Schien" userId="7ba24917-3599-403d-93fd-983f215bf8d7" providerId="ADAL" clId="{0A170A1E-D93E-5586-B276-23BE576CEF00}"/>
    <pc:docChg chg="addSld delSld modSld sldOrd">
      <pc:chgData name="Daniel Schien" userId="7ba24917-3599-403d-93fd-983f215bf8d7" providerId="ADAL" clId="{0A170A1E-D93E-5586-B276-23BE576CEF00}" dt="2026-09-28T12:04:21.204" v="26" actId="20577"/>
      <pc:docMkLst>
        <pc:docMk/>
      </pc:docMkLst>
      <pc:sldChg chg="add ord">
        <pc:chgData name="Daniel Schien" userId="7ba24917-3599-403d-93fd-983f215bf8d7" providerId="ADAL" clId="{0A170A1E-D93E-5586-B276-23BE576CEF00}" dt="2026-09-28T12:01:43.402" v="3" actId="20578"/>
        <pc:sldMkLst>
          <pc:docMk/>
          <pc:sldMk cId="0" sldId="256"/>
        </pc:sldMkLst>
      </pc:sldChg>
      <pc:sldChg chg="add ord">
        <pc:chgData name="Daniel Schien" userId="7ba24917-3599-403d-93fd-983f215bf8d7" providerId="ADAL" clId="{0A170A1E-D93E-5586-B276-23BE576CEF00}" dt="2026-09-28T12:01:43.402" v="3" actId="20578"/>
        <pc:sldMkLst>
          <pc:docMk/>
          <pc:sldMk cId="0" sldId="257"/>
        </pc:sldMkLst>
      </pc:sldChg>
      <pc:sldChg chg="del">
        <pc:chgData name="Daniel Schien" userId="7ba24917-3599-403d-93fd-983f215bf8d7" providerId="ADAL" clId="{0A170A1E-D93E-5586-B276-23BE576CEF00}" dt="2026-09-28T12:01:23.611" v="0" actId="2696"/>
        <pc:sldMkLst>
          <pc:docMk/>
          <pc:sldMk cId="1295350409" sldId="358"/>
        </pc:sldMkLst>
      </pc:sldChg>
      <pc:sldChg chg="modSp mod">
        <pc:chgData name="Daniel Schien" userId="7ba24917-3599-403d-93fd-983f215bf8d7" providerId="ADAL" clId="{0A170A1E-D93E-5586-B276-23BE576CEF00}" dt="2026-09-28T12:04:21.204" v="26" actId="20577"/>
        <pc:sldMkLst>
          <pc:docMk/>
          <pc:sldMk cId="3846698448" sldId="809"/>
        </pc:sldMkLst>
        <pc:spChg chg="mod">
          <ac:chgData name="Daniel Schien" userId="7ba24917-3599-403d-93fd-983f215bf8d7" providerId="ADAL" clId="{0A170A1E-D93E-5586-B276-23BE576CEF00}" dt="2026-09-28T12:04:21.204" v="26" actId="20577"/>
          <ac:spMkLst>
            <pc:docMk/>
            <pc:sldMk cId="3846698448" sldId="809"/>
            <ac:spMk id="3" creationId="{7152F16E-B8BE-95AF-2BF1-095C9435FE2C}"/>
          </ac:spMkLst>
        </pc:spChg>
      </pc:sldChg>
      <pc:sldChg chg="add ord">
        <pc:chgData name="Daniel Schien" userId="7ba24917-3599-403d-93fd-983f215bf8d7" providerId="ADAL" clId="{0A170A1E-D93E-5586-B276-23BE576CEF00}" dt="2026-09-28T12:01:43.402" v="3" actId="20578"/>
        <pc:sldMkLst>
          <pc:docMk/>
          <pc:sldMk cId="1370056406" sldId="2604"/>
        </pc:sldMkLst>
      </pc:sldChg>
      <pc:sldChg chg="add ord">
        <pc:chgData name="Daniel Schien" userId="7ba24917-3599-403d-93fd-983f215bf8d7" providerId="ADAL" clId="{0A170A1E-D93E-5586-B276-23BE576CEF00}" dt="2026-09-28T12:01:43.402" v="3" actId="20578"/>
        <pc:sldMkLst>
          <pc:docMk/>
          <pc:sldMk cId="1189996080" sldId="2605"/>
        </pc:sldMkLst>
      </pc:sldChg>
      <pc:sldChg chg="add ord">
        <pc:chgData name="Daniel Schien" userId="7ba24917-3599-403d-93fd-983f215bf8d7" providerId="ADAL" clId="{0A170A1E-D93E-5586-B276-23BE576CEF00}" dt="2026-09-28T12:01:43.402" v="3" actId="20578"/>
        <pc:sldMkLst>
          <pc:docMk/>
          <pc:sldMk cId="523629391" sldId="2606"/>
        </pc:sldMkLst>
      </pc:sldChg>
      <pc:sldChg chg="add ord">
        <pc:chgData name="Daniel Schien" userId="7ba24917-3599-403d-93fd-983f215bf8d7" providerId="ADAL" clId="{0A170A1E-D93E-5586-B276-23BE576CEF00}" dt="2026-09-28T12:01:43.402" v="3" actId="20578"/>
        <pc:sldMkLst>
          <pc:docMk/>
          <pc:sldMk cId="2787802110" sldId="2607"/>
        </pc:sldMkLst>
      </pc:sldChg>
      <pc:sldChg chg="add ord">
        <pc:chgData name="Daniel Schien" userId="7ba24917-3599-403d-93fd-983f215bf8d7" providerId="ADAL" clId="{0A170A1E-D93E-5586-B276-23BE576CEF00}" dt="2026-09-28T12:01:43.402" v="3" actId="20578"/>
        <pc:sldMkLst>
          <pc:docMk/>
          <pc:sldMk cId="3853569358" sldId="2609"/>
        </pc:sldMkLst>
      </pc:sldChg>
      <pc:sldChg chg="add ord">
        <pc:chgData name="Daniel Schien" userId="7ba24917-3599-403d-93fd-983f215bf8d7" providerId="ADAL" clId="{0A170A1E-D93E-5586-B276-23BE576CEF00}" dt="2026-09-28T12:01:43.402" v="3" actId="20578"/>
        <pc:sldMkLst>
          <pc:docMk/>
          <pc:sldMk cId="150840122" sldId="2610"/>
        </pc:sldMkLst>
      </pc:sldChg>
      <pc:sldChg chg="add ord">
        <pc:chgData name="Daniel Schien" userId="7ba24917-3599-403d-93fd-983f215bf8d7" providerId="ADAL" clId="{0A170A1E-D93E-5586-B276-23BE576CEF00}" dt="2026-09-28T12:01:43.402" v="3" actId="20578"/>
        <pc:sldMkLst>
          <pc:docMk/>
          <pc:sldMk cId="0" sldId="2612"/>
        </pc:sldMkLst>
      </pc:sldChg>
      <pc:sldChg chg="del">
        <pc:chgData name="Daniel Schien" userId="7ba24917-3599-403d-93fd-983f215bf8d7" providerId="ADAL" clId="{0A170A1E-D93E-5586-B276-23BE576CEF00}" dt="2026-09-28T12:01:23.653" v="1" actId="2696"/>
        <pc:sldMkLst>
          <pc:docMk/>
          <pc:sldMk cId="361693042" sldId="2654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0:43:47.801"/>
    </inkml:context>
    <inkml:brush xml:id="br0">
      <inkml:brushProperty name="width" value="0.2" units="cm"/>
      <inkml:brushProperty name="height" value="0.2" units="cm"/>
      <inkml:brushProperty name="color" value="#FF0066"/>
    </inkml:brush>
  </inkml:definitions>
  <inkml:trace contextRef="#ctx0" brushRef="#br0">0 341 24575,'37'0'0,"9"0"0,5 0 0,9 0 0,5 0 0,0 0 0,2 0-1177,29-7 1177,-41 3 0,1-1 0,2-1 0,0 0 0,1 0 0,-3-1 0,25-3 104,-2 0-104,-1 0 0,11-1 0,1-1 0,3-2 0,-1 0 0,-11 2 0,-6 1 0,-4 3 0,-7 1 0,0-3 0,1 2 881,1 1-881,4 1 192,4-2-192,12 0 0,6-2-387,-42 4 1,1 1 386,2-1 0,-1 0-45,-1-2 0,0 1 45,4-1 0,0 0 0,-3 1 0,0 0 0,46-6 0,-2-1-778,1 3 778,-45 6 0,0 1 0,3 1 0,0 1 0,-1 1 0,-1 0-198,43 0 198,-4 1 0,-9 0 0,2-1 731,8 1-731,-7 0 0,1 0 0,-5 0 0,-3 0 0,4 0 0,-2 0 0,-3 0 0,-4 0 89,-5 0-89,-10 0 0,-1 3 0,-8 2 804,0 2-804,0 1 215,-1-1-215,7-3 0,5 0 0,0-1 0,3 0 0,-3 3 0,0 0 0,0-2 0,-3 2 0,-2-3 0,-7 1 0,-1 1 0,-4-1 0,-3 2 0,-2 0 0,-3-3 0,-1 3 0,0-1 0,-1 2 0,1 1 0,-4-1 0,2-1 0,1 1 0,4 1 0,7 1 0,1 3 0,3 0 0,1 0 0,10 1 0,0 0 0,3-3 0,2 0 0,-3-3 0,6-1 0,-1 1 0,-3-3 0,-4-2 0,-6-2 0,-4 0 0,-5 0 0,-4 0 0,-3 0 0,-5 0 0,-3 0 0,0 0 0,-2 0 0,2 0 0,-1 0 0,-1 0 0,1 0 0,0 0 0,-1-2 0,1 0 0,0-3 0,-3-1 0,-1 1 0,-3 0 0,0-1 0,0 0 0,-1 3 0,0 1 0,1-1 0,-1 0 0,-1 0 0,1-1 0,-1 1 0,-3-2 0,-2 1 0,-1 1 0,-2 1 0,1 0 0,-3-1 0,0 0 0,0 1 0,0 1 0,0 1 0,-4 0 0,-2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0:43:51.085"/>
    </inkml:context>
    <inkml:brush xml:id="br0">
      <inkml:brushProperty name="width" value="0.2" units="cm"/>
      <inkml:brushProperty name="height" value="0.2" units="cm"/>
      <inkml:brushProperty name="color" value="#FF0066"/>
    </inkml:brush>
  </inkml:definitions>
  <inkml:trace contextRef="#ctx0" brushRef="#br0">1 920 24575,'12'26'0,"3"1"0,2-2 0,4 0 0,-1-1 0,2 0 0,0 1 0,-2-1 0,-1-4 0,-5-2 0,-1-5 0,2 2 0,1 0 0,5 4 0,-3-2 0,-2 0 0,1-2 0,3 2 0,3 4 0,1 0 0,-4 0 0,-1-1 0,-3-4 0,-2-3 0,-1-2 0,-3-1 0,1 0 0,-2 0 0,1-2 0,0-1 0,-1 0 0,1-2 0,0 2 0,-1-2 0,1 0 0,-1 1 0,0 0 0,-1 0 0,0 0 0,1 0 0,0 2 0,1 0 0,-1-1 0,1-2 0,0 1 0,0 1 0,0-2 0,-1 0 0,1-3 0,-1-1 0,-2-5 0,-3-4 0,-2-6 0,-2-4 0,0-2 0,2-3 0,4-8 0,2-6 0,3-8 0,1-4 0,1-5 0,0-2 0,1-1 0,-1-3 0,0 6 0,0 2 0,-1 5 0,0 7 0,0 2 0,-1 3 0,0 4 0,1-2 0,1-1 0,3-1 0,1-6 0,-1 2 0,1 1 0,-2 1 0,0 4 0,-1 3 0,-3 3 0,1 4 0,-2 6 0,0 0 0,1-4 0,0-1 0,0-5 0,3-8 0,2-1 0,2-4 0,-1 2 0,1 3 0,-1 3 0,-3 4 0,-2 8 0,-5 4 0,-2 2 0,-3 2 0,-1 2 0,-2 6 0,-12 14 0,4-2 0,-7 6 0,9-5 0,1-1 0,-2-1 0,-1 0 0,-1-2 0,-2 3 0,-1-3 0,0 0 0,-2 2 0,2 1 0,-2 2 0,-1 0 0,1 0 0,-3 0 0,-3 3 0,-4 0 0,0 2 0,-2-1 0,2 0 0,-1 2 0,1-2 0,2 0 0,1-3 0,2 0 0,3 0 0,2-1 0,1 0 0,-5 1 0,-2-1 0,-2 1 0,-1 0 0,2 2 0,0 3 0,0 1 0,3-2 0,0-2 0,4-3 0,2-2 0,1-1 0,3-2 0,2-1 0,1 0 0,0 0 0,-3 2 0,-3 2 0,-3-1 0,0 1 0,0-1 0,-3 1 0,1 2 0,-1 0 0,0 0 0,1 1 0,1-1 0,3 0 0,3 0 0,-3-3 0,2 0 0,1-2 0,0-2 0,3-1 0,-3 0 0,1 1 0,1 1 0,0 0 0,-3 0 0,-1 1 0,-1 0 0,-1 2 0,0 0 0,1 1 0,1-1 0,1-2 0,1-1 0,0-2 0,0-2 0,3 2 0,1 1 0,0 0 0,-1-1 0,-2 0 0,0 0 0,1-1 0,4-3 0,1-5 0,3-1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0:43:52.132"/>
    </inkml:context>
    <inkml:brush xml:id="br0">
      <inkml:brushProperty name="width" value="0.2" units="cm"/>
      <inkml:brushProperty name="height" value="0.2" units="cm"/>
      <inkml:brushProperty name="color" value="#FF0066"/>
    </inkml:brush>
  </inkml:definitions>
  <inkml:trace contextRef="#ctx0" brushRef="#br0">0 0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0:43:53.044"/>
    </inkml:context>
    <inkml:brush xml:id="br0">
      <inkml:brushProperty name="width" value="0.2" units="cm"/>
      <inkml:brushProperty name="height" value="0.2" units="cm"/>
      <inkml:brushProperty name="color" value="#FF0066"/>
    </inkml:brush>
  </inkml:definitions>
  <inkml:trace contextRef="#ctx0" brushRef="#br0">0 2055 24575,'0'-59'0,"0"-41"0,0 29 0,0-6-1639,0-6 1,0-3 1498,0-3 0,0-1 140,0 2 0,0 0 0,0 4 0,0 0 0,0-2 0,0 2 0,0 8 0,0 5 555,0 16 1,0 2-556,0-43 0,0 11 0,0 6 0,0 4 582,0 17-582,0 6 0,0 7 0,0 13 1864,0 7-1864,0 8 0,0 6 0,0-1 0,0 0 0,0 0 0,0 1 0,0 7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0:43:53.873"/>
    </inkml:context>
    <inkml:brush xml:id="br0">
      <inkml:brushProperty name="width" value="0.2" units="cm"/>
      <inkml:brushProperty name="height" value="0.2" units="cm"/>
      <inkml:brushProperty name="color" value="#FF0066"/>
    </inkml:brush>
  </inkml:definitions>
  <inkml:trace contextRef="#ctx0" brushRef="#br0">1 1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0:43:54.774"/>
    </inkml:context>
    <inkml:brush xml:id="br0">
      <inkml:brushProperty name="width" value="0.2" units="cm"/>
      <inkml:brushProperty name="height" value="0.2" units="cm"/>
      <inkml:brushProperty name="color" value="#FF0066"/>
    </inkml:brush>
  </inkml:definitions>
  <inkml:trace contextRef="#ctx0" brushRef="#br0">0 2232 24575,'0'-50'0,"0"-42"0,0 36 0,0-4-1639,0-11 1,0-2-1,0-7 1,0-1-1,0 3 1,0 1 1673,0-8 1,0-1-36,0 4 0,0 0 0,0 6 0,0 2 0,0 10 0,0 2 606,0-2 0,0 1-606,0 2 0,0 2-84,0-40 84,0 2 0,0 28 0,0 7 3276,0-6-683,0 12-2593,0 14 1537,0 7-1537,0 10 1082,0 2-1082,0-2 144,0 5-144,0 1 0,0 10 0,0 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0:43:56.044"/>
    </inkml:context>
    <inkml:brush xml:id="br0">
      <inkml:brushProperty name="width" value="0.2" units="cm"/>
      <inkml:brushProperty name="height" value="0.2" units="cm"/>
      <inkml:brushProperty name="color" value="#FF0066"/>
    </inkml:brush>
  </inkml:definitions>
  <inkml:trace contextRef="#ctx0" brushRef="#br0">0 1 24575,'0'0'0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8T10:43:56.949"/>
    </inkml:context>
    <inkml:brush xml:id="br0">
      <inkml:brushProperty name="width" value="0.2" units="cm"/>
      <inkml:brushProperty name="height" value="0.2" units="cm"/>
      <inkml:brushProperty name="color" value="#FF0066"/>
    </inkml:brush>
  </inkml:definitions>
  <inkml:trace contextRef="#ctx0" brushRef="#br0">0 2341 24575,'0'-60'0,"0"-1"0,0 2 0,0-3 0,0-28 0,0-4 0,0 3 0,0-1 0,0-4 0,0 2-656,0 15 1,0 4 655,0 11 0,0 0 0,0-8 0,0-1 0,0 5 0,0 0 0,0-11 0,0 1 0,0 13 0,0 3 160,0 7 0,0 3-160,0-40 0,0 13 0,0 13 0,0-1 0,0 6 0,0 10 991,0 9-991,0 8 0,0 7 0,0 5 0,0 6 0,0 4 0,0 3 0,0 4 0,0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BE0540-9FE8-4F35-A9E3-D518690CE260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51221"/>
            <a:ext cx="543814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19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7319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D0D9D5-2AF4-4BA6-BFBF-79DA2641A9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2713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93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short: the point is that it's a practical file, not an essay. It lives in the repo next to the code, so changes are tracked the same way. Everything in it is a decision someone can act on: who decides when you disagree, how work is handed out, what counts as done, what happens when someone goes quiet, and who writes the decision records. If a sentence in it couldn't settle an argument, it probably doesn't belong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isn't a mission statement. It's a handful of decisions that are much easier to make in week 2 than in March. The two failure modes we see every year are the person who disappears and the person who ends up running everything; the agreement gives both an owner from the start. It isn't a one-off form: you revisit it at the first team review in week 9, you re-contract at the start of TB2, and any change in between is recorded like any other decision. Revisions are dated by git, so a living agreement that you adjusted in response to real problems is exactly what we want to see at the viva. An agreement nobody opened again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C9731-67E9-4674-29A8-0EF5EF1ED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CAF780-C84D-9406-66D6-7B4EBD2FE1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6A3FFA-0F11-63D2-4875-1D2D02635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4C728-FD82-5C18-49B3-84D73AD930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517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7682F-C9D6-AC75-6037-F04EF9DEB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6B50D0-ACB7-9E24-6781-4E5A31E4D0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E7F3B7-FF9D-8F9D-F717-3CDE3740D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9900A-15E4-E703-D654-B20AD15789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608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79AF8-7129-5CAC-C89C-2D1126CFE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5B4F5A-9DAA-037A-FEC8-8464C4E88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371F52-1159-1BFB-93BC-88BAC11D6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E3AD5-3192-ACFD-447F-6BC92638B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4637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5A8A1-8BEF-EC95-721D-5FC1FAF6C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0FEF4D-C513-FFD1-1F2A-50A6AA4E5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6A691A-A4C1-3F09-6916-B85CA42619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EA0A4-D529-29F9-B8C1-0E0E1BD3AF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425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5E3BB-C588-1699-EC53-0F06733EC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8F4CF4-ED38-096B-D8C4-B64BB3B52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019C3B-9197-2471-6E1B-301BDE0789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66B099-AFA9-BDF5-523C-B0B5FB222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0460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286AC-3B45-134D-F985-FC6A69912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E017E6-95DD-9810-07C0-1C9F0F7B2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8A48EF-C7BD-E300-EC6E-C96874084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73947-9CA4-FB15-4898-29A0509C36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8122F-7B6F-9547-883B-92D97DBC8CF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0272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3540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22797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FE93C-836C-28EF-5894-17D302D27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7E58C0-266E-8B17-A1F3-24C244ED02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5C511C-D274-6D6A-1BA0-351BE5434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FE8DB-22A6-E95D-F0EC-7889FC80CD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7627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24679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E4BB8-75F1-CB37-98E5-385D75365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ABD2A-1807-C3E2-E2D7-B08B104235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8AB677-810D-3CBB-C8FA-5D1855BF7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FFBAF-77CB-22D4-41CF-AC636E4928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7753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90E9D-2B80-EBDB-5CE0-786FEC39A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6AAC2E-1C87-052E-B884-B036CE8991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A0B528-3A78-7413-3EEF-FAAEF3F3CA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CE141-E0BB-9317-68BA-89581FC730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1715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6B935-4332-5F18-7C7F-60C50000E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DC17EE-6392-2DD9-E9A4-1A9FC985B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992C9A-60EA-62DF-F989-ADD38A204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7E4FC-0DC3-D309-2449-2203D56420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33306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DB86A-FBAD-6AE5-D568-F121927F7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AC78C0-12D8-9D5C-2EA0-A4F8697E3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7E8B71-B680-70C0-7664-63225FEB9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E6160-8B82-6186-3E9C-77CC74BE2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97456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690F2-4E6F-86B6-D1D6-7B43A5498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450914-E441-4CFF-9FB6-2CA4888DC5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3C24D9-4CE1-0EBF-859B-2D5A4125F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F119E-1F28-6DFF-3957-2072A37DCE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81703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ACB91-F92C-3E1A-3C90-5111737FC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929050-F476-F6B8-288C-EEFC10613A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06CC0D-2BC5-D611-EADB-CA5936837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A01C6-B9E6-F8AB-9C44-0B1CE4199A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203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63C73-A29D-A9D2-F964-65C183F36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318877-4A72-65AB-DE11-E992B7EBAA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068F9E-DCF8-0FED-4448-106EE69FC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FDD7D-3B9B-9599-0572-8F2B7ECC6D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62412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A9EAA-E874-0880-2620-B739607D5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4D9F19-A238-DDEF-552A-4A55830285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F68E87-466E-222D-C72B-F6FDEE84B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C5FD5-0AFF-0BBE-E088-43E2C767FE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05709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F4807-EE08-85DA-AAC5-16649F952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A07224-805C-3F0E-0EE2-FD866E65FE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283463-223D-1CBD-D5D7-A344508ED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C74B1-1733-8728-313A-6D93410888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96156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2A5FA-2EFA-ECA7-5945-9EDBCC0A6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D346A8-FB33-B759-ECC3-9283C63A64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2748F2-F5D3-8132-5619-7287B7270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0DFA4-722C-F924-1E00-9DAC74C29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12846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2A527-B7AB-5D8F-C4DA-0816D8D17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3BC915-1064-12CF-5A4B-1CBE5FA31E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0FE2FC-0127-77F5-D93C-C188B77C6A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59D6A-7DBC-E592-56C4-BEC1D77775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61499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E46C8-3A1B-23BC-E2D9-AA49B3B40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5B6A8-40F4-4324-D6EF-B6F36388D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13262E-F5B2-9F74-A157-7DF0AA5728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4C44B-88B9-A7B3-D72F-08A0F26669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73198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CCE9B-9591-6F72-6EA0-80875298E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65C2C5-6B64-3B6B-766F-36B381A43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DE9306-D09A-D3B7-5956-295F51AD7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414542-2E1F-2AC2-D122-996C53876D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78513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88F9A-402D-B7BA-285A-BB5BC2D89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7C0A0F-8CFB-9B99-8D9A-504279861A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53EA0E-4FA1-D3AA-469E-38FE972DF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2F3CD-0F53-3F4F-AF5C-26D6805DE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7336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D0273-46B8-3AF8-F773-A0A9439E5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4AA446-FA46-3530-8171-94DB944A77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23C158-AA7C-2392-A430-63910565A0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03D3D-7A80-D843-76DA-7270942A7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71096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000B1-B01B-47C3-866E-1AC6317C5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8219B0-91D5-F5B1-9EEA-03C90214CC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711924-0BEE-75DD-E1DB-D39AD786EF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EC11B-5C47-1C89-BEA6-886FEF63C3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17096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3F509-43D9-0929-5C74-5463DDC90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6C5C3-8F71-90A9-9A96-EBD7D610A0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41E6E9-A853-069E-3A7B-A4E2932A6D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4CB30-678B-E443-ED33-158435AE8C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27877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54D78-33FB-C245-C1B7-9875ADE85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C44E7B-E363-010C-D962-1300156EDF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442E8B-215C-1D8E-AB36-A523B641C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5C467-C8D3-77F9-357F-4E8CB02AFD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35614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6B592-E4BD-36C7-4A5E-AC4EEFB4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903564-3BEE-275C-C78B-8B673FED87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F01678-E96E-2462-A0AA-6CE1A38ECE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722E1-D689-B31D-E578-D2D38412ED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44258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C4B9C-60AC-95E8-B636-74985C52D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C3871C-BA6D-8F66-E99A-7BB9720879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5835F4-32D9-54BA-4495-4C2430F2A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BF938-4F87-1768-7C5F-4C3CF467CB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12331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B1D93-C7F3-1AA0-7708-05A63125D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9150F5-683C-46C5-4DA9-1ACCECB8F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E64726-E87F-EC6A-4EF6-6EF39136E2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A8509-E7F7-6DB7-EDBE-F20B78E9C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21292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89A73-6C8D-6049-AE62-B8BFFB12C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8BEA69-CEBC-A6D5-01EE-C79445357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7C8213-16D6-1508-7CAC-62B2214025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8C1DD-CA1E-C097-AE4A-B1D753A7A7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7077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45D25-7DF7-6563-2B80-EEC37B687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6D0E03-C0B3-F50B-DB74-BCFC7F68E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4EC6F2-4863-1541-3BAB-9E60C87EE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7B4EF-86BA-DCE6-4894-10BCD28949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894241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B0ED7-FC4B-B4BF-198D-E51248C37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988004-3C0B-D938-1217-3D7E184596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047D3C-6C1C-EA98-66D7-B3E74AD98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26D74-48DC-1B92-2B54-E401ED2B8C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61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052315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FF0AE-4269-B869-3822-75322FB66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979380-BE47-A2CB-2DBB-04D558DC83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9F9D5F-B7F6-8127-328B-3BB27287E1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299F2-1028-8AF8-4E2F-5786644A0A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62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26256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A59F9-D29E-AC05-DF64-59DD87B62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D5BC12-9CBF-BAC6-11AA-90BA666401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D7BADF-5730-8180-7BE7-4665AC5FB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3A414-EC85-ECDE-1068-806EB40ECF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63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473994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B6C35-2E9B-F4D6-F1C8-D4F3AD0BD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27FB9A-8EBE-5D45-255C-D21947291D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C78F0F-2EBF-FC94-9AF6-0CC75671F2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B9BDD-CBF0-1BEE-6C13-AF0A623474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64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08134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FE0CE-9EE9-2CAA-3274-0353B7D6D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32C70A-4858-A32E-5B2B-60953D099E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C0B781-CF03-55B9-C4D1-7D3B9A62AC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90402-ED24-42AE-54D5-F3AFA5009D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617204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69939-4D4D-6C6F-29E6-3DD3995A1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5D8C05-BE8E-42CE-FD2E-563938068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C91458-47B7-F59F-B64C-B9E4F2298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9C354-600B-8BFB-6866-48AE26070B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66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367447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72847-F1B8-4ECE-F91E-1B3A78981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5B53A7-3140-4D3B-FD81-06DA7499F2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00A2AF-CA6A-27C6-A1E0-8CB3967088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50ED4-5769-8EEB-C29B-FDB0D44B20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67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802749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D3299-23A8-B133-9298-E2CEF06CE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54D86F-A4F9-FBC5-35DE-4EE285EEB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1C45A9-EE7A-C4CF-6D74-FC47B7CE3F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CB34E-EC0B-0349-48ED-0E0F151A3A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68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516978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C6F97-D2E9-8ADE-1C10-D7F93FB3C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ACA30-0F1D-F688-41ED-EBE8B9B78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FBDFBC-49DB-7942-B7CF-14B1EC998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1C9D6-937D-0C2A-B5FD-45A003308C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69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081735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879E9-2446-1FA7-19DF-4C590FDA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304A5D-6F46-E747-A2BF-93FB0CF173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ED8CAF-9757-0440-0AC3-AEE5A8429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719DB-C118-AFA7-1855-F0DD18B48B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70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891178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41BEC-6A25-A5C2-EE34-413C12DD0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D431BE-8C6A-3252-A9BB-71F985E88F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36433A-444F-FB89-F6DD-FC5C5E7A7B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B887D-B6A3-F084-08FF-0799344EDC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71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387288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7B423-9FD4-C54D-3A83-8EBBF84F9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A234B6-6451-0DF4-5C31-F9342A580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538DFE-17E0-803C-D9B5-42971F5615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C1C40-1D4D-E2C4-1127-66398AC4B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0D9D5-2AF4-4BA6-BFBF-79DA2641A9AE}" type="slidenum">
              <a:rPr lang="en-GB" smtClean="0"/>
              <a:t>72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5984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9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9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9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9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4.xml"/><Relationship Id="rId5" Type="http://schemas.openxmlformats.org/officeDocument/2006/relationships/hyperlink" Target="https://www.bristol.ac.uk/careers" TargetMode="External"/><Relationship Id="rId4" Type="http://schemas.openxmlformats.org/officeDocument/2006/relationships/image" Target="../media/image8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0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8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0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9.png"/><Relationship Id="rId4" Type="http://schemas.openxmlformats.org/officeDocument/2006/relationships/hyperlink" Target="https://www.bristol.ac.uk/careers" TargetMode="Externa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9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9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9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3.pn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0" y="1844826"/>
            <a:ext cx="11521280" cy="1470025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rgbClr val="9A1D2B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0" y="3356992"/>
            <a:ext cx="1152128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aseline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711039B-0A33-4E71-A0F8-4072B5681311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2"/>
          </p:nvPr>
        </p:nvSpPr>
        <p:spPr/>
        <p:txBody>
          <a:bodyPr vert="horz" lIns="91440" tIns="45720" rIns="91440" bIns="45720" rtlCol="0" anchor="ctr"/>
          <a:lstStyle>
            <a:lvl1pPr algn="ctr">
              <a:defRPr lang="en-GB" baseline="0" smtClean="0">
                <a:solidFill>
                  <a:srgbClr val="898989"/>
                </a:solidFill>
              </a:defRPr>
            </a:lvl1pPr>
          </a:lstStyle>
          <a:p>
            <a:r>
              <a:rPr lang="en-US"/>
              <a:t>July 2016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71903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1196752"/>
            <a:ext cx="11521280" cy="1143000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rgbClr val="9A1D2B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2420890"/>
            <a:ext cx="11521280" cy="3705275"/>
          </a:xfrm>
        </p:spPr>
        <p:txBody>
          <a:bodyPr/>
          <a:lstStyle>
            <a:lvl5pPr>
              <a:buFont typeface="Arial" pitchFamily="34" charset="0"/>
              <a:buChar char="­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DE32A2-B316-408E-999D-F1755F13BB34}" type="slidenum">
              <a:rPr lang="en-GB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July 2016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19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1099648"/>
            <a:ext cx="11521280" cy="4860000"/>
          </a:xfrm>
        </p:spPr>
        <p:txBody>
          <a:bodyPr/>
          <a:lstStyle>
            <a:lvl5pPr>
              <a:buFont typeface="Arial" pitchFamily="34" charset="0"/>
              <a:buChar char="­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901C8B-027E-47DA-B7C9-64F21DAD3549}" type="slidenum">
              <a:rPr lang="en-GB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July 2016</a:t>
            </a:r>
            <a:endParaRPr lang="en-GB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3215679" y="379296"/>
            <a:ext cx="8641887" cy="588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90704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6000" y="1098095"/>
            <a:ext cx="5520000" cy="486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6000" y="1098095"/>
            <a:ext cx="5520000" cy="486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C70634-F03F-4285-A9FB-4DFB8D5E5CBA}" type="slidenum">
              <a:rPr lang="en-GB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July 2016</a:t>
            </a:r>
            <a:endParaRPr lang="en-GB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3215679" y="379296"/>
            <a:ext cx="8641887" cy="588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02581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268760"/>
            <a:ext cx="7315200" cy="4176464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445225"/>
            <a:ext cx="7315200" cy="65496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89558F-9149-468C-9545-3DF59CF2DB22}" type="slidenum">
              <a:rPr lang="en-GB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July 2016</a:t>
            </a:r>
            <a:endParaRPr lang="en-GB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3215679" y="379296"/>
            <a:ext cx="8641887" cy="588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36310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807053-966E-4313-9F82-B1A639AA7935}" type="slidenum">
              <a:rPr lang="en-GB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July 2016</a:t>
            </a:r>
            <a:endParaRPr lang="en-GB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3215679" y="379296"/>
            <a:ext cx="8641887" cy="588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92319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1800" y="1700213"/>
            <a:ext cx="5562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00213"/>
            <a:ext cx="5562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July 2016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169400" y="6308725"/>
            <a:ext cx="2540000" cy="457200"/>
          </a:xfrm>
          <a:prstGeom prst="rect">
            <a:avLst/>
          </a:prstGeom>
        </p:spPr>
        <p:txBody>
          <a:bodyPr/>
          <a:lstStyle>
            <a:lvl1pPr algn="ctr" eaLnBrk="0" hangingPunct="0">
              <a:defRPr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fld id="{9BEAC93B-954E-45AA-A2FC-B7CCB2B43103}" type="slidenum">
              <a:rPr lang="en-GB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825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July 2016</a:t>
            </a: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257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800" y="908050"/>
            <a:ext cx="11328400" cy="6492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431800" y="1700213"/>
            <a:ext cx="5562600" cy="4114800"/>
          </a:xfrm>
        </p:spPr>
        <p:txBody>
          <a:bodyPr/>
          <a:lstStyle/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700213"/>
            <a:ext cx="55626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July 2016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169400" y="6308725"/>
            <a:ext cx="2540000" cy="457200"/>
          </a:xfrm>
          <a:prstGeom prst="rect">
            <a:avLst/>
          </a:prstGeom>
        </p:spPr>
        <p:txBody>
          <a:bodyPr/>
          <a:lstStyle>
            <a:lvl1pPr algn="ctr" eaLnBrk="0" hangingPunct="0">
              <a:defRPr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fld id="{63FC1629-4820-4022-BF63-F2905EE38ABF}" type="slidenum">
              <a:rPr lang="en-GB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610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526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19891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8358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hort paragraph with Image (Left) 1Inser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8CD982D-A440-A123-C52A-293FE7DD6E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623560" y="720281"/>
            <a:ext cx="4606168" cy="1468800"/>
          </a:xfrm>
          <a:prstGeom prst="rect">
            <a:avLst/>
          </a:prstGeom>
        </p:spPr>
        <p:txBody>
          <a:bodyPr anchor="b"/>
          <a:lstStyle>
            <a:lvl1pPr algn="l">
              <a:defRPr sz="3600" cap="none" baseline="0">
                <a:solidFill>
                  <a:srgbClr val="A6192E"/>
                </a:solidFill>
                <a:latin typeface="Sora SemiBold" pitchFamily="2" charset="0"/>
              </a:defRPr>
            </a:lvl1pPr>
          </a:lstStyle>
          <a:p>
            <a:r>
              <a:rPr lang="en-GB" cap="none" baseline="0" dirty="0"/>
              <a:t>Title goes here </a:t>
            </a:r>
            <a:br>
              <a:rPr lang="en-GB" cap="none" baseline="0" dirty="0"/>
            </a:br>
            <a:r>
              <a:rPr lang="en-GB" cap="none" baseline="0" dirty="0"/>
              <a:t>in sentence case</a:t>
            </a:r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81A2D00-3913-3091-FD66-443F9918B9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9174360" y="6356351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5BA1B-3E56-C947-B661-1699EDF3EE7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83CEDC9-ABA5-8DE1-235B-479817E199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362" y="5377645"/>
            <a:ext cx="1512441" cy="1512441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88F87A8-DEC8-A3FB-3919-97E77FC1CD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6096000" y="1"/>
            <a:ext cx="6096000" cy="688975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6B16581-105D-BCE6-4C72-29D92B8DBB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624419" y="2512044"/>
            <a:ext cx="4740061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/>
            </a:lvl1pPr>
          </a:lstStyle>
          <a:p>
            <a:pPr lvl="0"/>
            <a:r>
              <a:rPr lang="en-US" dirty="0"/>
              <a:t>Title goes here in Open Sans Semi Bold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E5624A7-358F-0EEB-116A-C84C455B09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624419" y="3462004"/>
            <a:ext cx="4740061" cy="638627"/>
          </a:xfrm>
        </p:spPr>
        <p:txBody>
          <a:bodyPr/>
          <a:lstStyle>
            <a:lvl1pPr marL="0" indent="0" algn="l" fontAlgn="t" hangingPunct="0">
              <a:buFont typeface="Arial" panose="020B0604020202020204" pitchFamily="34" charset="0"/>
              <a:buNone/>
              <a:defRPr sz="1867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lvl="0"/>
            <a:r>
              <a:rPr lang="en-US" dirty="0"/>
              <a:t>Paragraph goes here</a:t>
            </a:r>
          </a:p>
        </p:txBody>
      </p:sp>
      <p:pic>
        <p:nvPicPr>
          <p:cNvPr id="5" name="Picture 4" descr="A row of pink circles&#10;&#10;AI-generated content may be incorrect.">
            <a:extLst>
              <a:ext uri="{FF2B5EF4-FFF2-40B4-BE49-F238E27FC236}">
                <a16:creationId xmlns:a16="http://schemas.microsoft.com/office/drawing/2014/main" id="{83363666-2D2F-C94B-68AC-FDBEF4FFD5B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12" y="6084851"/>
            <a:ext cx="921065" cy="51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266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0178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B99ED-C69E-BBA6-68C0-CFB24861E3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0" i="0">
                <a:latin typeface="Ayuthaya" pitchFamily="2" charset="-34"/>
                <a:ea typeface="Ayuthaya" pitchFamily="2" charset="-34"/>
                <a:cs typeface="Ayuthaya" pitchFamily="2" charset="-34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F53FFA-3436-68E4-1C94-6AC9BBC38F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224F1-49AF-73F3-5665-9654C6C3CF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8CAE2E-AF8B-0C42-914A-63A92E17AD91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A82F4-521D-06DF-9F72-2E81B9A6D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30AA4-6D9A-06FE-8963-9AFDD3AE7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0276-ADD0-244F-A0A3-C9BD9DC4FA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28777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0118A-4415-01C6-7A6A-0FB408F97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8DF96-6FC7-1EB6-57D6-8D33B8C98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6689B-1794-8DEF-AEAA-309525247B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8CAE2E-AF8B-0C42-914A-63A92E17AD91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07483-07EA-173A-7DC7-D498B72FC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8C8CB-DE7F-2B1C-DE5C-8F050AD1D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0276-ADD0-244F-A0A3-C9BD9DC4FA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19937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3EEEF-3CF5-E205-072B-B9B414D0B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6820C-543E-AE91-C6A1-569BCD4C9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456F4-CD27-2611-A9B6-98AEEFF6C9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8CAE2E-AF8B-0C42-914A-63A92E17AD91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3C26B-F951-0C74-E3DD-308DE8663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AAA31-F74B-2788-6F36-4DADAAF7A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0276-ADD0-244F-A0A3-C9BD9DC4FA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73139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0250E-4AF4-1C10-B348-CB043DB47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0160D-8151-4C6D-16DC-B34001955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6B8E97-60B2-04B0-1D2C-CF6C61D589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E5E6C5-A976-9C8C-A71D-82D0FDAFD3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8CAE2E-AF8B-0C42-914A-63A92E17AD91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0402E-DDCF-56D6-B231-AAA262BAA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3DEAB-7BEB-B02D-2BC8-DD284C6DA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0276-ADD0-244F-A0A3-C9BD9DC4FA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3818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19591-3946-A91E-2C45-F0247FADF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6A6AF-BBB9-4C6C-F185-62C5BF026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1434E1-D939-3CF9-7D4B-A56354A74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0DA516-0285-6C3D-5F74-881A300DA3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100938-A8AE-EFE2-DEB7-DC2D0E652C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F98B0E-B10F-AF93-1DAD-5FFFCF40D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8CAE2E-AF8B-0C42-914A-63A92E17AD91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D0731B-3A8D-9E7D-9843-A8B8FA7DD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80B589-0197-73E9-FCAC-146196C21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0276-ADD0-244F-A0A3-C9BD9DC4FA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7366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4AC61-298D-1BE5-F999-DDC57E29D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C599F4-EC06-E319-7CE1-1EB3472F04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8CAE2E-AF8B-0C42-914A-63A92E17AD91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9AD22E-AF83-7DB0-1850-82E8C7595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AE6927-085D-5BC6-A6A0-A16C16DEA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0276-ADD0-244F-A0A3-C9BD9DC4FA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2547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0F880E-A688-973C-AA15-6FE036AFD8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8CAE2E-AF8B-0C42-914A-63A92E17AD91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C74D24-772C-BBDF-6C5A-00539DC0F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8DC97-2D3E-C84F-E50A-7AF9F9187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0276-ADD0-244F-A0A3-C9BD9DC4FA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97773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75768-240D-649A-0720-0AC7C6982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58ADB-FD82-4F39-5562-CC045D443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F4DEDD-0B33-E43B-5887-6608A074D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B31D80-21D4-C5CC-4D35-58D611E4E3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8CAE2E-AF8B-0C42-914A-63A92E17AD91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C98A58-41A6-27B8-999E-2E3A9A7F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3BC54-6CB4-829F-5982-4DEA1BB08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0276-ADD0-244F-A0A3-C9BD9DC4FA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2168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9E078-C160-427E-3883-BE35A9770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AFAF56-4DB3-6D20-29BB-DC0656F9F8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0E5D6A-23CC-3531-7C89-DC971F3571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DF020-EF02-4661-2DD3-4FE2C0DC8E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8CAE2E-AF8B-0C42-914A-63A92E17AD91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4338BD-AB74-2480-E375-529024711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71D7C8-891F-C81A-513A-0076AC0F0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0276-ADD0-244F-A0A3-C9BD9DC4FA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39752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46A99-A16A-2529-F669-D115CFAFE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A9B918-994C-2A63-6144-C2432A3158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64EBA-DA50-1D21-4859-02B7999AAE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8CAE2E-AF8B-0C42-914A-63A92E17AD91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DE324-CE11-454A-109D-26301FDEC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8EBD1-C5B6-33A1-A4C1-C2F8445CA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0276-ADD0-244F-A0A3-C9BD9DC4FA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75252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EBB477-DDC1-5071-FE57-E860ADCB1B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3F4ADF-2C93-4806-351D-DE82F8DC0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65067-B800-4F43-D739-B196B6C5A1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8CAE2E-AF8B-0C42-914A-63A92E17AD91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79C4A-1E07-FF0B-4DA3-F2267B21B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43DC4-2026-3747-5754-818989777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0276-ADD0-244F-A0A3-C9BD9DC4FA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7535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Aqu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D2EDFF12-4C2E-41A6-A76F-F37F01A629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837D66-8C51-4727-AFB4-4423A28420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463489" cy="1734882"/>
          </a:xfrm>
          <a:prstGeom prst="rect">
            <a:avLst/>
          </a:prstGeom>
        </p:spPr>
        <p:txBody>
          <a:bodyPr anchor="b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DIVIDER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718D0B-AD63-49A9-A96E-D08869E7E1E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98004" y="-9427"/>
            <a:ext cx="4595567" cy="6867426"/>
          </a:xfrm>
          <a:custGeom>
            <a:avLst/>
            <a:gdLst>
              <a:gd name="connsiteX0" fmla="*/ 0 w 4593996"/>
              <a:gd name="connsiteY0" fmla="*/ 6858000 h 6858000"/>
              <a:gd name="connsiteX1" fmla="*/ 1148499 w 4593996"/>
              <a:gd name="connsiteY1" fmla="*/ 0 h 6858000"/>
              <a:gd name="connsiteX2" fmla="*/ 3445497 w 4593996"/>
              <a:gd name="connsiteY2" fmla="*/ 0 h 6858000"/>
              <a:gd name="connsiteX3" fmla="*/ 4593996 w 4593996"/>
              <a:gd name="connsiteY3" fmla="*/ 6858000 h 6858000"/>
              <a:gd name="connsiteX4" fmla="*/ 0 w 4593996"/>
              <a:gd name="connsiteY4" fmla="*/ 6858000 h 6858000"/>
              <a:gd name="connsiteX0" fmla="*/ 0 w 4595567"/>
              <a:gd name="connsiteY0" fmla="*/ 6858000 h 6858000"/>
              <a:gd name="connsiteX1" fmla="*/ 1148499 w 4595567"/>
              <a:gd name="connsiteY1" fmla="*/ 0 h 6858000"/>
              <a:gd name="connsiteX2" fmla="*/ 4595567 w 4595567"/>
              <a:gd name="connsiteY2" fmla="*/ 9427 h 6858000"/>
              <a:gd name="connsiteX3" fmla="*/ 4593996 w 4595567"/>
              <a:gd name="connsiteY3" fmla="*/ 6858000 h 6858000"/>
              <a:gd name="connsiteX4" fmla="*/ 0 w 4595567"/>
              <a:gd name="connsiteY4" fmla="*/ 6858000 h 6858000"/>
              <a:gd name="connsiteX0" fmla="*/ 0 w 4595567"/>
              <a:gd name="connsiteY0" fmla="*/ 6867427 h 6867427"/>
              <a:gd name="connsiteX1" fmla="*/ 1572705 w 4595567"/>
              <a:gd name="connsiteY1" fmla="*/ 0 h 6867427"/>
              <a:gd name="connsiteX2" fmla="*/ 4595567 w 4595567"/>
              <a:gd name="connsiteY2" fmla="*/ 18854 h 6867427"/>
              <a:gd name="connsiteX3" fmla="*/ 4593996 w 4595567"/>
              <a:gd name="connsiteY3" fmla="*/ 6867427 h 6867427"/>
              <a:gd name="connsiteX4" fmla="*/ 0 w 4595567"/>
              <a:gd name="connsiteY4" fmla="*/ 6867427 h 6867427"/>
              <a:gd name="connsiteX0" fmla="*/ 0 w 4595567"/>
              <a:gd name="connsiteY0" fmla="*/ 6848573 h 6848573"/>
              <a:gd name="connsiteX1" fmla="*/ 1563278 w 4595567"/>
              <a:gd name="connsiteY1" fmla="*/ 9426 h 6848573"/>
              <a:gd name="connsiteX2" fmla="*/ 4595567 w 4595567"/>
              <a:gd name="connsiteY2" fmla="*/ 0 h 6848573"/>
              <a:gd name="connsiteX3" fmla="*/ 4593996 w 4595567"/>
              <a:gd name="connsiteY3" fmla="*/ 6848573 h 6848573"/>
              <a:gd name="connsiteX4" fmla="*/ 0 w 4595567"/>
              <a:gd name="connsiteY4" fmla="*/ 6848573 h 6848573"/>
              <a:gd name="connsiteX0" fmla="*/ 0 w 4595567"/>
              <a:gd name="connsiteY0" fmla="*/ 6848573 h 6848573"/>
              <a:gd name="connsiteX1" fmla="*/ 1563278 w 4595567"/>
              <a:gd name="connsiteY1" fmla="*/ 9426 h 6848573"/>
              <a:gd name="connsiteX2" fmla="*/ 4595567 w 4595567"/>
              <a:gd name="connsiteY2" fmla="*/ 0 h 6848573"/>
              <a:gd name="connsiteX3" fmla="*/ 4593996 w 4595567"/>
              <a:gd name="connsiteY3" fmla="*/ 6848573 h 6848573"/>
              <a:gd name="connsiteX4" fmla="*/ 0 w 4595567"/>
              <a:gd name="connsiteY4" fmla="*/ 6848573 h 6848573"/>
              <a:gd name="connsiteX0" fmla="*/ 0 w 4595567"/>
              <a:gd name="connsiteY0" fmla="*/ 6858001 h 6858001"/>
              <a:gd name="connsiteX1" fmla="*/ 1563278 w 4595567"/>
              <a:gd name="connsiteY1" fmla="*/ 0 h 6858001"/>
              <a:gd name="connsiteX2" fmla="*/ 4595567 w 4595567"/>
              <a:gd name="connsiteY2" fmla="*/ 9428 h 6858001"/>
              <a:gd name="connsiteX3" fmla="*/ 4593996 w 4595567"/>
              <a:gd name="connsiteY3" fmla="*/ 6858001 h 6858001"/>
              <a:gd name="connsiteX4" fmla="*/ 0 w 4595567"/>
              <a:gd name="connsiteY4" fmla="*/ 6858001 h 6858001"/>
              <a:gd name="connsiteX0" fmla="*/ 0 w 4595567"/>
              <a:gd name="connsiteY0" fmla="*/ 6867426 h 6867426"/>
              <a:gd name="connsiteX1" fmla="*/ 1563278 w 4595567"/>
              <a:gd name="connsiteY1" fmla="*/ 9425 h 6867426"/>
              <a:gd name="connsiteX2" fmla="*/ 4595567 w 4595567"/>
              <a:gd name="connsiteY2" fmla="*/ 0 h 6867426"/>
              <a:gd name="connsiteX3" fmla="*/ 4593996 w 4595567"/>
              <a:gd name="connsiteY3" fmla="*/ 6867426 h 6867426"/>
              <a:gd name="connsiteX4" fmla="*/ 0 w 4595567"/>
              <a:gd name="connsiteY4" fmla="*/ 6867426 h 6867426"/>
              <a:gd name="connsiteX0" fmla="*/ 0 w 4595567"/>
              <a:gd name="connsiteY0" fmla="*/ 6867426 h 6867426"/>
              <a:gd name="connsiteX1" fmla="*/ 1563278 w 4595567"/>
              <a:gd name="connsiteY1" fmla="*/ 9425 h 6867426"/>
              <a:gd name="connsiteX2" fmla="*/ 4595567 w 4595567"/>
              <a:gd name="connsiteY2" fmla="*/ 0 h 6867426"/>
              <a:gd name="connsiteX3" fmla="*/ 4593996 w 4595567"/>
              <a:gd name="connsiteY3" fmla="*/ 6867426 h 6867426"/>
              <a:gd name="connsiteX4" fmla="*/ 0 w 4595567"/>
              <a:gd name="connsiteY4" fmla="*/ 6867426 h 686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5567" h="6867426">
                <a:moveTo>
                  <a:pt x="0" y="6867426"/>
                </a:moveTo>
                <a:lnTo>
                  <a:pt x="1563278" y="9425"/>
                </a:lnTo>
                <a:lnTo>
                  <a:pt x="4595567" y="0"/>
                </a:lnTo>
                <a:cubicBezTo>
                  <a:pt x="4595043" y="2282858"/>
                  <a:pt x="4594520" y="4584568"/>
                  <a:pt x="4593996" y="6867426"/>
                </a:cubicBezTo>
                <a:lnTo>
                  <a:pt x="0" y="6867426"/>
                </a:lnTo>
                <a:close/>
              </a:path>
            </a:pathLst>
          </a:custGeo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/>
              <a:t>You can add a picture here if you’d like to.</a:t>
            </a:r>
          </a:p>
        </p:txBody>
      </p:sp>
      <p:pic>
        <p:nvPicPr>
          <p:cNvPr id="12" name="Picture 11" descr="Shape&#10;&#10;Description automatically generated">
            <a:extLst>
              <a:ext uri="{FF2B5EF4-FFF2-40B4-BE49-F238E27FC236}">
                <a16:creationId xmlns:a16="http://schemas.microsoft.com/office/drawing/2014/main" id="{A56B8CF1-49D5-407A-876E-C96764C295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>
            <a:off x="11313886" y="6311900"/>
            <a:ext cx="878114" cy="456152"/>
          </a:xfrm>
          <a:prstGeom prst="rect">
            <a:avLst/>
          </a:prstGeom>
        </p:spPr>
      </p:pic>
      <p:sp>
        <p:nvSpPr>
          <p:cNvPr id="14" name="Parallelogram 13">
            <a:extLst>
              <a:ext uri="{FF2B5EF4-FFF2-40B4-BE49-F238E27FC236}">
                <a16:creationId xmlns:a16="http://schemas.microsoft.com/office/drawing/2014/main" id="{536E8E01-9E8C-477B-A8A3-219BEDA6C830}"/>
              </a:ext>
            </a:extLst>
          </p:cNvPr>
          <p:cNvSpPr/>
          <p:nvPr userDrawn="1"/>
        </p:nvSpPr>
        <p:spPr>
          <a:xfrm>
            <a:off x="11441151" y="6352143"/>
            <a:ext cx="646771" cy="365125"/>
          </a:xfrm>
          <a:prstGeom prst="parallelogram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D305E89-7D6B-4507-9DEF-B925B3E1986F}" type="slidenum">
              <a:rPr lang="en-GB" sz="18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endParaRPr lang="en-GB" sz="16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034E76-C937-466A-5196-2F787078004E}"/>
              </a:ext>
            </a:extLst>
          </p:cNvPr>
          <p:cNvSpPr txBox="1"/>
          <p:nvPr userDrawn="1"/>
        </p:nvSpPr>
        <p:spPr>
          <a:xfrm>
            <a:off x="324136" y="6155214"/>
            <a:ext cx="3005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bristol.ac.uk/careers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534BDA-EC83-AAE6-F7EC-2B3A1429CA1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1800" y="478007"/>
            <a:ext cx="2413000" cy="111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4817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Aqua - Dark - Kot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FDB4677-CCD7-4B98-9876-BE980296BC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pic>
        <p:nvPicPr>
          <p:cNvPr id="12" name="Picture 11" descr="A picture containing person, posing&#10;&#10;Description automatically generated">
            <a:extLst>
              <a:ext uri="{FF2B5EF4-FFF2-40B4-BE49-F238E27FC236}">
                <a16:creationId xmlns:a16="http://schemas.microsoft.com/office/drawing/2014/main" id="{AF64D337-B5E4-4CA0-A45B-D8A260C025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0764" y="1185014"/>
            <a:ext cx="4001236" cy="5672986"/>
          </a:xfrm>
          <a:prstGeom prst="rect">
            <a:avLst/>
          </a:prstGeom>
        </p:spPr>
      </p:pic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863C81AD-4C05-4F8E-8740-48D44F7044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1800" y="478007"/>
            <a:ext cx="2413000" cy="1116638"/>
          </a:xfrm>
          <a:prstGeom prst="rect">
            <a:avLst/>
          </a:prstGeom>
        </p:spPr>
      </p:pic>
      <p:sp>
        <p:nvSpPr>
          <p:cNvPr id="24" name="Subtitle 2">
            <a:extLst>
              <a:ext uri="{FF2B5EF4-FFF2-40B4-BE49-F238E27FC236}">
                <a16:creationId xmlns:a16="http://schemas.microsoft.com/office/drawing/2014/main" id="{9D46931A-C3F4-4243-9B9B-1C15E0192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5644" y="4470400"/>
            <a:ext cx="7360074" cy="133032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8888C6A6-4992-462A-AFE7-9C61917031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617526" cy="2387600"/>
          </a:xfrm>
          <a:prstGeom prst="rect">
            <a:avLst/>
          </a:prstGeo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128B30-4807-9D39-4E68-C472E1B05535}"/>
              </a:ext>
            </a:extLst>
          </p:cNvPr>
          <p:cNvSpPr txBox="1"/>
          <p:nvPr userDrawn="1"/>
        </p:nvSpPr>
        <p:spPr>
          <a:xfrm>
            <a:off x="324136" y="6155214"/>
            <a:ext cx="3005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bristol.ac.uk/careers</a:t>
            </a:r>
          </a:p>
        </p:txBody>
      </p:sp>
    </p:spTree>
    <p:extLst>
      <p:ext uri="{BB962C8B-B14F-4D97-AF65-F5344CB8AC3E}">
        <p14:creationId xmlns:p14="http://schemas.microsoft.com/office/powerpoint/2010/main" val="22973773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- Aqua - Dark - Kota">
    <p:bg>
      <p:bgPr>
        <a:solidFill>
          <a:srgbClr val="00C0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FDB4677-CCD7-4B98-9876-BE980296BC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pic>
        <p:nvPicPr>
          <p:cNvPr id="12" name="Picture 11" descr="A picture containing person, posing&#10;&#10;Description automatically generated">
            <a:extLst>
              <a:ext uri="{FF2B5EF4-FFF2-40B4-BE49-F238E27FC236}">
                <a16:creationId xmlns:a16="http://schemas.microsoft.com/office/drawing/2014/main" id="{AF64D337-B5E4-4CA0-A45B-D8A260C025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0764" y="1185014"/>
            <a:ext cx="4001236" cy="5672986"/>
          </a:xfrm>
          <a:prstGeom prst="rect">
            <a:avLst/>
          </a:prstGeom>
        </p:spPr>
      </p:pic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863C81AD-4C05-4F8E-8740-48D44F7044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1800" y="478007"/>
            <a:ext cx="2413000" cy="1116638"/>
          </a:xfrm>
          <a:prstGeom prst="rect">
            <a:avLst/>
          </a:prstGeom>
        </p:spPr>
      </p:pic>
      <p:sp>
        <p:nvSpPr>
          <p:cNvPr id="24" name="Subtitle 2">
            <a:extLst>
              <a:ext uri="{FF2B5EF4-FFF2-40B4-BE49-F238E27FC236}">
                <a16:creationId xmlns:a16="http://schemas.microsoft.com/office/drawing/2014/main" id="{9D46931A-C3F4-4243-9B9B-1C15E0192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5644" y="4470400"/>
            <a:ext cx="7360074" cy="133032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8888C6A6-4992-462A-AFE7-9C61917031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617526" cy="2387600"/>
          </a:xfrm>
          <a:prstGeom prst="rect">
            <a:avLst/>
          </a:prstGeo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128B30-4807-9D39-4E68-C472E1B05535}"/>
              </a:ext>
            </a:extLst>
          </p:cNvPr>
          <p:cNvSpPr txBox="1"/>
          <p:nvPr userDrawn="1"/>
        </p:nvSpPr>
        <p:spPr>
          <a:xfrm>
            <a:off x="324136" y="6155214"/>
            <a:ext cx="3005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bristol.ac.uk/careers</a:t>
            </a:r>
          </a:p>
        </p:txBody>
      </p:sp>
    </p:spTree>
    <p:extLst>
      <p:ext uri="{BB962C8B-B14F-4D97-AF65-F5344CB8AC3E}">
        <p14:creationId xmlns:p14="http://schemas.microsoft.com/office/powerpoint/2010/main" val="30171190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Aqua - Dark - Georgi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EE10C21A-7D52-4234-9D3F-6D7568C8C7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9C9683-C4EE-4CDB-926F-A466067C28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91863" y="1468096"/>
            <a:ext cx="4500138" cy="5389904"/>
          </a:xfrm>
          <a:prstGeom prst="rect">
            <a:avLst/>
          </a:prstGeom>
        </p:spPr>
      </p:pic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863C81AD-4C05-4F8E-8740-48D44F7044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1800" y="478007"/>
            <a:ext cx="2413000" cy="111663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4331AEE-EFF3-4D92-ADEF-F54764D406A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617526" cy="2387600"/>
          </a:xfrm>
          <a:prstGeom prst="rect">
            <a:avLst/>
          </a:prstGeo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7D00D1BA-CF58-41CB-9B12-F833EACBFD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5644" y="4470400"/>
            <a:ext cx="7360074" cy="133032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FFCB99-EF22-DFE4-9393-122138B042CD}"/>
              </a:ext>
            </a:extLst>
          </p:cNvPr>
          <p:cNvSpPr txBox="1"/>
          <p:nvPr userDrawn="1"/>
        </p:nvSpPr>
        <p:spPr>
          <a:xfrm>
            <a:off x="324136" y="6155214"/>
            <a:ext cx="3005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bristol.ac.uk/careers</a:t>
            </a:r>
          </a:p>
        </p:txBody>
      </p:sp>
    </p:spTree>
    <p:extLst>
      <p:ext uri="{BB962C8B-B14F-4D97-AF65-F5344CB8AC3E}">
        <p14:creationId xmlns:p14="http://schemas.microsoft.com/office/powerpoint/2010/main" val="37073339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- Aqua - Dark - Georgia">
    <p:bg>
      <p:bgPr>
        <a:solidFill>
          <a:srgbClr val="00C0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EE10C21A-7D52-4234-9D3F-6D7568C8C7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9C9683-C4EE-4CDB-926F-A466067C28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91863" y="1468096"/>
            <a:ext cx="4500138" cy="5389904"/>
          </a:xfrm>
          <a:prstGeom prst="rect">
            <a:avLst/>
          </a:prstGeom>
        </p:spPr>
      </p:pic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863C81AD-4C05-4F8E-8740-48D44F7044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1800" y="478007"/>
            <a:ext cx="2413000" cy="111663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4331AEE-EFF3-4D92-ADEF-F54764D406A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617526" cy="2387600"/>
          </a:xfrm>
          <a:prstGeom prst="rect">
            <a:avLst/>
          </a:prstGeo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7D00D1BA-CF58-41CB-9B12-F833EACBFD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5644" y="4470400"/>
            <a:ext cx="7360074" cy="133032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FFCB99-EF22-DFE4-9393-122138B042CD}"/>
              </a:ext>
            </a:extLst>
          </p:cNvPr>
          <p:cNvSpPr txBox="1"/>
          <p:nvPr userDrawn="1"/>
        </p:nvSpPr>
        <p:spPr>
          <a:xfrm>
            <a:off x="324136" y="6155214"/>
            <a:ext cx="3005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bristol.ac.uk/careers</a:t>
            </a:r>
          </a:p>
        </p:txBody>
      </p:sp>
    </p:spTree>
    <p:extLst>
      <p:ext uri="{BB962C8B-B14F-4D97-AF65-F5344CB8AC3E}">
        <p14:creationId xmlns:p14="http://schemas.microsoft.com/office/powerpoint/2010/main" val="11466820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Aqua -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5D0771F3-B57B-4FE3-A35A-D65A1C5773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863C81AD-4C05-4F8E-8740-48D44F7044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1800" y="478007"/>
            <a:ext cx="2413000" cy="1116638"/>
          </a:xfrm>
          <a:prstGeom prst="rect">
            <a:avLst/>
          </a:prstGeom>
        </p:spPr>
      </p:pic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0CF613C0-582F-4921-9189-0ACA24A6362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596433" y="0"/>
            <a:ext cx="4595567" cy="6858000"/>
          </a:xfrm>
          <a:custGeom>
            <a:avLst/>
            <a:gdLst>
              <a:gd name="connsiteX0" fmla="*/ 0 w 4593996"/>
              <a:gd name="connsiteY0" fmla="*/ 6858000 h 6858000"/>
              <a:gd name="connsiteX1" fmla="*/ 1148499 w 4593996"/>
              <a:gd name="connsiteY1" fmla="*/ 0 h 6858000"/>
              <a:gd name="connsiteX2" fmla="*/ 3445497 w 4593996"/>
              <a:gd name="connsiteY2" fmla="*/ 0 h 6858000"/>
              <a:gd name="connsiteX3" fmla="*/ 4593996 w 4593996"/>
              <a:gd name="connsiteY3" fmla="*/ 6858000 h 6858000"/>
              <a:gd name="connsiteX4" fmla="*/ 0 w 4593996"/>
              <a:gd name="connsiteY4" fmla="*/ 6858000 h 6858000"/>
              <a:gd name="connsiteX0" fmla="*/ 0 w 4595567"/>
              <a:gd name="connsiteY0" fmla="*/ 6858000 h 6858000"/>
              <a:gd name="connsiteX1" fmla="*/ 1148499 w 4595567"/>
              <a:gd name="connsiteY1" fmla="*/ 0 h 6858000"/>
              <a:gd name="connsiteX2" fmla="*/ 4595567 w 4595567"/>
              <a:gd name="connsiteY2" fmla="*/ 9427 h 6858000"/>
              <a:gd name="connsiteX3" fmla="*/ 4593996 w 4595567"/>
              <a:gd name="connsiteY3" fmla="*/ 6858000 h 6858000"/>
              <a:gd name="connsiteX4" fmla="*/ 0 w 4595567"/>
              <a:gd name="connsiteY4" fmla="*/ 6858000 h 6858000"/>
              <a:gd name="connsiteX0" fmla="*/ 0 w 4595567"/>
              <a:gd name="connsiteY0" fmla="*/ 6867427 h 6867427"/>
              <a:gd name="connsiteX1" fmla="*/ 1572705 w 4595567"/>
              <a:gd name="connsiteY1" fmla="*/ 0 h 6867427"/>
              <a:gd name="connsiteX2" fmla="*/ 4595567 w 4595567"/>
              <a:gd name="connsiteY2" fmla="*/ 18854 h 6867427"/>
              <a:gd name="connsiteX3" fmla="*/ 4593996 w 4595567"/>
              <a:gd name="connsiteY3" fmla="*/ 6867427 h 6867427"/>
              <a:gd name="connsiteX4" fmla="*/ 0 w 4595567"/>
              <a:gd name="connsiteY4" fmla="*/ 6867427 h 6867427"/>
              <a:gd name="connsiteX0" fmla="*/ 0 w 4595567"/>
              <a:gd name="connsiteY0" fmla="*/ 6848573 h 6848573"/>
              <a:gd name="connsiteX1" fmla="*/ 1563278 w 4595567"/>
              <a:gd name="connsiteY1" fmla="*/ 9426 h 6848573"/>
              <a:gd name="connsiteX2" fmla="*/ 4595567 w 4595567"/>
              <a:gd name="connsiteY2" fmla="*/ 0 h 6848573"/>
              <a:gd name="connsiteX3" fmla="*/ 4593996 w 4595567"/>
              <a:gd name="connsiteY3" fmla="*/ 6848573 h 6848573"/>
              <a:gd name="connsiteX4" fmla="*/ 0 w 4595567"/>
              <a:gd name="connsiteY4" fmla="*/ 6848573 h 6848573"/>
              <a:gd name="connsiteX0" fmla="*/ 0 w 4595567"/>
              <a:gd name="connsiteY0" fmla="*/ 6848573 h 6848573"/>
              <a:gd name="connsiteX1" fmla="*/ 1563278 w 4595567"/>
              <a:gd name="connsiteY1" fmla="*/ 9426 h 6848573"/>
              <a:gd name="connsiteX2" fmla="*/ 4595567 w 4595567"/>
              <a:gd name="connsiteY2" fmla="*/ 0 h 6848573"/>
              <a:gd name="connsiteX3" fmla="*/ 4593996 w 4595567"/>
              <a:gd name="connsiteY3" fmla="*/ 6848573 h 6848573"/>
              <a:gd name="connsiteX4" fmla="*/ 0 w 4595567"/>
              <a:gd name="connsiteY4" fmla="*/ 6848573 h 6848573"/>
              <a:gd name="connsiteX0" fmla="*/ 0 w 4595567"/>
              <a:gd name="connsiteY0" fmla="*/ 6858001 h 6858001"/>
              <a:gd name="connsiteX1" fmla="*/ 1563278 w 4595567"/>
              <a:gd name="connsiteY1" fmla="*/ 0 h 6858001"/>
              <a:gd name="connsiteX2" fmla="*/ 4595567 w 4595567"/>
              <a:gd name="connsiteY2" fmla="*/ 9428 h 6858001"/>
              <a:gd name="connsiteX3" fmla="*/ 4593996 w 4595567"/>
              <a:gd name="connsiteY3" fmla="*/ 6858001 h 6858001"/>
              <a:gd name="connsiteX4" fmla="*/ 0 w 4595567"/>
              <a:gd name="connsiteY4" fmla="*/ 6858001 h 6858001"/>
              <a:gd name="connsiteX0" fmla="*/ 0 w 4595567"/>
              <a:gd name="connsiteY0" fmla="*/ 6867426 h 6867426"/>
              <a:gd name="connsiteX1" fmla="*/ 1563278 w 4595567"/>
              <a:gd name="connsiteY1" fmla="*/ 9425 h 6867426"/>
              <a:gd name="connsiteX2" fmla="*/ 4595567 w 4595567"/>
              <a:gd name="connsiteY2" fmla="*/ 0 h 6867426"/>
              <a:gd name="connsiteX3" fmla="*/ 4593996 w 4595567"/>
              <a:gd name="connsiteY3" fmla="*/ 6867426 h 6867426"/>
              <a:gd name="connsiteX4" fmla="*/ 0 w 4595567"/>
              <a:gd name="connsiteY4" fmla="*/ 6867426 h 6867426"/>
              <a:gd name="connsiteX0" fmla="*/ 0 w 4595567"/>
              <a:gd name="connsiteY0" fmla="*/ 6867426 h 6867426"/>
              <a:gd name="connsiteX1" fmla="*/ 1563278 w 4595567"/>
              <a:gd name="connsiteY1" fmla="*/ 9425 h 6867426"/>
              <a:gd name="connsiteX2" fmla="*/ 4595567 w 4595567"/>
              <a:gd name="connsiteY2" fmla="*/ 0 h 6867426"/>
              <a:gd name="connsiteX3" fmla="*/ 4593996 w 4595567"/>
              <a:gd name="connsiteY3" fmla="*/ 6867426 h 6867426"/>
              <a:gd name="connsiteX4" fmla="*/ 0 w 4595567"/>
              <a:gd name="connsiteY4" fmla="*/ 6867426 h 686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5567" h="6867426">
                <a:moveTo>
                  <a:pt x="0" y="6867426"/>
                </a:moveTo>
                <a:lnTo>
                  <a:pt x="1563278" y="9425"/>
                </a:lnTo>
                <a:lnTo>
                  <a:pt x="4595567" y="0"/>
                </a:lnTo>
                <a:cubicBezTo>
                  <a:pt x="4595043" y="2282858"/>
                  <a:pt x="4594520" y="4584568"/>
                  <a:pt x="4593996" y="6867426"/>
                </a:cubicBezTo>
                <a:lnTo>
                  <a:pt x="0" y="6867426"/>
                </a:lnTo>
                <a:close/>
              </a:path>
            </a:pathLst>
          </a:custGeo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/>
              <a:t>You can add a picture here if you’d like to.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8D1CDD7-92FF-49EF-BF52-8285EC29B78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617526" cy="2387600"/>
          </a:xfrm>
          <a:prstGeom prst="rect">
            <a:avLst/>
          </a:prstGeo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87C0008-F248-48D0-8D9E-15BE2C9463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5644" y="4470400"/>
            <a:ext cx="7360074" cy="133032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684682-AB27-BFDF-4B38-6C1657784DEE}"/>
              </a:ext>
            </a:extLst>
          </p:cNvPr>
          <p:cNvSpPr txBox="1"/>
          <p:nvPr userDrawn="1"/>
        </p:nvSpPr>
        <p:spPr>
          <a:xfrm>
            <a:off x="324136" y="6155214"/>
            <a:ext cx="3005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bristol.ac.uk/careers</a:t>
            </a:r>
          </a:p>
        </p:txBody>
      </p:sp>
    </p:spTree>
    <p:extLst>
      <p:ext uri="{BB962C8B-B14F-4D97-AF65-F5344CB8AC3E}">
        <p14:creationId xmlns:p14="http://schemas.microsoft.com/office/powerpoint/2010/main" val="30035016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- Aqua - Dark">
    <p:bg>
      <p:bgPr>
        <a:solidFill>
          <a:srgbClr val="00C0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5D0771F3-B57B-4FE3-A35A-D65A1C5773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863C81AD-4C05-4F8E-8740-48D44F7044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1800" y="478007"/>
            <a:ext cx="2413000" cy="1116638"/>
          </a:xfrm>
          <a:prstGeom prst="rect">
            <a:avLst/>
          </a:prstGeom>
        </p:spPr>
      </p:pic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0CF613C0-582F-4921-9189-0ACA24A6362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596433" y="0"/>
            <a:ext cx="4595567" cy="6858000"/>
          </a:xfrm>
          <a:custGeom>
            <a:avLst/>
            <a:gdLst>
              <a:gd name="connsiteX0" fmla="*/ 0 w 4593996"/>
              <a:gd name="connsiteY0" fmla="*/ 6858000 h 6858000"/>
              <a:gd name="connsiteX1" fmla="*/ 1148499 w 4593996"/>
              <a:gd name="connsiteY1" fmla="*/ 0 h 6858000"/>
              <a:gd name="connsiteX2" fmla="*/ 3445497 w 4593996"/>
              <a:gd name="connsiteY2" fmla="*/ 0 h 6858000"/>
              <a:gd name="connsiteX3" fmla="*/ 4593996 w 4593996"/>
              <a:gd name="connsiteY3" fmla="*/ 6858000 h 6858000"/>
              <a:gd name="connsiteX4" fmla="*/ 0 w 4593996"/>
              <a:gd name="connsiteY4" fmla="*/ 6858000 h 6858000"/>
              <a:gd name="connsiteX0" fmla="*/ 0 w 4595567"/>
              <a:gd name="connsiteY0" fmla="*/ 6858000 h 6858000"/>
              <a:gd name="connsiteX1" fmla="*/ 1148499 w 4595567"/>
              <a:gd name="connsiteY1" fmla="*/ 0 h 6858000"/>
              <a:gd name="connsiteX2" fmla="*/ 4595567 w 4595567"/>
              <a:gd name="connsiteY2" fmla="*/ 9427 h 6858000"/>
              <a:gd name="connsiteX3" fmla="*/ 4593996 w 4595567"/>
              <a:gd name="connsiteY3" fmla="*/ 6858000 h 6858000"/>
              <a:gd name="connsiteX4" fmla="*/ 0 w 4595567"/>
              <a:gd name="connsiteY4" fmla="*/ 6858000 h 6858000"/>
              <a:gd name="connsiteX0" fmla="*/ 0 w 4595567"/>
              <a:gd name="connsiteY0" fmla="*/ 6867427 h 6867427"/>
              <a:gd name="connsiteX1" fmla="*/ 1572705 w 4595567"/>
              <a:gd name="connsiteY1" fmla="*/ 0 h 6867427"/>
              <a:gd name="connsiteX2" fmla="*/ 4595567 w 4595567"/>
              <a:gd name="connsiteY2" fmla="*/ 18854 h 6867427"/>
              <a:gd name="connsiteX3" fmla="*/ 4593996 w 4595567"/>
              <a:gd name="connsiteY3" fmla="*/ 6867427 h 6867427"/>
              <a:gd name="connsiteX4" fmla="*/ 0 w 4595567"/>
              <a:gd name="connsiteY4" fmla="*/ 6867427 h 6867427"/>
              <a:gd name="connsiteX0" fmla="*/ 0 w 4595567"/>
              <a:gd name="connsiteY0" fmla="*/ 6848573 h 6848573"/>
              <a:gd name="connsiteX1" fmla="*/ 1563278 w 4595567"/>
              <a:gd name="connsiteY1" fmla="*/ 9426 h 6848573"/>
              <a:gd name="connsiteX2" fmla="*/ 4595567 w 4595567"/>
              <a:gd name="connsiteY2" fmla="*/ 0 h 6848573"/>
              <a:gd name="connsiteX3" fmla="*/ 4593996 w 4595567"/>
              <a:gd name="connsiteY3" fmla="*/ 6848573 h 6848573"/>
              <a:gd name="connsiteX4" fmla="*/ 0 w 4595567"/>
              <a:gd name="connsiteY4" fmla="*/ 6848573 h 6848573"/>
              <a:gd name="connsiteX0" fmla="*/ 0 w 4595567"/>
              <a:gd name="connsiteY0" fmla="*/ 6848573 h 6848573"/>
              <a:gd name="connsiteX1" fmla="*/ 1563278 w 4595567"/>
              <a:gd name="connsiteY1" fmla="*/ 9426 h 6848573"/>
              <a:gd name="connsiteX2" fmla="*/ 4595567 w 4595567"/>
              <a:gd name="connsiteY2" fmla="*/ 0 h 6848573"/>
              <a:gd name="connsiteX3" fmla="*/ 4593996 w 4595567"/>
              <a:gd name="connsiteY3" fmla="*/ 6848573 h 6848573"/>
              <a:gd name="connsiteX4" fmla="*/ 0 w 4595567"/>
              <a:gd name="connsiteY4" fmla="*/ 6848573 h 6848573"/>
              <a:gd name="connsiteX0" fmla="*/ 0 w 4595567"/>
              <a:gd name="connsiteY0" fmla="*/ 6858001 h 6858001"/>
              <a:gd name="connsiteX1" fmla="*/ 1563278 w 4595567"/>
              <a:gd name="connsiteY1" fmla="*/ 0 h 6858001"/>
              <a:gd name="connsiteX2" fmla="*/ 4595567 w 4595567"/>
              <a:gd name="connsiteY2" fmla="*/ 9428 h 6858001"/>
              <a:gd name="connsiteX3" fmla="*/ 4593996 w 4595567"/>
              <a:gd name="connsiteY3" fmla="*/ 6858001 h 6858001"/>
              <a:gd name="connsiteX4" fmla="*/ 0 w 4595567"/>
              <a:gd name="connsiteY4" fmla="*/ 6858001 h 6858001"/>
              <a:gd name="connsiteX0" fmla="*/ 0 w 4595567"/>
              <a:gd name="connsiteY0" fmla="*/ 6867426 h 6867426"/>
              <a:gd name="connsiteX1" fmla="*/ 1563278 w 4595567"/>
              <a:gd name="connsiteY1" fmla="*/ 9425 h 6867426"/>
              <a:gd name="connsiteX2" fmla="*/ 4595567 w 4595567"/>
              <a:gd name="connsiteY2" fmla="*/ 0 h 6867426"/>
              <a:gd name="connsiteX3" fmla="*/ 4593996 w 4595567"/>
              <a:gd name="connsiteY3" fmla="*/ 6867426 h 6867426"/>
              <a:gd name="connsiteX4" fmla="*/ 0 w 4595567"/>
              <a:gd name="connsiteY4" fmla="*/ 6867426 h 6867426"/>
              <a:gd name="connsiteX0" fmla="*/ 0 w 4595567"/>
              <a:gd name="connsiteY0" fmla="*/ 6867426 h 6867426"/>
              <a:gd name="connsiteX1" fmla="*/ 1563278 w 4595567"/>
              <a:gd name="connsiteY1" fmla="*/ 9425 h 6867426"/>
              <a:gd name="connsiteX2" fmla="*/ 4595567 w 4595567"/>
              <a:gd name="connsiteY2" fmla="*/ 0 h 6867426"/>
              <a:gd name="connsiteX3" fmla="*/ 4593996 w 4595567"/>
              <a:gd name="connsiteY3" fmla="*/ 6867426 h 6867426"/>
              <a:gd name="connsiteX4" fmla="*/ 0 w 4595567"/>
              <a:gd name="connsiteY4" fmla="*/ 6867426 h 686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5567" h="6867426">
                <a:moveTo>
                  <a:pt x="0" y="6867426"/>
                </a:moveTo>
                <a:lnTo>
                  <a:pt x="1563278" y="9425"/>
                </a:lnTo>
                <a:lnTo>
                  <a:pt x="4595567" y="0"/>
                </a:lnTo>
                <a:cubicBezTo>
                  <a:pt x="4595043" y="2282858"/>
                  <a:pt x="4594520" y="4584568"/>
                  <a:pt x="4593996" y="6867426"/>
                </a:cubicBezTo>
                <a:lnTo>
                  <a:pt x="0" y="6867426"/>
                </a:lnTo>
                <a:close/>
              </a:path>
            </a:pathLst>
          </a:custGeo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/>
              <a:t>You can add a picture here if you’d like to.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8D1CDD7-92FF-49EF-BF52-8285EC29B78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617526" cy="2387600"/>
          </a:xfrm>
          <a:prstGeom prst="rect">
            <a:avLst/>
          </a:prstGeo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87C0008-F248-48D0-8D9E-15BE2C9463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5644" y="4470400"/>
            <a:ext cx="7360074" cy="133032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684682-AB27-BFDF-4B38-6C1657784DEE}"/>
              </a:ext>
            </a:extLst>
          </p:cNvPr>
          <p:cNvSpPr txBox="1"/>
          <p:nvPr userDrawn="1"/>
        </p:nvSpPr>
        <p:spPr>
          <a:xfrm>
            <a:off x="324136" y="6155214"/>
            <a:ext cx="3005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bristol.ac.uk/careers</a:t>
            </a:r>
          </a:p>
        </p:txBody>
      </p:sp>
    </p:spTree>
    <p:extLst>
      <p:ext uri="{BB962C8B-B14F-4D97-AF65-F5344CB8AC3E}">
        <p14:creationId xmlns:p14="http://schemas.microsoft.com/office/powerpoint/2010/main" val="29667537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Bright Aqua - K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A4FA1AD-414E-4AF6-B15F-BD3C463A3E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3C81AD-4C05-4F8E-8740-48D44F7044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4693" y="456757"/>
            <a:ext cx="2400107" cy="114355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BC7B2B7-4DD8-4A3E-809F-088A9348405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617526" cy="2387600"/>
          </a:xfrm>
          <a:prstGeom prst="rect">
            <a:avLst/>
          </a:prstGeom>
        </p:spPr>
        <p:txBody>
          <a:bodyPr anchor="b"/>
          <a:lstStyle>
            <a:lvl1pPr algn="l"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1" name="Picture 10" descr="A picture containing person, posing&#10;&#10;Description automatically generated">
            <a:extLst>
              <a:ext uri="{FF2B5EF4-FFF2-40B4-BE49-F238E27FC236}">
                <a16:creationId xmlns:a16="http://schemas.microsoft.com/office/drawing/2014/main" id="{3A3F3F27-2FD3-4F42-A275-0EA23449895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0764" y="1185014"/>
            <a:ext cx="4001236" cy="5672986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AE9D8121-7AEA-4256-940E-7B5DF46760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5644" y="4470400"/>
            <a:ext cx="7360074" cy="133032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" name="Rectangle 1">
            <a:hlinkClick r:id="rId5"/>
            <a:extLst>
              <a:ext uri="{FF2B5EF4-FFF2-40B4-BE49-F238E27FC236}">
                <a16:creationId xmlns:a16="http://schemas.microsoft.com/office/drawing/2014/main" id="{D4A38661-7B0B-43FB-A016-803823DF4DB2}"/>
              </a:ext>
            </a:extLst>
          </p:cNvPr>
          <p:cNvSpPr/>
          <p:nvPr userDrawn="1"/>
        </p:nvSpPr>
        <p:spPr>
          <a:xfrm>
            <a:off x="425643" y="6365289"/>
            <a:ext cx="2894606" cy="3462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37428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Bright Aqua - Georg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63C81AD-4C05-4F8E-8740-48D44F7044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4693" y="456757"/>
            <a:ext cx="2400107" cy="114355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05E1DE6-0B36-4A78-9AF8-0760FCF96E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617526" cy="2387600"/>
          </a:xfrm>
          <a:prstGeom prst="rect">
            <a:avLst/>
          </a:prstGeom>
        </p:spPr>
        <p:txBody>
          <a:bodyPr anchor="b"/>
          <a:lstStyle>
            <a:lvl1pPr algn="l">
              <a:defRPr sz="4800"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A522374-A587-489E-8819-61FDF7006EA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5644" y="4470400"/>
            <a:ext cx="7360074" cy="133032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578D518-25D3-4626-9D74-1C0A855868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157594-3B2C-4D04-A8D9-81538494BE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91863" y="1468096"/>
            <a:ext cx="4500138" cy="538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3636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Bright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63C81AD-4C05-4F8E-8740-48D44F7044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4693" y="456757"/>
            <a:ext cx="2400107" cy="114355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FB8EF58-D132-4D5B-95D0-877F7A9E50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617526" cy="2387600"/>
          </a:xfrm>
          <a:prstGeom prst="rect">
            <a:avLst/>
          </a:prstGeom>
        </p:spPr>
        <p:txBody>
          <a:bodyPr anchor="b"/>
          <a:lstStyle>
            <a:lvl1pPr algn="l">
              <a:defRPr sz="48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D71D877-0EE9-444D-877D-FC369D8686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5644" y="4470400"/>
            <a:ext cx="7360074" cy="133032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4F264DC-E9EB-4AE8-B86B-B61ADEC396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7285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Dark Aqua - K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63C81AD-4C05-4F8E-8740-48D44F7044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4693" y="456757"/>
            <a:ext cx="2400107" cy="114355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E282D18-69F1-45B4-A794-4BFACF6AA09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617526" cy="2387600"/>
          </a:xfrm>
          <a:prstGeom prst="rect">
            <a:avLst/>
          </a:prstGeom>
        </p:spPr>
        <p:txBody>
          <a:bodyPr anchor="b"/>
          <a:lstStyle>
            <a:lvl1pPr algn="l">
              <a:defRPr sz="48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C8CFBA42-CE27-4F45-B04F-910AD33963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5644" y="4470400"/>
            <a:ext cx="7360074" cy="133032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DF886F0-74BB-403D-9C19-D9874159CB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pic>
        <p:nvPicPr>
          <p:cNvPr id="11" name="Picture 10" descr="A picture containing person, posing&#10;&#10;Description automatically generated">
            <a:extLst>
              <a:ext uri="{FF2B5EF4-FFF2-40B4-BE49-F238E27FC236}">
                <a16:creationId xmlns:a16="http://schemas.microsoft.com/office/drawing/2014/main" id="{6BE31FB4-3734-4A42-99B2-EE0EF5ACCB8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0764" y="1185014"/>
            <a:ext cx="4001236" cy="567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2589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Dark Aqua - Georg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63C81AD-4C05-4F8E-8740-48D44F7044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4693" y="456757"/>
            <a:ext cx="2400107" cy="114355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29915DB-ECCA-48F1-9364-937D7FBD305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587826" cy="2387600"/>
          </a:xfrm>
          <a:prstGeom prst="rect">
            <a:avLst/>
          </a:prstGeom>
        </p:spPr>
        <p:txBody>
          <a:bodyPr anchor="b"/>
          <a:lstStyle>
            <a:lvl1pPr algn="l">
              <a:defRPr sz="48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4DC766A-BFCB-47B5-A66D-612808674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5644" y="4470400"/>
            <a:ext cx="7360074" cy="133032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30606B3-4070-4A86-B579-9CA0A594C5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8C0C40-7EFD-4EEF-9A29-560F2FB4D9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91863" y="1468096"/>
            <a:ext cx="4500138" cy="538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730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Dark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63C81AD-4C05-4F8E-8740-48D44F7044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4693" y="456757"/>
            <a:ext cx="2400107" cy="114355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E77F9BF-6950-4815-83DA-4FABF3646B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617526" cy="2387600"/>
          </a:xfrm>
          <a:prstGeom prst="rect">
            <a:avLst/>
          </a:prstGeom>
        </p:spPr>
        <p:txBody>
          <a:bodyPr anchor="b"/>
          <a:lstStyle>
            <a:lvl1pPr algn="l">
              <a:defRPr sz="48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TEXT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A980EB1-9856-456C-BCFF-E06C4045A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5644" y="4470400"/>
            <a:ext cx="7360074" cy="133032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B2C42F3-092A-41E5-BD52-C3D6F18786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9377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Aqua - Kot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A90116F0-3DF4-466A-93A0-87BB8457B5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837D66-8C51-4727-AFB4-4423A28420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463489" cy="1734882"/>
          </a:xfrm>
          <a:prstGeom prst="rect">
            <a:avLst/>
          </a:prstGeom>
        </p:spPr>
        <p:txBody>
          <a:bodyPr anchor="b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DIVIDER TITLE STYLE</a:t>
            </a:r>
            <a:endParaRPr lang="en-GB"/>
          </a:p>
        </p:txBody>
      </p:sp>
      <p:pic>
        <p:nvPicPr>
          <p:cNvPr id="10" name="Picture 9" descr="A picture containing person, posing&#10;&#10;Description automatically generated">
            <a:extLst>
              <a:ext uri="{FF2B5EF4-FFF2-40B4-BE49-F238E27FC236}">
                <a16:creationId xmlns:a16="http://schemas.microsoft.com/office/drawing/2014/main" id="{DFBF117E-7AB3-4B44-BC59-B71AB4F3013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0764" y="1185014"/>
            <a:ext cx="4001236" cy="5672986"/>
          </a:xfrm>
          <a:prstGeom prst="rect">
            <a:avLst/>
          </a:prstGeom>
        </p:spPr>
      </p:pic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1CD71FFE-8732-40C3-91D4-CF34EBF219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1800" y="478007"/>
            <a:ext cx="2413000" cy="1116638"/>
          </a:xfrm>
          <a:prstGeom prst="rect">
            <a:avLst/>
          </a:prstGeom>
        </p:spPr>
      </p:pic>
      <p:pic>
        <p:nvPicPr>
          <p:cNvPr id="12" name="Picture 11" descr="Shape&#10;&#10;Description automatically generated">
            <a:extLst>
              <a:ext uri="{FF2B5EF4-FFF2-40B4-BE49-F238E27FC236}">
                <a16:creationId xmlns:a16="http://schemas.microsoft.com/office/drawing/2014/main" id="{A56B8CF1-49D5-407A-876E-C96764C295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>
            <a:off x="11313886" y="6311900"/>
            <a:ext cx="878114" cy="456152"/>
          </a:xfrm>
          <a:prstGeom prst="rect">
            <a:avLst/>
          </a:prstGeom>
        </p:spPr>
      </p:pic>
      <p:sp>
        <p:nvSpPr>
          <p:cNvPr id="14" name="Parallelogram 13">
            <a:extLst>
              <a:ext uri="{FF2B5EF4-FFF2-40B4-BE49-F238E27FC236}">
                <a16:creationId xmlns:a16="http://schemas.microsoft.com/office/drawing/2014/main" id="{536E8E01-9E8C-477B-A8A3-219BEDA6C830}"/>
              </a:ext>
            </a:extLst>
          </p:cNvPr>
          <p:cNvSpPr/>
          <p:nvPr userDrawn="1"/>
        </p:nvSpPr>
        <p:spPr>
          <a:xfrm>
            <a:off x="11441151" y="6352143"/>
            <a:ext cx="646771" cy="365125"/>
          </a:xfrm>
          <a:prstGeom prst="parallelogram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D305E89-7D6B-4507-9DEF-B925B3E1986F}" type="slidenum">
              <a:rPr lang="en-GB" sz="18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endParaRPr lang="en-GB" sz="16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DB8924-D402-A7FF-AAE1-2801AD13EA94}"/>
              </a:ext>
            </a:extLst>
          </p:cNvPr>
          <p:cNvSpPr txBox="1"/>
          <p:nvPr userDrawn="1"/>
        </p:nvSpPr>
        <p:spPr>
          <a:xfrm>
            <a:off x="324136" y="6155214"/>
            <a:ext cx="3005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bristol.ac.uk/careers</a:t>
            </a:r>
          </a:p>
        </p:txBody>
      </p:sp>
    </p:spTree>
    <p:extLst>
      <p:ext uri="{BB962C8B-B14F-4D97-AF65-F5344CB8AC3E}">
        <p14:creationId xmlns:p14="http://schemas.microsoft.com/office/powerpoint/2010/main" val="1749761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Aqua - Kota">
    <p:bg>
      <p:bgPr>
        <a:solidFill>
          <a:srgbClr val="00C0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A90116F0-3DF4-466A-93A0-87BB8457B5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837D66-8C51-4727-AFB4-4423A28420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463489" cy="1734882"/>
          </a:xfrm>
          <a:prstGeom prst="rect">
            <a:avLst/>
          </a:prstGeom>
        </p:spPr>
        <p:txBody>
          <a:bodyPr anchor="b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DIVIDER TITLE STYLE</a:t>
            </a:r>
            <a:endParaRPr lang="en-GB"/>
          </a:p>
        </p:txBody>
      </p:sp>
      <p:pic>
        <p:nvPicPr>
          <p:cNvPr id="10" name="Picture 9" descr="A picture containing person, posing&#10;&#10;Description automatically generated">
            <a:extLst>
              <a:ext uri="{FF2B5EF4-FFF2-40B4-BE49-F238E27FC236}">
                <a16:creationId xmlns:a16="http://schemas.microsoft.com/office/drawing/2014/main" id="{DFBF117E-7AB3-4B44-BC59-B71AB4F3013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0764" y="1185014"/>
            <a:ext cx="4001236" cy="5672986"/>
          </a:xfrm>
          <a:prstGeom prst="rect">
            <a:avLst/>
          </a:prstGeom>
        </p:spPr>
      </p:pic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1CD71FFE-8732-40C3-91D4-CF34EBF219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1800" y="478007"/>
            <a:ext cx="2413000" cy="1116638"/>
          </a:xfrm>
          <a:prstGeom prst="rect">
            <a:avLst/>
          </a:prstGeom>
        </p:spPr>
      </p:pic>
      <p:pic>
        <p:nvPicPr>
          <p:cNvPr id="12" name="Picture 11" descr="Shape&#10;&#10;Description automatically generated">
            <a:extLst>
              <a:ext uri="{FF2B5EF4-FFF2-40B4-BE49-F238E27FC236}">
                <a16:creationId xmlns:a16="http://schemas.microsoft.com/office/drawing/2014/main" id="{A56B8CF1-49D5-407A-876E-C96764C295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>
            <a:off x="11313886" y="6311900"/>
            <a:ext cx="878114" cy="456152"/>
          </a:xfrm>
          <a:prstGeom prst="rect">
            <a:avLst/>
          </a:prstGeom>
        </p:spPr>
      </p:pic>
      <p:sp>
        <p:nvSpPr>
          <p:cNvPr id="14" name="Parallelogram 13">
            <a:extLst>
              <a:ext uri="{FF2B5EF4-FFF2-40B4-BE49-F238E27FC236}">
                <a16:creationId xmlns:a16="http://schemas.microsoft.com/office/drawing/2014/main" id="{536E8E01-9E8C-477B-A8A3-219BEDA6C830}"/>
              </a:ext>
            </a:extLst>
          </p:cNvPr>
          <p:cNvSpPr/>
          <p:nvPr userDrawn="1"/>
        </p:nvSpPr>
        <p:spPr>
          <a:xfrm>
            <a:off x="11441151" y="6352143"/>
            <a:ext cx="646771" cy="365125"/>
          </a:xfrm>
          <a:prstGeom prst="parallelogram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D305E89-7D6B-4507-9DEF-B925B3E1986F}" type="slidenum">
              <a:rPr lang="en-GB" sz="18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endParaRPr lang="en-GB" sz="16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DB8924-D402-A7FF-AAE1-2801AD13EA94}"/>
              </a:ext>
            </a:extLst>
          </p:cNvPr>
          <p:cNvSpPr txBox="1"/>
          <p:nvPr userDrawn="1"/>
        </p:nvSpPr>
        <p:spPr>
          <a:xfrm>
            <a:off x="324136" y="6155214"/>
            <a:ext cx="3005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bristol.ac.uk/careers</a:t>
            </a:r>
          </a:p>
        </p:txBody>
      </p:sp>
    </p:spTree>
    <p:extLst>
      <p:ext uri="{BB962C8B-B14F-4D97-AF65-F5344CB8AC3E}">
        <p14:creationId xmlns:p14="http://schemas.microsoft.com/office/powerpoint/2010/main" val="268762083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Aqua - Georgi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0B7FB671-A36F-4A93-AE95-D4758E3C0F5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FF41A6-F2F2-4D5E-BD19-70AAD710E1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91863" y="1468096"/>
            <a:ext cx="4500138" cy="53899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837D66-8C51-4727-AFB4-4423A28420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463489" cy="173488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DIVIDER TITLE STYLE</a:t>
            </a:r>
            <a:endParaRPr lang="en-GB"/>
          </a:p>
        </p:txBody>
      </p:sp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1CD71FFE-8732-40C3-91D4-CF34EBF219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1800" y="478007"/>
            <a:ext cx="2413000" cy="1116638"/>
          </a:xfrm>
          <a:prstGeom prst="rect">
            <a:avLst/>
          </a:prstGeom>
        </p:spPr>
      </p:pic>
      <p:pic>
        <p:nvPicPr>
          <p:cNvPr id="12" name="Picture 11" descr="Shape&#10;&#10;Description automatically generated">
            <a:extLst>
              <a:ext uri="{FF2B5EF4-FFF2-40B4-BE49-F238E27FC236}">
                <a16:creationId xmlns:a16="http://schemas.microsoft.com/office/drawing/2014/main" id="{A56B8CF1-49D5-407A-876E-C96764C295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>
            <a:off x="11313886" y="6311900"/>
            <a:ext cx="878114" cy="456152"/>
          </a:xfrm>
          <a:prstGeom prst="rect">
            <a:avLst/>
          </a:prstGeom>
        </p:spPr>
      </p:pic>
      <p:sp>
        <p:nvSpPr>
          <p:cNvPr id="14" name="Parallelogram 13">
            <a:extLst>
              <a:ext uri="{FF2B5EF4-FFF2-40B4-BE49-F238E27FC236}">
                <a16:creationId xmlns:a16="http://schemas.microsoft.com/office/drawing/2014/main" id="{536E8E01-9E8C-477B-A8A3-219BEDA6C830}"/>
              </a:ext>
            </a:extLst>
          </p:cNvPr>
          <p:cNvSpPr/>
          <p:nvPr userDrawn="1"/>
        </p:nvSpPr>
        <p:spPr>
          <a:xfrm>
            <a:off x="11441151" y="6352143"/>
            <a:ext cx="646771" cy="365125"/>
          </a:xfrm>
          <a:prstGeom prst="parallelogram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D305E89-7D6B-4507-9DEF-B925B3E1986F}" type="slidenum">
              <a:rPr lang="en-GB" sz="18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endParaRPr lang="en-GB" sz="16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850D6F-DFAE-7C05-AA0E-BFEB2B890526}"/>
              </a:ext>
            </a:extLst>
          </p:cNvPr>
          <p:cNvSpPr txBox="1"/>
          <p:nvPr userDrawn="1"/>
        </p:nvSpPr>
        <p:spPr>
          <a:xfrm>
            <a:off x="324136" y="6155214"/>
            <a:ext cx="3005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bristol.ac.uk/careers</a:t>
            </a:r>
          </a:p>
        </p:txBody>
      </p:sp>
    </p:spTree>
    <p:extLst>
      <p:ext uri="{BB962C8B-B14F-4D97-AF65-F5344CB8AC3E}">
        <p14:creationId xmlns:p14="http://schemas.microsoft.com/office/powerpoint/2010/main" val="124430121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Aqua - Georgia">
    <p:bg>
      <p:bgPr>
        <a:solidFill>
          <a:srgbClr val="00C0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0B7FB671-A36F-4A93-AE95-D4758E3C0F5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FF41A6-F2F2-4D5E-BD19-70AAD710E1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91863" y="1468096"/>
            <a:ext cx="4500138" cy="53899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837D66-8C51-4727-AFB4-4423A28420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463489" cy="173488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DIVIDER TITLE STYLE</a:t>
            </a:r>
            <a:endParaRPr lang="en-GB"/>
          </a:p>
        </p:txBody>
      </p:sp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1CD71FFE-8732-40C3-91D4-CF34EBF219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1800" y="478007"/>
            <a:ext cx="2413000" cy="1116638"/>
          </a:xfrm>
          <a:prstGeom prst="rect">
            <a:avLst/>
          </a:prstGeom>
        </p:spPr>
      </p:pic>
      <p:pic>
        <p:nvPicPr>
          <p:cNvPr id="12" name="Picture 11" descr="Shape&#10;&#10;Description automatically generated">
            <a:extLst>
              <a:ext uri="{FF2B5EF4-FFF2-40B4-BE49-F238E27FC236}">
                <a16:creationId xmlns:a16="http://schemas.microsoft.com/office/drawing/2014/main" id="{A56B8CF1-49D5-407A-876E-C96764C295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>
            <a:off x="11313886" y="6311900"/>
            <a:ext cx="878114" cy="456152"/>
          </a:xfrm>
          <a:prstGeom prst="rect">
            <a:avLst/>
          </a:prstGeom>
        </p:spPr>
      </p:pic>
      <p:sp>
        <p:nvSpPr>
          <p:cNvPr id="14" name="Parallelogram 13">
            <a:extLst>
              <a:ext uri="{FF2B5EF4-FFF2-40B4-BE49-F238E27FC236}">
                <a16:creationId xmlns:a16="http://schemas.microsoft.com/office/drawing/2014/main" id="{536E8E01-9E8C-477B-A8A3-219BEDA6C830}"/>
              </a:ext>
            </a:extLst>
          </p:cNvPr>
          <p:cNvSpPr/>
          <p:nvPr userDrawn="1"/>
        </p:nvSpPr>
        <p:spPr>
          <a:xfrm>
            <a:off x="11441151" y="6352143"/>
            <a:ext cx="646771" cy="365125"/>
          </a:xfrm>
          <a:prstGeom prst="parallelogram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D305E89-7D6B-4507-9DEF-B925B3E1986F}" type="slidenum">
              <a:rPr lang="en-GB" sz="18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endParaRPr lang="en-GB" sz="16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850D6F-DFAE-7C05-AA0E-BFEB2B890526}"/>
              </a:ext>
            </a:extLst>
          </p:cNvPr>
          <p:cNvSpPr txBox="1"/>
          <p:nvPr userDrawn="1"/>
        </p:nvSpPr>
        <p:spPr>
          <a:xfrm>
            <a:off x="324136" y="6155214"/>
            <a:ext cx="3005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bristol.ac.uk/careers</a:t>
            </a:r>
          </a:p>
        </p:txBody>
      </p:sp>
    </p:spTree>
    <p:extLst>
      <p:ext uri="{BB962C8B-B14F-4D97-AF65-F5344CB8AC3E}">
        <p14:creationId xmlns:p14="http://schemas.microsoft.com/office/powerpoint/2010/main" val="7260138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Aqu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D2EDFF12-4C2E-41A6-A76F-F37F01A629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837D66-8C51-4727-AFB4-4423A28420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463489" cy="1734882"/>
          </a:xfrm>
          <a:prstGeom prst="rect">
            <a:avLst/>
          </a:prstGeom>
        </p:spPr>
        <p:txBody>
          <a:bodyPr anchor="b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DIVIDER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718D0B-AD63-49A9-A96E-D08869E7E1E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98004" y="-9427"/>
            <a:ext cx="4595567" cy="6867426"/>
          </a:xfrm>
          <a:custGeom>
            <a:avLst/>
            <a:gdLst>
              <a:gd name="connsiteX0" fmla="*/ 0 w 4593996"/>
              <a:gd name="connsiteY0" fmla="*/ 6858000 h 6858000"/>
              <a:gd name="connsiteX1" fmla="*/ 1148499 w 4593996"/>
              <a:gd name="connsiteY1" fmla="*/ 0 h 6858000"/>
              <a:gd name="connsiteX2" fmla="*/ 3445497 w 4593996"/>
              <a:gd name="connsiteY2" fmla="*/ 0 h 6858000"/>
              <a:gd name="connsiteX3" fmla="*/ 4593996 w 4593996"/>
              <a:gd name="connsiteY3" fmla="*/ 6858000 h 6858000"/>
              <a:gd name="connsiteX4" fmla="*/ 0 w 4593996"/>
              <a:gd name="connsiteY4" fmla="*/ 6858000 h 6858000"/>
              <a:gd name="connsiteX0" fmla="*/ 0 w 4595567"/>
              <a:gd name="connsiteY0" fmla="*/ 6858000 h 6858000"/>
              <a:gd name="connsiteX1" fmla="*/ 1148499 w 4595567"/>
              <a:gd name="connsiteY1" fmla="*/ 0 h 6858000"/>
              <a:gd name="connsiteX2" fmla="*/ 4595567 w 4595567"/>
              <a:gd name="connsiteY2" fmla="*/ 9427 h 6858000"/>
              <a:gd name="connsiteX3" fmla="*/ 4593996 w 4595567"/>
              <a:gd name="connsiteY3" fmla="*/ 6858000 h 6858000"/>
              <a:gd name="connsiteX4" fmla="*/ 0 w 4595567"/>
              <a:gd name="connsiteY4" fmla="*/ 6858000 h 6858000"/>
              <a:gd name="connsiteX0" fmla="*/ 0 w 4595567"/>
              <a:gd name="connsiteY0" fmla="*/ 6867427 h 6867427"/>
              <a:gd name="connsiteX1" fmla="*/ 1572705 w 4595567"/>
              <a:gd name="connsiteY1" fmla="*/ 0 h 6867427"/>
              <a:gd name="connsiteX2" fmla="*/ 4595567 w 4595567"/>
              <a:gd name="connsiteY2" fmla="*/ 18854 h 6867427"/>
              <a:gd name="connsiteX3" fmla="*/ 4593996 w 4595567"/>
              <a:gd name="connsiteY3" fmla="*/ 6867427 h 6867427"/>
              <a:gd name="connsiteX4" fmla="*/ 0 w 4595567"/>
              <a:gd name="connsiteY4" fmla="*/ 6867427 h 6867427"/>
              <a:gd name="connsiteX0" fmla="*/ 0 w 4595567"/>
              <a:gd name="connsiteY0" fmla="*/ 6848573 h 6848573"/>
              <a:gd name="connsiteX1" fmla="*/ 1563278 w 4595567"/>
              <a:gd name="connsiteY1" fmla="*/ 9426 h 6848573"/>
              <a:gd name="connsiteX2" fmla="*/ 4595567 w 4595567"/>
              <a:gd name="connsiteY2" fmla="*/ 0 h 6848573"/>
              <a:gd name="connsiteX3" fmla="*/ 4593996 w 4595567"/>
              <a:gd name="connsiteY3" fmla="*/ 6848573 h 6848573"/>
              <a:gd name="connsiteX4" fmla="*/ 0 w 4595567"/>
              <a:gd name="connsiteY4" fmla="*/ 6848573 h 6848573"/>
              <a:gd name="connsiteX0" fmla="*/ 0 w 4595567"/>
              <a:gd name="connsiteY0" fmla="*/ 6848573 h 6848573"/>
              <a:gd name="connsiteX1" fmla="*/ 1563278 w 4595567"/>
              <a:gd name="connsiteY1" fmla="*/ 9426 h 6848573"/>
              <a:gd name="connsiteX2" fmla="*/ 4595567 w 4595567"/>
              <a:gd name="connsiteY2" fmla="*/ 0 h 6848573"/>
              <a:gd name="connsiteX3" fmla="*/ 4593996 w 4595567"/>
              <a:gd name="connsiteY3" fmla="*/ 6848573 h 6848573"/>
              <a:gd name="connsiteX4" fmla="*/ 0 w 4595567"/>
              <a:gd name="connsiteY4" fmla="*/ 6848573 h 6848573"/>
              <a:gd name="connsiteX0" fmla="*/ 0 w 4595567"/>
              <a:gd name="connsiteY0" fmla="*/ 6858001 h 6858001"/>
              <a:gd name="connsiteX1" fmla="*/ 1563278 w 4595567"/>
              <a:gd name="connsiteY1" fmla="*/ 0 h 6858001"/>
              <a:gd name="connsiteX2" fmla="*/ 4595567 w 4595567"/>
              <a:gd name="connsiteY2" fmla="*/ 9428 h 6858001"/>
              <a:gd name="connsiteX3" fmla="*/ 4593996 w 4595567"/>
              <a:gd name="connsiteY3" fmla="*/ 6858001 h 6858001"/>
              <a:gd name="connsiteX4" fmla="*/ 0 w 4595567"/>
              <a:gd name="connsiteY4" fmla="*/ 6858001 h 6858001"/>
              <a:gd name="connsiteX0" fmla="*/ 0 w 4595567"/>
              <a:gd name="connsiteY0" fmla="*/ 6867426 h 6867426"/>
              <a:gd name="connsiteX1" fmla="*/ 1563278 w 4595567"/>
              <a:gd name="connsiteY1" fmla="*/ 9425 h 6867426"/>
              <a:gd name="connsiteX2" fmla="*/ 4595567 w 4595567"/>
              <a:gd name="connsiteY2" fmla="*/ 0 h 6867426"/>
              <a:gd name="connsiteX3" fmla="*/ 4593996 w 4595567"/>
              <a:gd name="connsiteY3" fmla="*/ 6867426 h 6867426"/>
              <a:gd name="connsiteX4" fmla="*/ 0 w 4595567"/>
              <a:gd name="connsiteY4" fmla="*/ 6867426 h 6867426"/>
              <a:gd name="connsiteX0" fmla="*/ 0 w 4595567"/>
              <a:gd name="connsiteY0" fmla="*/ 6867426 h 6867426"/>
              <a:gd name="connsiteX1" fmla="*/ 1563278 w 4595567"/>
              <a:gd name="connsiteY1" fmla="*/ 9425 h 6867426"/>
              <a:gd name="connsiteX2" fmla="*/ 4595567 w 4595567"/>
              <a:gd name="connsiteY2" fmla="*/ 0 h 6867426"/>
              <a:gd name="connsiteX3" fmla="*/ 4593996 w 4595567"/>
              <a:gd name="connsiteY3" fmla="*/ 6867426 h 6867426"/>
              <a:gd name="connsiteX4" fmla="*/ 0 w 4595567"/>
              <a:gd name="connsiteY4" fmla="*/ 6867426 h 686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5567" h="6867426">
                <a:moveTo>
                  <a:pt x="0" y="6867426"/>
                </a:moveTo>
                <a:lnTo>
                  <a:pt x="1563278" y="9425"/>
                </a:lnTo>
                <a:lnTo>
                  <a:pt x="4595567" y="0"/>
                </a:lnTo>
                <a:cubicBezTo>
                  <a:pt x="4595043" y="2282858"/>
                  <a:pt x="4594520" y="4584568"/>
                  <a:pt x="4593996" y="6867426"/>
                </a:cubicBezTo>
                <a:lnTo>
                  <a:pt x="0" y="6867426"/>
                </a:lnTo>
                <a:close/>
              </a:path>
            </a:pathLst>
          </a:custGeo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/>
              <a:t>You can add a picture here if you’d like to.</a:t>
            </a:r>
          </a:p>
        </p:txBody>
      </p:sp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1CD71FFE-8732-40C3-91D4-CF34EBF219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1800" y="478007"/>
            <a:ext cx="2413000" cy="1116638"/>
          </a:xfrm>
          <a:prstGeom prst="rect">
            <a:avLst/>
          </a:prstGeom>
        </p:spPr>
      </p:pic>
      <p:pic>
        <p:nvPicPr>
          <p:cNvPr id="12" name="Picture 11" descr="Shape&#10;&#10;Description automatically generated">
            <a:extLst>
              <a:ext uri="{FF2B5EF4-FFF2-40B4-BE49-F238E27FC236}">
                <a16:creationId xmlns:a16="http://schemas.microsoft.com/office/drawing/2014/main" id="{A56B8CF1-49D5-407A-876E-C96764C295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>
            <a:off x="11313886" y="6311900"/>
            <a:ext cx="878114" cy="456152"/>
          </a:xfrm>
          <a:prstGeom prst="rect">
            <a:avLst/>
          </a:prstGeom>
        </p:spPr>
      </p:pic>
      <p:sp>
        <p:nvSpPr>
          <p:cNvPr id="14" name="Parallelogram 13">
            <a:extLst>
              <a:ext uri="{FF2B5EF4-FFF2-40B4-BE49-F238E27FC236}">
                <a16:creationId xmlns:a16="http://schemas.microsoft.com/office/drawing/2014/main" id="{536E8E01-9E8C-477B-A8A3-219BEDA6C830}"/>
              </a:ext>
            </a:extLst>
          </p:cNvPr>
          <p:cNvSpPr/>
          <p:nvPr userDrawn="1"/>
        </p:nvSpPr>
        <p:spPr>
          <a:xfrm>
            <a:off x="11441151" y="6352143"/>
            <a:ext cx="646771" cy="365125"/>
          </a:xfrm>
          <a:prstGeom prst="parallelogram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D305E89-7D6B-4507-9DEF-B925B3E1986F}" type="slidenum">
              <a:rPr lang="en-GB" sz="18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endParaRPr lang="en-GB" sz="16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034E76-C937-466A-5196-2F787078004E}"/>
              </a:ext>
            </a:extLst>
          </p:cNvPr>
          <p:cNvSpPr txBox="1"/>
          <p:nvPr userDrawn="1"/>
        </p:nvSpPr>
        <p:spPr>
          <a:xfrm>
            <a:off x="324136" y="6155214"/>
            <a:ext cx="3005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bristol.ac.uk/careers</a:t>
            </a:r>
          </a:p>
        </p:txBody>
      </p:sp>
    </p:spTree>
    <p:extLst>
      <p:ext uri="{BB962C8B-B14F-4D97-AF65-F5344CB8AC3E}">
        <p14:creationId xmlns:p14="http://schemas.microsoft.com/office/powerpoint/2010/main" val="22202363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- Aqua">
    <p:bg>
      <p:bgPr>
        <a:solidFill>
          <a:srgbClr val="00C0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D2EDFF12-4C2E-41A6-A76F-F37F01A629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837D66-8C51-4727-AFB4-4423A28420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463489" cy="1734882"/>
          </a:xfrm>
          <a:prstGeom prst="rect">
            <a:avLst/>
          </a:prstGeom>
        </p:spPr>
        <p:txBody>
          <a:bodyPr anchor="b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DIVIDER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718D0B-AD63-49A9-A96E-D08869E7E1E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98004" y="-9427"/>
            <a:ext cx="4595567" cy="6867426"/>
          </a:xfrm>
          <a:custGeom>
            <a:avLst/>
            <a:gdLst>
              <a:gd name="connsiteX0" fmla="*/ 0 w 4593996"/>
              <a:gd name="connsiteY0" fmla="*/ 6858000 h 6858000"/>
              <a:gd name="connsiteX1" fmla="*/ 1148499 w 4593996"/>
              <a:gd name="connsiteY1" fmla="*/ 0 h 6858000"/>
              <a:gd name="connsiteX2" fmla="*/ 3445497 w 4593996"/>
              <a:gd name="connsiteY2" fmla="*/ 0 h 6858000"/>
              <a:gd name="connsiteX3" fmla="*/ 4593996 w 4593996"/>
              <a:gd name="connsiteY3" fmla="*/ 6858000 h 6858000"/>
              <a:gd name="connsiteX4" fmla="*/ 0 w 4593996"/>
              <a:gd name="connsiteY4" fmla="*/ 6858000 h 6858000"/>
              <a:gd name="connsiteX0" fmla="*/ 0 w 4595567"/>
              <a:gd name="connsiteY0" fmla="*/ 6858000 h 6858000"/>
              <a:gd name="connsiteX1" fmla="*/ 1148499 w 4595567"/>
              <a:gd name="connsiteY1" fmla="*/ 0 h 6858000"/>
              <a:gd name="connsiteX2" fmla="*/ 4595567 w 4595567"/>
              <a:gd name="connsiteY2" fmla="*/ 9427 h 6858000"/>
              <a:gd name="connsiteX3" fmla="*/ 4593996 w 4595567"/>
              <a:gd name="connsiteY3" fmla="*/ 6858000 h 6858000"/>
              <a:gd name="connsiteX4" fmla="*/ 0 w 4595567"/>
              <a:gd name="connsiteY4" fmla="*/ 6858000 h 6858000"/>
              <a:gd name="connsiteX0" fmla="*/ 0 w 4595567"/>
              <a:gd name="connsiteY0" fmla="*/ 6867427 h 6867427"/>
              <a:gd name="connsiteX1" fmla="*/ 1572705 w 4595567"/>
              <a:gd name="connsiteY1" fmla="*/ 0 h 6867427"/>
              <a:gd name="connsiteX2" fmla="*/ 4595567 w 4595567"/>
              <a:gd name="connsiteY2" fmla="*/ 18854 h 6867427"/>
              <a:gd name="connsiteX3" fmla="*/ 4593996 w 4595567"/>
              <a:gd name="connsiteY3" fmla="*/ 6867427 h 6867427"/>
              <a:gd name="connsiteX4" fmla="*/ 0 w 4595567"/>
              <a:gd name="connsiteY4" fmla="*/ 6867427 h 6867427"/>
              <a:gd name="connsiteX0" fmla="*/ 0 w 4595567"/>
              <a:gd name="connsiteY0" fmla="*/ 6848573 h 6848573"/>
              <a:gd name="connsiteX1" fmla="*/ 1563278 w 4595567"/>
              <a:gd name="connsiteY1" fmla="*/ 9426 h 6848573"/>
              <a:gd name="connsiteX2" fmla="*/ 4595567 w 4595567"/>
              <a:gd name="connsiteY2" fmla="*/ 0 h 6848573"/>
              <a:gd name="connsiteX3" fmla="*/ 4593996 w 4595567"/>
              <a:gd name="connsiteY3" fmla="*/ 6848573 h 6848573"/>
              <a:gd name="connsiteX4" fmla="*/ 0 w 4595567"/>
              <a:gd name="connsiteY4" fmla="*/ 6848573 h 6848573"/>
              <a:gd name="connsiteX0" fmla="*/ 0 w 4595567"/>
              <a:gd name="connsiteY0" fmla="*/ 6848573 h 6848573"/>
              <a:gd name="connsiteX1" fmla="*/ 1563278 w 4595567"/>
              <a:gd name="connsiteY1" fmla="*/ 9426 h 6848573"/>
              <a:gd name="connsiteX2" fmla="*/ 4595567 w 4595567"/>
              <a:gd name="connsiteY2" fmla="*/ 0 h 6848573"/>
              <a:gd name="connsiteX3" fmla="*/ 4593996 w 4595567"/>
              <a:gd name="connsiteY3" fmla="*/ 6848573 h 6848573"/>
              <a:gd name="connsiteX4" fmla="*/ 0 w 4595567"/>
              <a:gd name="connsiteY4" fmla="*/ 6848573 h 6848573"/>
              <a:gd name="connsiteX0" fmla="*/ 0 w 4595567"/>
              <a:gd name="connsiteY0" fmla="*/ 6858001 h 6858001"/>
              <a:gd name="connsiteX1" fmla="*/ 1563278 w 4595567"/>
              <a:gd name="connsiteY1" fmla="*/ 0 h 6858001"/>
              <a:gd name="connsiteX2" fmla="*/ 4595567 w 4595567"/>
              <a:gd name="connsiteY2" fmla="*/ 9428 h 6858001"/>
              <a:gd name="connsiteX3" fmla="*/ 4593996 w 4595567"/>
              <a:gd name="connsiteY3" fmla="*/ 6858001 h 6858001"/>
              <a:gd name="connsiteX4" fmla="*/ 0 w 4595567"/>
              <a:gd name="connsiteY4" fmla="*/ 6858001 h 6858001"/>
              <a:gd name="connsiteX0" fmla="*/ 0 w 4595567"/>
              <a:gd name="connsiteY0" fmla="*/ 6867426 h 6867426"/>
              <a:gd name="connsiteX1" fmla="*/ 1563278 w 4595567"/>
              <a:gd name="connsiteY1" fmla="*/ 9425 h 6867426"/>
              <a:gd name="connsiteX2" fmla="*/ 4595567 w 4595567"/>
              <a:gd name="connsiteY2" fmla="*/ 0 h 6867426"/>
              <a:gd name="connsiteX3" fmla="*/ 4593996 w 4595567"/>
              <a:gd name="connsiteY3" fmla="*/ 6867426 h 6867426"/>
              <a:gd name="connsiteX4" fmla="*/ 0 w 4595567"/>
              <a:gd name="connsiteY4" fmla="*/ 6867426 h 6867426"/>
              <a:gd name="connsiteX0" fmla="*/ 0 w 4595567"/>
              <a:gd name="connsiteY0" fmla="*/ 6867426 h 6867426"/>
              <a:gd name="connsiteX1" fmla="*/ 1563278 w 4595567"/>
              <a:gd name="connsiteY1" fmla="*/ 9425 h 6867426"/>
              <a:gd name="connsiteX2" fmla="*/ 4595567 w 4595567"/>
              <a:gd name="connsiteY2" fmla="*/ 0 h 6867426"/>
              <a:gd name="connsiteX3" fmla="*/ 4593996 w 4595567"/>
              <a:gd name="connsiteY3" fmla="*/ 6867426 h 6867426"/>
              <a:gd name="connsiteX4" fmla="*/ 0 w 4595567"/>
              <a:gd name="connsiteY4" fmla="*/ 6867426 h 686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5567" h="6867426">
                <a:moveTo>
                  <a:pt x="0" y="6867426"/>
                </a:moveTo>
                <a:lnTo>
                  <a:pt x="1563278" y="9425"/>
                </a:lnTo>
                <a:lnTo>
                  <a:pt x="4595567" y="0"/>
                </a:lnTo>
                <a:cubicBezTo>
                  <a:pt x="4595043" y="2282858"/>
                  <a:pt x="4594520" y="4584568"/>
                  <a:pt x="4593996" y="6867426"/>
                </a:cubicBezTo>
                <a:lnTo>
                  <a:pt x="0" y="6867426"/>
                </a:lnTo>
                <a:close/>
              </a:path>
            </a:pathLst>
          </a:custGeo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/>
              <a:t>You can add a picture here if you’d like to.</a:t>
            </a:r>
          </a:p>
        </p:txBody>
      </p:sp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1CD71FFE-8732-40C3-91D4-CF34EBF219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1800" y="478007"/>
            <a:ext cx="2413000" cy="1116638"/>
          </a:xfrm>
          <a:prstGeom prst="rect">
            <a:avLst/>
          </a:prstGeom>
        </p:spPr>
      </p:pic>
      <p:pic>
        <p:nvPicPr>
          <p:cNvPr id="12" name="Picture 11" descr="Shape&#10;&#10;Description automatically generated">
            <a:extLst>
              <a:ext uri="{FF2B5EF4-FFF2-40B4-BE49-F238E27FC236}">
                <a16:creationId xmlns:a16="http://schemas.microsoft.com/office/drawing/2014/main" id="{A56B8CF1-49D5-407A-876E-C96764C295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>
            <a:off x="11313886" y="6311900"/>
            <a:ext cx="878114" cy="456152"/>
          </a:xfrm>
          <a:prstGeom prst="rect">
            <a:avLst/>
          </a:prstGeom>
        </p:spPr>
      </p:pic>
      <p:sp>
        <p:nvSpPr>
          <p:cNvPr id="14" name="Parallelogram 13">
            <a:extLst>
              <a:ext uri="{FF2B5EF4-FFF2-40B4-BE49-F238E27FC236}">
                <a16:creationId xmlns:a16="http://schemas.microsoft.com/office/drawing/2014/main" id="{536E8E01-9E8C-477B-A8A3-219BEDA6C830}"/>
              </a:ext>
            </a:extLst>
          </p:cNvPr>
          <p:cNvSpPr/>
          <p:nvPr userDrawn="1"/>
        </p:nvSpPr>
        <p:spPr>
          <a:xfrm>
            <a:off x="11441151" y="6352143"/>
            <a:ext cx="646771" cy="365125"/>
          </a:xfrm>
          <a:prstGeom prst="parallelogram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D305E89-7D6B-4507-9DEF-B925B3E1986F}" type="slidenum">
              <a:rPr lang="en-GB" sz="18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endParaRPr lang="en-GB" sz="16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034E76-C937-466A-5196-2F787078004E}"/>
              </a:ext>
            </a:extLst>
          </p:cNvPr>
          <p:cNvSpPr txBox="1"/>
          <p:nvPr userDrawn="1"/>
        </p:nvSpPr>
        <p:spPr>
          <a:xfrm>
            <a:off x="324136" y="6155214"/>
            <a:ext cx="3005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bristol.ac.uk/careers</a:t>
            </a:r>
          </a:p>
        </p:txBody>
      </p:sp>
    </p:spTree>
    <p:extLst>
      <p:ext uri="{BB962C8B-B14F-4D97-AF65-F5344CB8AC3E}">
        <p14:creationId xmlns:p14="http://schemas.microsoft.com/office/powerpoint/2010/main" val="262347071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- Bright Aqua - K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5DC37A33-6C52-46AF-A6B2-9356E880FC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20200" y="0"/>
            <a:ext cx="29718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249EFD-2DB6-4E01-AEF3-C9618201E3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5982" y="365125"/>
            <a:ext cx="9633569" cy="1325563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9" name="Picture 8" descr="A picture containing person, posing&#10;&#10;Description automatically generated">
            <a:extLst>
              <a:ext uri="{FF2B5EF4-FFF2-40B4-BE49-F238E27FC236}">
                <a16:creationId xmlns:a16="http://schemas.microsoft.com/office/drawing/2014/main" id="{CC23CA41-B3F4-4394-8B4A-8ECD49A859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35745" y="1252483"/>
            <a:ext cx="2556255" cy="560551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175DE-E150-419E-941A-F2D6E63F3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982" y="1825625"/>
            <a:ext cx="882421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2D5765EE-4C1B-4A82-B01E-187978AB31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>
            <a:off x="11313886" y="6311900"/>
            <a:ext cx="878114" cy="456152"/>
          </a:xfrm>
          <a:prstGeom prst="rect">
            <a:avLst/>
          </a:prstGeom>
        </p:spPr>
      </p:pic>
      <p:sp>
        <p:nvSpPr>
          <p:cNvPr id="11" name="Parallelogram 10">
            <a:extLst>
              <a:ext uri="{FF2B5EF4-FFF2-40B4-BE49-F238E27FC236}">
                <a16:creationId xmlns:a16="http://schemas.microsoft.com/office/drawing/2014/main" id="{9EE27A1B-BB0B-4CB2-B68E-592EEFBD70E2}"/>
              </a:ext>
            </a:extLst>
          </p:cNvPr>
          <p:cNvSpPr/>
          <p:nvPr userDrawn="1"/>
        </p:nvSpPr>
        <p:spPr>
          <a:xfrm>
            <a:off x="11441151" y="6352143"/>
            <a:ext cx="646771" cy="365125"/>
          </a:xfrm>
          <a:prstGeom prst="parallelogram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D305E89-7D6B-4507-9DEF-B925B3E1986F}" type="slidenum">
              <a:rPr lang="en-GB" sz="18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endParaRPr lang="en-GB" sz="16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4327497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- Bright Aqua - Georg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BFD9946C-DB64-4E35-A3BB-233C057FDD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20200" y="0"/>
            <a:ext cx="29718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249EFD-2DB6-4E01-AEF3-C9618201E3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5982" y="365125"/>
            <a:ext cx="9633569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175DE-E150-419E-941A-F2D6E63F3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982" y="1825625"/>
            <a:ext cx="882421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787ADD-2E43-4C43-853C-64B81E3757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01101" y="1550195"/>
            <a:ext cx="3390900" cy="5307805"/>
          </a:xfrm>
          <a:prstGeom prst="rect">
            <a:avLst/>
          </a:prstGeom>
        </p:spPr>
      </p:pic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2D5765EE-4C1B-4A82-B01E-187978AB31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>
            <a:off x="11313886" y="6311900"/>
            <a:ext cx="878114" cy="456152"/>
          </a:xfrm>
          <a:prstGeom prst="rect">
            <a:avLst/>
          </a:prstGeom>
        </p:spPr>
      </p:pic>
      <p:sp>
        <p:nvSpPr>
          <p:cNvPr id="11" name="Parallelogram 10">
            <a:extLst>
              <a:ext uri="{FF2B5EF4-FFF2-40B4-BE49-F238E27FC236}">
                <a16:creationId xmlns:a16="http://schemas.microsoft.com/office/drawing/2014/main" id="{9EE27A1B-BB0B-4CB2-B68E-592EEFBD70E2}"/>
              </a:ext>
            </a:extLst>
          </p:cNvPr>
          <p:cNvSpPr/>
          <p:nvPr userDrawn="1"/>
        </p:nvSpPr>
        <p:spPr>
          <a:xfrm>
            <a:off x="11441151" y="6352143"/>
            <a:ext cx="646771" cy="365125"/>
          </a:xfrm>
          <a:prstGeom prst="parallelogram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D305E89-7D6B-4507-9DEF-B925B3E1986F}" type="slidenum">
              <a:rPr lang="en-GB" sz="18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endParaRPr lang="en-GB" sz="16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987410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Bright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F773DB87-32F9-417F-B1DE-6E60254E87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20200" y="-9728"/>
            <a:ext cx="29718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249EFD-2DB6-4E01-AEF3-C9618201E3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5982" y="365125"/>
            <a:ext cx="9633569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175DE-E150-419E-941A-F2D6E63F3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982" y="1815897"/>
            <a:ext cx="882421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2D5765EE-4C1B-4A82-B01E-187978AB31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>
            <a:off x="11313886" y="6311900"/>
            <a:ext cx="878114" cy="456152"/>
          </a:xfrm>
          <a:prstGeom prst="rect">
            <a:avLst/>
          </a:prstGeom>
        </p:spPr>
      </p:pic>
      <p:sp>
        <p:nvSpPr>
          <p:cNvPr id="11" name="Parallelogram 10">
            <a:extLst>
              <a:ext uri="{FF2B5EF4-FFF2-40B4-BE49-F238E27FC236}">
                <a16:creationId xmlns:a16="http://schemas.microsoft.com/office/drawing/2014/main" id="{9EE27A1B-BB0B-4CB2-B68E-592EEFBD70E2}"/>
              </a:ext>
            </a:extLst>
          </p:cNvPr>
          <p:cNvSpPr/>
          <p:nvPr userDrawn="1"/>
        </p:nvSpPr>
        <p:spPr>
          <a:xfrm>
            <a:off x="11441151" y="6352143"/>
            <a:ext cx="646771" cy="365125"/>
          </a:xfrm>
          <a:prstGeom prst="parallelogram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D305E89-7D6B-4507-9DEF-B925B3E1986F}" type="slidenum">
              <a:rPr lang="en-GB" sz="18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endParaRPr lang="en-GB" sz="16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5311736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- Dark Aqua - K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5DC37A33-6C52-46AF-A6B2-9356E880FC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20200" y="0"/>
            <a:ext cx="29718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249EFD-2DB6-4E01-AEF3-C9618201E3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5982" y="365125"/>
            <a:ext cx="9633569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175DE-E150-419E-941A-F2D6E63F3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982" y="1825625"/>
            <a:ext cx="882421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10" name="Picture 9" descr="A picture containing person, posing&#10;&#10;Description automatically generated">
            <a:extLst>
              <a:ext uri="{FF2B5EF4-FFF2-40B4-BE49-F238E27FC236}">
                <a16:creationId xmlns:a16="http://schemas.microsoft.com/office/drawing/2014/main" id="{D5CC6518-286C-48CC-A492-DFADE7935E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35745" y="1252483"/>
            <a:ext cx="2556255" cy="5605517"/>
          </a:xfrm>
          <a:prstGeom prst="rect">
            <a:avLst/>
          </a:prstGeom>
        </p:spPr>
      </p:pic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2D5765EE-4C1B-4A82-B01E-187978AB31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>
            <a:off x="11313886" y="6311900"/>
            <a:ext cx="878114" cy="456152"/>
          </a:xfrm>
          <a:prstGeom prst="rect">
            <a:avLst/>
          </a:prstGeom>
        </p:spPr>
      </p:pic>
      <p:sp>
        <p:nvSpPr>
          <p:cNvPr id="11" name="Parallelogram 10">
            <a:extLst>
              <a:ext uri="{FF2B5EF4-FFF2-40B4-BE49-F238E27FC236}">
                <a16:creationId xmlns:a16="http://schemas.microsoft.com/office/drawing/2014/main" id="{9EE27A1B-BB0B-4CB2-B68E-592EEFBD70E2}"/>
              </a:ext>
            </a:extLst>
          </p:cNvPr>
          <p:cNvSpPr/>
          <p:nvPr userDrawn="1"/>
        </p:nvSpPr>
        <p:spPr>
          <a:xfrm>
            <a:off x="11441151" y="6352143"/>
            <a:ext cx="646771" cy="365125"/>
          </a:xfrm>
          <a:prstGeom prst="parallelogram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D305E89-7D6B-4507-9DEF-B925B3E1986F}" type="slidenum">
              <a:rPr lang="en-GB" sz="18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endParaRPr lang="en-GB" sz="16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699282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- Dark Aqua - Georg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BFD9946C-DB64-4E35-A3BB-233C057FDD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20200" y="0"/>
            <a:ext cx="29718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249EFD-2DB6-4E01-AEF3-C9618201E3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5982" y="365125"/>
            <a:ext cx="9633569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175DE-E150-419E-941A-F2D6E63F3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982" y="1825625"/>
            <a:ext cx="882421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2CCC7C-D2AC-4414-AA53-CD11149A4C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01101" y="1550195"/>
            <a:ext cx="3390900" cy="5307805"/>
          </a:xfrm>
          <a:prstGeom prst="rect">
            <a:avLst/>
          </a:prstGeom>
        </p:spPr>
      </p:pic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2D5765EE-4C1B-4A82-B01E-187978AB31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>
            <a:off x="11313886" y="6311900"/>
            <a:ext cx="878114" cy="456152"/>
          </a:xfrm>
          <a:prstGeom prst="rect">
            <a:avLst/>
          </a:prstGeom>
        </p:spPr>
      </p:pic>
      <p:sp>
        <p:nvSpPr>
          <p:cNvPr id="11" name="Parallelogram 10">
            <a:extLst>
              <a:ext uri="{FF2B5EF4-FFF2-40B4-BE49-F238E27FC236}">
                <a16:creationId xmlns:a16="http://schemas.microsoft.com/office/drawing/2014/main" id="{9EE27A1B-BB0B-4CB2-B68E-592EEFBD70E2}"/>
              </a:ext>
            </a:extLst>
          </p:cNvPr>
          <p:cNvSpPr/>
          <p:nvPr userDrawn="1"/>
        </p:nvSpPr>
        <p:spPr>
          <a:xfrm>
            <a:off x="11441151" y="6352143"/>
            <a:ext cx="646771" cy="365125"/>
          </a:xfrm>
          <a:prstGeom prst="parallelogram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D305E89-7D6B-4507-9DEF-B925B3E1986F}" type="slidenum">
              <a:rPr lang="en-GB" sz="18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endParaRPr lang="en-GB" sz="16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0498758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Dark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F773DB87-32F9-417F-B1DE-6E60254E87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20200" y="0"/>
            <a:ext cx="29718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249EFD-2DB6-4E01-AEF3-C9618201E3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5982" y="365125"/>
            <a:ext cx="9633569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175DE-E150-419E-941A-F2D6E63F3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982" y="1825625"/>
            <a:ext cx="882421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2D5765EE-4C1B-4A82-B01E-187978AB31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>
            <a:off x="11313886" y="6311900"/>
            <a:ext cx="878114" cy="456152"/>
          </a:xfrm>
          <a:prstGeom prst="rect">
            <a:avLst/>
          </a:prstGeom>
        </p:spPr>
      </p:pic>
      <p:sp>
        <p:nvSpPr>
          <p:cNvPr id="11" name="Parallelogram 10">
            <a:extLst>
              <a:ext uri="{FF2B5EF4-FFF2-40B4-BE49-F238E27FC236}">
                <a16:creationId xmlns:a16="http://schemas.microsoft.com/office/drawing/2014/main" id="{9EE27A1B-BB0B-4CB2-B68E-592EEFBD70E2}"/>
              </a:ext>
            </a:extLst>
          </p:cNvPr>
          <p:cNvSpPr/>
          <p:nvPr userDrawn="1"/>
        </p:nvSpPr>
        <p:spPr>
          <a:xfrm>
            <a:off x="11441151" y="6352143"/>
            <a:ext cx="646771" cy="365125"/>
          </a:xfrm>
          <a:prstGeom prst="parallelogram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D305E89-7D6B-4507-9DEF-B925B3E1986F}" type="slidenum">
              <a:rPr lang="en-GB" sz="18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endParaRPr lang="en-GB" sz="16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0496577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- Aqua - Dark - Kot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FDB4677-CCD7-4B98-9876-BE980296BC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pic>
        <p:nvPicPr>
          <p:cNvPr id="12" name="Picture 11" descr="A picture containing person, posing&#10;&#10;Description automatically generated">
            <a:extLst>
              <a:ext uri="{FF2B5EF4-FFF2-40B4-BE49-F238E27FC236}">
                <a16:creationId xmlns:a16="http://schemas.microsoft.com/office/drawing/2014/main" id="{AF64D337-B5E4-4CA0-A45B-D8A260C025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0764" y="1185014"/>
            <a:ext cx="4001236" cy="56729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3C81AD-4C05-4F8E-8740-48D44F7044C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1800" y="478007"/>
            <a:ext cx="2413000" cy="1116638"/>
          </a:xfrm>
          <a:prstGeom prst="rect">
            <a:avLst/>
          </a:prstGeom>
        </p:spPr>
      </p:pic>
      <p:sp>
        <p:nvSpPr>
          <p:cNvPr id="24" name="Subtitle 2">
            <a:extLst>
              <a:ext uri="{FF2B5EF4-FFF2-40B4-BE49-F238E27FC236}">
                <a16:creationId xmlns:a16="http://schemas.microsoft.com/office/drawing/2014/main" id="{9D46931A-C3F4-4243-9B9B-1C15E0192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5644" y="4470400"/>
            <a:ext cx="7360074" cy="133032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8888C6A6-4992-462A-AFE7-9C61917031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617526" cy="2387600"/>
          </a:xfrm>
          <a:prstGeom prst="rect">
            <a:avLst/>
          </a:prstGeo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128B30-4807-9D39-4E68-C472E1B05535}"/>
              </a:ext>
            </a:extLst>
          </p:cNvPr>
          <p:cNvSpPr txBox="1"/>
          <p:nvPr userDrawn="1"/>
        </p:nvSpPr>
        <p:spPr>
          <a:xfrm>
            <a:off x="324136" y="6155214"/>
            <a:ext cx="3005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bristol.ac.uk/careers</a:t>
            </a:r>
          </a:p>
        </p:txBody>
      </p:sp>
    </p:spTree>
    <p:extLst>
      <p:ext uri="{BB962C8B-B14F-4D97-AF65-F5344CB8AC3E}">
        <p14:creationId xmlns:p14="http://schemas.microsoft.com/office/powerpoint/2010/main" val="38712969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- Aqua - Dark - Kota">
    <p:bg>
      <p:bgPr>
        <a:solidFill>
          <a:srgbClr val="00C0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FDB4677-CCD7-4B98-9876-BE980296BC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pic>
        <p:nvPicPr>
          <p:cNvPr id="12" name="Picture 11" descr="A picture containing person, posing&#10;&#10;Description automatically generated">
            <a:extLst>
              <a:ext uri="{FF2B5EF4-FFF2-40B4-BE49-F238E27FC236}">
                <a16:creationId xmlns:a16="http://schemas.microsoft.com/office/drawing/2014/main" id="{AF64D337-B5E4-4CA0-A45B-D8A260C025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0764" y="1185014"/>
            <a:ext cx="4001236" cy="56729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3C81AD-4C05-4F8E-8740-48D44F7044C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1800" y="478007"/>
            <a:ext cx="2413000" cy="1116638"/>
          </a:xfrm>
          <a:prstGeom prst="rect">
            <a:avLst/>
          </a:prstGeom>
        </p:spPr>
      </p:pic>
      <p:sp>
        <p:nvSpPr>
          <p:cNvPr id="24" name="Subtitle 2">
            <a:extLst>
              <a:ext uri="{FF2B5EF4-FFF2-40B4-BE49-F238E27FC236}">
                <a16:creationId xmlns:a16="http://schemas.microsoft.com/office/drawing/2014/main" id="{9D46931A-C3F4-4243-9B9B-1C15E0192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5644" y="4470400"/>
            <a:ext cx="7360074" cy="133032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8888C6A6-4992-462A-AFE7-9C61917031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617526" cy="2387600"/>
          </a:xfrm>
          <a:prstGeom prst="rect">
            <a:avLst/>
          </a:prstGeo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128B30-4807-9D39-4E68-C472E1B05535}"/>
              </a:ext>
            </a:extLst>
          </p:cNvPr>
          <p:cNvSpPr txBox="1"/>
          <p:nvPr userDrawn="1"/>
        </p:nvSpPr>
        <p:spPr>
          <a:xfrm>
            <a:off x="324136" y="6155214"/>
            <a:ext cx="3005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bristol.ac.uk/careers</a:t>
            </a:r>
          </a:p>
        </p:txBody>
      </p:sp>
    </p:spTree>
    <p:extLst>
      <p:ext uri="{BB962C8B-B14F-4D97-AF65-F5344CB8AC3E}">
        <p14:creationId xmlns:p14="http://schemas.microsoft.com/office/powerpoint/2010/main" val="94577923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- Aqua - Dark - Georgi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EE10C21A-7D52-4234-9D3F-6D7568C8C7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9C9683-C4EE-4CDB-926F-A466067C28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91863" y="1468096"/>
            <a:ext cx="4500138" cy="53899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3C81AD-4C05-4F8E-8740-48D44F7044C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1800" y="478007"/>
            <a:ext cx="2413000" cy="111663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4331AEE-EFF3-4D92-ADEF-F54764D406A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617526" cy="2387600"/>
          </a:xfrm>
          <a:prstGeom prst="rect">
            <a:avLst/>
          </a:prstGeo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7D00D1BA-CF58-41CB-9B12-F833EACBFD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5644" y="4470400"/>
            <a:ext cx="7360074" cy="133032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FFCB99-EF22-DFE4-9393-122138B042CD}"/>
              </a:ext>
            </a:extLst>
          </p:cNvPr>
          <p:cNvSpPr txBox="1"/>
          <p:nvPr userDrawn="1"/>
        </p:nvSpPr>
        <p:spPr>
          <a:xfrm>
            <a:off x="324136" y="6155214"/>
            <a:ext cx="3005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bristol.ac.uk/careers</a:t>
            </a:r>
          </a:p>
        </p:txBody>
      </p:sp>
    </p:spTree>
    <p:extLst>
      <p:ext uri="{BB962C8B-B14F-4D97-AF65-F5344CB8AC3E}">
        <p14:creationId xmlns:p14="http://schemas.microsoft.com/office/powerpoint/2010/main" val="375803180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- Aqua - Dark - Georgia">
    <p:bg>
      <p:bgPr>
        <a:solidFill>
          <a:srgbClr val="00C0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EE10C21A-7D52-4234-9D3F-6D7568C8C7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9C9683-C4EE-4CDB-926F-A466067C28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91863" y="1468096"/>
            <a:ext cx="4500138" cy="53899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3C81AD-4C05-4F8E-8740-48D44F7044C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1800" y="478007"/>
            <a:ext cx="2413000" cy="111663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4331AEE-EFF3-4D92-ADEF-F54764D406A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617526" cy="2387600"/>
          </a:xfrm>
          <a:prstGeom prst="rect">
            <a:avLst/>
          </a:prstGeo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7D00D1BA-CF58-41CB-9B12-F833EACBFD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5644" y="4470400"/>
            <a:ext cx="7360074" cy="133032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FFCB99-EF22-DFE4-9393-122138B042CD}"/>
              </a:ext>
            </a:extLst>
          </p:cNvPr>
          <p:cNvSpPr txBox="1"/>
          <p:nvPr userDrawn="1"/>
        </p:nvSpPr>
        <p:spPr>
          <a:xfrm>
            <a:off x="324136" y="6155214"/>
            <a:ext cx="3005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bristol.ac.uk/careers</a:t>
            </a:r>
          </a:p>
        </p:txBody>
      </p:sp>
    </p:spTree>
    <p:extLst>
      <p:ext uri="{BB962C8B-B14F-4D97-AF65-F5344CB8AC3E}">
        <p14:creationId xmlns:p14="http://schemas.microsoft.com/office/powerpoint/2010/main" val="280050456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- Aqua -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5D0771F3-B57B-4FE3-A35A-D65A1C5773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0CF613C0-582F-4921-9189-0ACA24A6362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596433" y="0"/>
            <a:ext cx="4595567" cy="6858000"/>
          </a:xfrm>
          <a:custGeom>
            <a:avLst/>
            <a:gdLst>
              <a:gd name="connsiteX0" fmla="*/ 0 w 4593996"/>
              <a:gd name="connsiteY0" fmla="*/ 6858000 h 6858000"/>
              <a:gd name="connsiteX1" fmla="*/ 1148499 w 4593996"/>
              <a:gd name="connsiteY1" fmla="*/ 0 h 6858000"/>
              <a:gd name="connsiteX2" fmla="*/ 3445497 w 4593996"/>
              <a:gd name="connsiteY2" fmla="*/ 0 h 6858000"/>
              <a:gd name="connsiteX3" fmla="*/ 4593996 w 4593996"/>
              <a:gd name="connsiteY3" fmla="*/ 6858000 h 6858000"/>
              <a:gd name="connsiteX4" fmla="*/ 0 w 4593996"/>
              <a:gd name="connsiteY4" fmla="*/ 6858000 h 6858000"/>
              <a:gd name="connsiteX0" fmla="*/ 0 w 4595567"/>
              <a:gd name="connsiteY0" fmla="*/ 6858000 h 6858000"/>
              <a:gd name="connsiteX1" fmla="*/ 1148499 w 4595567"/>
              <a:gd name="connsiteY1" fmla="*/ 0 h 6858000"/>
              <a:gd name="connsiteX2" fmla="*/ 4595567 w 4595567"/>
              <a:gd name="connsiteY2" fmla="*/ 9427 h 6858000"/>
              <a:gd name="connsiteX3" fmla="*/ 4593996 w 4595567"/>
              <a:gd name="connsiteY3" fmla="*/ 6858000 h 6858000"/>
              <a:gd name="connsiteX4" fmla="*/ 0 w 4595567"/>
              <a:gd name="connsiteY4" fmla="*/ 6858000 h 6858000"/>
              <a:gd name="connsiteX0" fmla="*/ 0 w 4595567"/>
              <a:gd name="connsiteY0" fmla="*/ 6867427 h 6867427"/>
              <a:gd name="connsiteX1" fmla="*/ 1572705 w 4595567"/>
              <a:gd name="connsiteY1" fmla="*/ 0 h 6867427"/>
              <a:gd name="connsiteX2" fmla="*/ 4595567 w 4595567"/>
              <a:gd name="connsiteY2" fmla="*/ 18854 h 6867427"/>
              <a:gd name="connsiteX3" fmla="*/ 4593996 w 4595567"/>
              <a:gd name="connsiteY3" fmla="*/ 6867427 h 6867427"/>
              <a:gd name="connsiteX4" fmla="*/ 0 w 4595567"/>
              <a:gd name="connsiteY4" fmla="*/ 6867427 h 6867427"/>
              <a:gd name="connsiteX0" fmla="*/ 0 w 4595567"/>
              <a:gd name="connsiteY0" fmla="*/ 6848573 h 6848573"/>
              <a:gd name="connsiteX1" fmla="*/ 1563278 w 4595567"/>
              <a:gd name="connsiteY1" fmla="*/ 9426 h 6848573"/>
              <a:gd name="connsiteX2" fmla="*/ 4595567 w 4595567"/>
              <a:gd name="connsiteY2" fmla="*/ 0 h 6848573"/>
              <a:gd name="connsiteX3" fmla="*/ 4593996 w 4595567"/>
              <a:gd name="connsiteY3" fmla="*/ 6848573 h 6848573"/>
              <a:gd name="connsiteX4" fmla="*/ 0 w 4595567"/>
              <a:gd name="connsiteY4" fmla="*/ 6848573 h 6848573"/>
              <a:gd name="connsiteX0" fmla="*/ 0 w 4595567"/>
              <a:gd name="connsiteY0" fmla="*/ 6848573 h 6848573"/>
              <a:gd name="connsiteX1" fmla="*/ 1563278 w 4595567"/>
              <a:gd name="connsiteY1" fmla="*/ 9426 h 6848573"/>
              <a:gd name="connsiteX2" fmla="*/ 4595567 w 4595567"/>
              <a:gd name="connsiteY2" fmla="*/ 0 h 6848573"/>
              <a:gd name="connsiteX3" fmla="*/ 4593996 w 4595567"/>
              <a:gd name="connsiteY3" fmla="*/ 6848573 h 6848573"/>
              <a:gd name="connsiteX4" fmla="*/ 0 w 4595567"/>
              <a:gd name="connsiteY4" fmla="*/ 6848573 h 6848573"/>
              <a:gd name="connsiteX0" fmla="*/ 0 w 4595567"/>
              <a:gd name="connsiteY0" fmla="*/ 6858001 h 6858001"/>
              <a:gd name="connsiteX1" fmla="*/ 1563278 w 4595567"/>
              <a:gd name="connsiteY1" fmla="*/ 0 h 6858001"/>
              <a:gd name="connsiteX2" fmla="*/ 4595567 w 4595567"/>
              <a:gd name="connsiteY2" fmla="*/ 9428 h 6858001"/>
              <a:gd name="connsiteX3" fmla="*/ 4593996 w 4595567"/>
              <a:gd name="connsiteY3" fmla="*/ 6858001 h 6858001"/>
              <a:gd name="connsiteX4" fmla="*/ 0 w 4595567"/>
              <a:gd name="connsiteY4" fmla="*/ 6858001 h 6858001"/>
              <a:gd name="connsiteX0" fmla="*/ 0 w 4595567"/>
              <a:gd name="connsiteY0" fmla="*/ 6867426 h 6867426"/>
              <a:gd name="connsiteX1" fmla="*/ 1563278 w 4595567"/>
              <a:gd name="connsiteY1" fmla="*/ 9425 h 6867426"/>
              <a:gd name="connsiteX2" fmla="*/ 4595567 w 4595567"/>
              <a:gd name="connsiteY2" fmla="*/ 0 h 6867426"/>
              <a:gd name="connsiteX3" fmla="*/ 4593996 w 4595567"/>
              <a:gd name="connsiteY3" fmla="*/ 6867426 h 6867426"/>
              <a:gd name="connsiteX4" fmla="*/ 0 w 4595567"/>
              <a:gd name="connsiteY4" fmla="*/ 6867426 h 6867426"/>
              <a:gd name="connsiteX0" fmla="*/ 0 w 4595567"/>
              <a:gd name="connsiteY0" fmla="*/ 6867426 h 6867426"/>
              <a:gd name="connsiteX1" fmla="*/ 1563278 w 4595567"/>
              <a:gd name="connsiteY1" fmla="*/ 9425 h 6867426"/>
              <a:gd name="connsiteX2" fmla="*/ 4595567 w 4595567"/>
              <a:gd name="connsiteY2" fmla="*/ 0 h 6867426"/>
              <a:gd name="connsiteX3" fmla="*/ 4593996 w 4595567"/>
              <a:gd name="connsiteY3" fmla="*/ 6867426 h 6867426"/>
              <a:gd name="connsiteX4" fmla="*/ 0 w 4595567"/>
              <a:gd name="connsiteY4" fmla="*/ 6867426 h 686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5567" h="6867426">
                <a:moveTo>
                  <a:pt x="0" y="6867426"/>
                </a:moveTo>
                <a:lnTo>
                  <a:pt x="1563278" y="9425"/>
                </a:lnTo>
                <a:lnTo>
                  <a:pt x="4595567" y="0"/>
                </a:lnTo>
                <a:cubicBezTo>
                  <a:pt x="4595043" y="2282858"/>
                  <a:pt x="4594520" y="4584568"/>
                  <a:pt x="4593996" y="6867426"/>
                </a:cubicBezTo>
                <a:lnTo>
                  <a:pt x="0" y="6867426"/>
                </a:lnTo>
                <a:close/>
              </a:path>
            </a:pathLst>
          </a:custGeo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/>
              <a:t>You can add a picture here if you’d like to.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8D1CDD7-92FF-49EF-BF52-8285EC29B78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617526" cy="2387600"/>
          </a:xfrm>
          <a:prstGeom prst="rect">
            <a:avLst/>
          </a:prstGeo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87C0008-F248-48D0-8D9E-15BE2C9463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5644" y="4470400"/>
            <a:ext cx="7360074" cy="133032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684682-AB27-BFDF-4B38-6C1657784DEE}"/>
              </a:ext>
            </a:extLst>
          </p:cNvPr>
          <p:cNvSpPr txBox="1"/>
          <p:nvPr userDrawn="1"/>
        </p:nvSpPr>
        <p:spPr>
          <a:xfrm>
            <a:off x="324136" y="6155214"/>
            <a:ext cx="3005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bristol.ac.uk/careers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827167-7DDD-7401-436E-8C8BD8A03D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1800" y="478007"/>
            <a:ext cx="2413000" cy="111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56008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- Aqua - Dark">
    <p:bg>
      <p:bgPr>
        <a:solidFill>
          <a:srgbClr val="00C0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5D0771F3-B57B-4FE3-A35A-D65A1C5773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0CF613C0-582F-4921-9189-0ACA24A6362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596433" y="0"/>
            <a:ext cx="4595567" cy="6858000"/>
          </a:xfrm>
          <a:custGeom>
            <a:avLst/>
            <a:gdLst>
              <a:gd name="connsiteX0" fmla="*/ 0 w 4593996"/>
              <a:gd name="connsiteY0" fmla="*/ 6858000 h 6858000"/>
              <a:gd name="connsiteX1" fmla="*/ 1148499 w 4593996"/>
              <a:gd name="connsiteY1" fmla="*/ 0 h 6858000"/>
              <a:gd name="connsiteX2" fmla="*/ 3445497 w 4593996"/>
              <a:gd name="connsiteY2" fmla="*/ 0 h 6858000"/>
              <a:gd name="connsiteX3" fmla="*/ 4593996 w 4593996"/>
              <a:gd name="connsiteY3" fmla="*/ 6858000 h 6858000"/>
              <a:gd name="connsiteX4" fmla="*/ 0 w 4593996"/>
              <a:gd name="connsiteY4" fmla="*/ 6858000 h 6858000"/>
              <a:gd name="connsiteX0" fmla="*/ 0 w 4595567"/>
              <a:gd name="connsiteY0" fmla="*/ 6858000 h 6858000"/>
              <a:gd name="connsiteX1" fmla="*/ 1148499 w 4595567"/>
              <a:gd name="connsiteY1" fmla="*/ 0 h 6858000"/>
              <a:gd name="connsiteX2" fmla="*/ 4595567 w 4595567"/>
              <a:gd name="connsiteY2" fmla="*/ 9427 h 6858000"/>
              <a:gd name="connsiteX3" fmla="*/ 4593996 w 4595567"/>
              <a:gd name="connsiteY3" fmla="*/ 6858000 h 6858000"/>
              <a:gd name="connsiteX4" fmla="*/ 0 w 4595567"/>
              <a:gd name="connsiteY4" fmla="*/ 6858000 h 6858000"/>
              <a:gd name="connsiteX0" fmla="*/ 0 w 4595567"/>
              <a:gd name="connsiteY0" fmla="*/ 6867427 h 6867427"/>
              <a:gd name="connsiteX1" fmla="*/ 1572705 w 4595567"/>
              <a:gd name="connsiteY1" fmla="*/ 0 h 6867427"/>
              <a:gd name="connsiteX2" fmla="*/ 4595567 w 4595567"/>
              <a:gd name="connsiteY2" fmla="*/ 18854 h 6867427"/>
              <a:gd name="connsiteX3" fmla="*/ 4593996 w 4595567"/>
              <a:gd name="connsiteY3" fmla="*/ 6867427 h 6867427"/>
              <a:gd name="connsiteX4" fmla="*/ 0 w 4595567"/>
              <a:gd name="connsiteY4" fmla="*/ 6867427 h 6867427"/>
              <a:gd name="connsiteX0" fmla="*/ 0 w 4595567"/>
              <a:gd name="connsiteY0" fmla="*/ 6848573 h 6848573"/>
              <a:gd name="connsiteX1" fmla="*/ 1563278 w 4595567"/>
              <a:gd name="connsiteY1" fmla="*/ 9426 h 6848573"/>
              <a:gd name="connsiteX2" fmla="*/ 4595567 w 4595567"/>
              <a:gd name="connsiteY2" fmla="*/ 0 h 6848573"/>
              <a:gd name="connsiteX3" fmla="*/ 4593996 w 4595567"/>
              <a:gd name="connsiteY3" fmla="*/ 6848573 h 6848573"/>
              <a:gd name="connsiteX4" fmla="*/ 0 w 4595567"/>
              <a:gd name="connsiteY4" fmla="*/ 6848573 h 6848573"/>
              <a:gd name="connsiteX0" fmla="*/ 0 w 4595567"/>
              <a:gd name="connsiteY0" fmla="*/ 6848573 h 6848573"/>
              <a:gd name="connsiteX1" fmla="*/ 1563278 w 4595567"/>
              <a:gd name="connsiteY1" fmla="*/ 9426 h 6848573"/>
              <a:gd name="connsiteX2" fmla="*/ 4595567 w 4595567"/>
              <a:gd name="connsiteY2" fmla="*/ 0 h 6848573"/>
              <a:gd name="connsiteX3" fmla="*/ 4593996 w 4595567"/>
              <a:gd name="connsiteY3" fmla="*/ 6848573 h 6848573"/>
              <a:gd name="connsiteX4" fmla="*/ 0 w 4595567"/>
              <a:gd name="connsiteY4" fmla="*/ 6848573 h 6848573"/>
              <a:gd name="connsiteX0" fmla="*/ 0 w 4595567"/>
              <a:gd name="connsiteY0" fmla="*/ 6858001 h 6858001"/>
              <a:gd name="connsiteX1" fmla="*/ 1563278 w 4595567"/>
              <a:gd name="connsiteY1" fmla="*/ 0 h 6858001"/>
              <a:gd name="connsiteX2" fmla="*/ 4595567 w 4595567"/>
              <a:gd name="connsiteY2" fmla="*/ 9428 h 6858001"/>
              <a:gd name="connsiteX3" fmla="*/ 4593996 w 4595567"/>
              <a:gd name="connsiteY3" fmla="*/ 6858001 h 6858001"/>
              <a:gd name="connsiteX4" fmla="*/ 0 w 4595567"/>
              <a:gd name="connsiteY4" fmla="*/ 6858001 h 6858001"/>
              <a:gd name="connsiteX0" fmla="*/ 0 w 4595567"/>
              <a:gd name="connsiteY0" fmla="*/ 6867426 h 6867426"/>
              <a:gd name="connsiteX1" fmla="*/ 1563278 w 4595567"/>
              <a:gd name="connsiteY1" fmla="*/ 9425 h 6867426"/>
              <a:gd name="connsiteX2" fmla="*/ 4595567 w 4595567"/>
              <a:gd name="connsiteY2" fmla="*/ 0 h 6867426"/>
              <a:gd name="connsiteX3" fmla="*/ 4593996 w 4595567"/>
              <a:gd name="connsiteY3" fmla="*/ 6867426 h 6867426"/>
              <a:gd name="connsiteX4" fmla="*/ 0 w 4595567"/>
              <a:gd name="connsiteY4" fmla="*/ 6867426 h 6867426"/>
              <a:gd name="connsiteX0" fmla="*/ 0 w 4595567"/>
              <a:gd name="connsiteY0" fmla="*/ 6867426 h 6867426"/>
              <a:gd name="connsiteX1" fmla="*/ 1563278 w 4595567"/>
              <a:gd name="connsiteY1" fmla="*/ 9425 h 6867426"/>
              <a:gd name="connsiteX2" fmla="*/ 4595567 w 4595567"/>
              <a:gd name="connsiteY2" fmla="*/ 0 h 6867426"/>
              <a:gd name="connsiteX3" fmla="*/ 4593996 w 4595567"/>
              <a:gd name="connsiteY3" fmla="*/ 6867426 h 6867426"/>
              <a:gd name="connsiteX4" fmla="*/ 0 w 4595567"/>
              <a:gd name="connsiteY4" fmla="*/ 6867426 h 686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5567" h="6867426">
                <a:moveTo>
                  <a:pt x="0" y="6867426"/>
                </a:moveTo>
                <a:lnTo>
                  <a:pt x="1563278" y="9425"/>
                </a:lnTo>
                <a:lnTo>
                  <a:pt x="4595567" y="0"/>
                </a:lnTo>
                <a:cubicBezTo>
                  <a:pt x="4595043" y="2282858"/>
                  <a:pt x="4594520" y="4584568"/>
                  <a:pt x="4593996" y="6867426"/>
                </a:cubicBezTo>
                <a:lnTo>
                  <a:pt x="0" y="6867426"/>
                </a:lnTo>
                <a:close/>
              </a:path>
            </a:pathLst>
          </a:custGeo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/>
              <a:t>You can add a picture here if you’d like to.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8D1CDD7-92FF-49EF-BF52-8285EC29B78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617526" cy="2387600"/>
          </a:xfrm>
          <a:prstGeom prst="rect">
            <a:avLst/>
          </a:prstGeo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87C0008-F248-48D0-8D9E-15BE2C9463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5644" y="4470400"/>
            <a:ext cx="7360074" cy="133032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684682-AB27-BFDF-4B38-6C1657784DEE}"/>
              </a:ext>
            </a:extLst>
          </p:cNvPr>
          <p:cNvSpPr txBox="1"/>
          <p:nvPr userDrawn="1"/>
        </p:nvSpPr>
        <p:spPr>
          <a:xfrm>
            <a:off x="324136" y="6155214"/>
            <a:ext cx="3005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bristol.ac.uk/careers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633F1A-B0C5-B6DE-45AC-A381DBDA8FB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1800" y="478007"/>
            <a:ext cx="2413000" cy="111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85119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- Bright Aqua - K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A4FA1AD-414E-4AF6-B15F-BD3C463A3E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BC7B2B7-4DD8-4A3E-809F-088A9348405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617526" cy="2387600"/>
          </a:xfrm>
          <a:prstGeom prst="rect">
            <a:avLst/>
          </a:prstGeom>
        </p:spPr>
        <p:txBody>
          <a:bodyPr anchor="b"/>
          <a:lstStyle>
            <a:lvl1pPr algn="l"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1" name="Picture 10" descr="A picture containing person, posing&#10;&#10;Description automatically generated">
            <a:extLst>
              <a:ext uri="{FF2B5EF4-FFF2-40B4-BE49-F238E27FC236}">
                <a16:creationId xmlns:a16="http://schemas.microsoft.com/office/drawing/2014/main" id="{3A3F3F27-2FD3-4F42-A275-0EA2344989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0764" y="1185014"/>
            <a:ext cx="4001236" cy="5672986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AE9D8121-7AEA-4256-940E-7B5DF46760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5644" y="4470400"/>
            <a:ext cx="7360074" cy="133032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" name="Rectangle 1">
            <a:hlinkClick r:id="rId4"/>
            <a:extLst>
              <a:ext uri="{FF2B5EF4-FFF2-40B4-BE49-F238E27FC236}">
                <a16:creationId xmlns:a16="http://schemas.microsoft.com/office/drawing/2014/main" id="{D4A38661-7B0B-43FB-A016-803823DF4DB2}"/>
              </a:ext>
            </a:extLst>
          </p:cNvPr>
          <p:cNvSpPr/>
          <p:nvPr userDrawn="1"/>
        </p:nvSpPr>
        <p:spPr>
          <a:xfrm>
            <a:off x="425643" y="6365289"/>
            <a:ext cx="2894606" cy="3462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6A2C13-6299-F694-B020-98F3D8D7619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5642" y="340822"/>
            <a:ext cx="2432939" cy="1421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30407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- Bright Aqua - Georg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05E1DE6-0B36-4A78-9AF8-0760FCF96E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617526" cy="2387600"/>
          </a:xfrm>
          <a:prstGeom prst="rect">
            <a:avLst/>
          </a:prstGeom>
        </p:spPr>
        <p:txBody>
          <a:bodyPr anchor="b"/>
          <a:lstStyle>
            <a:lvl1pPr algn="l">
              <a:defRPr sz="4800"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A522374-A587-489E-8819-61FDF7006EA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5644" y="4470400"/>
            <a:ext cx="7360074" cy="133032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578D518-25D3-4626-9D74-1C0A855868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157594-3B2C-4D04-A8D9-81538494BE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91863" y="1468096"/>
            <a:ext cx="4500138" cy="53899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B2AC71C-EDF9-1838-B06B-115974BF234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5642" y="340822"/>
            <a:ext cx="2432939" cy="1421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77186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- Bright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B8EF58-D132-4D5B-95D0-877F7A9E50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617526" cy="2387600"/>
          </a:xfrm>
          <a:prstGeom prst="rect">
            <a:avLst/>
          </a:prstGeom>
        </p:spPr>
        <p:txBody>
          <a:bodyPr anchor="b"/>
          <a:lstStyle>
            <a:lvl1pPr algn="l">
              <a:defRPr sz="48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D71D877-0EE9-444D-877D-FC369D8686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5644" y="4470400"/>
            <a:ext cx="7360074" cy="133032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4F264DC-E9EB-4AE8-B86B-B61ADEC396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846FBA-76C3-DEA4-ABAF-B391963FEF8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5642" y="340822"/>
            <a:ext cx="2432939" cy="1421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98332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- Dark Aqua - K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E282D18-69F1-45B4-A794-4BFACF6AA09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617526" cy="2387600"/>
          </a:xfrm>
          <a:prstGeom prst="rect">
            <a:avLst/>
          </a:prstGeom>
        </p:spPr>
        <p:txBody>
          <a:bodyPr anchor="b"/>
          <a:lstStyle>
            <a:lvl1pPr algn="l">
              <a:defRPr sz="48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C8CFBA42-CE27-4F45-B04F-910AD33963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5644" y="4470400"/>
            <a:ext cx="7360074" cy="133032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DF886F0-74BB-403D-9C19-D9874159CB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pic>
        <p:nvPicPr>
          <p:cNvPr id="11" name="Picture 10" descr="A picture containing person, posing&#10;&#10;Description automatically generated">
            <a:extLst>
              <a:ext uri="{FF2B5EF4-FFF2-40B4-BE49-F238E27FC236}">
                <a16:creationId xmlns:a16="http://schemas.microsoft.com/office/drawing/2014/main" id="{6BE31FB4-3734-4A42-99B2-EE0EF5ACCB8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0764" y="1185014"/>
            <a:ext cx="4001236" cy="567298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C9E457-CC1C-C896-E0E3-CB74265D59B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5642" y="340822"/>
            <a:ext cx="2432939" cy="1421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75803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- Dark Aqua - Georg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29915DB-ECCA-48F1-9364-937D7FBD305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587826" cy="2387600"/>
          </a:xfrm>
          <a:prstGeom prst="rect">
            <a:avLst/>
          </a:prstGeom>
        </p:spPr>
        <p:txBody>
          <a:bodyPr anchor="b"/>
          <a:lstStyle>
            <a:lvl1pPr algn="l">
              <a:defRPr sz="48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4DC766A-BFCB-47B5-A66D-612808674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5644" y="4470400"/>
            <a:ext cx="7360074" cy="133032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30606B3-4070-4A86-B579-9CA0A594C5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8C0C40-7EFD-4EEF-9A29-560F2FB4D9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91863" y="1468096"/>
            <a:ext cx="4500138" cy="53899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59F279-B82C-9669-BC42-A5A6F6D35AD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5642" y="340822"/>
            <a:ext cx="2432939" cy="1421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09113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- Dark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E77F9BF-6950-4815-83DA-4FABF3646B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617526" cy="2387600"/>
          </a:xfrm>
          <a:prstGeom prst="rect">
            <a:avLst/>
          </a:prstGeom>
        </p:spPr>
        <p:txBody>
          <a:bodyPr anchor="b"/>
          <a:lstStyle>
            <a:lvl1pPr algn="l">
              <a:defRPr sz="48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TEXT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A980EB1-9856-456C-BCFF-E06C4045A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5644" y="4470400"/>
            <a:ext cx="7360074" cy="133032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B2C42F3-092A-41E5-BD52-C3D6F18786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516C2C4-A39A-3780-8266-8FA6BBEC5FD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5642" y="340822"/>
            <a:ext cx="2432939" cy="1421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2749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- Aqua - Kot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A90116F0-3DF4-466A-93A0-87BB8457B5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837D66-8C51-4727-AFB4-4423A28420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463489" cy="1734882"/>
          </a:xfrm>
          <a:prstGeom prst="rect">
            <a:avLst/>
          </a:prstGeom>
        </p:spPr>
        <p:txBody>
          <a:bodyPr anchor="b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DIVIDER TITLE STYLE</a:t>
            </a:r>
            <a:endParaRPr lang="en-GB"/>
          </a:p>
        </p:txBody>
      </p:sp>
      <p:pic>
        <p:nvPicPr>
          <p:cNvPr id="10" name="Picture 9" descr="A picture containing person, posing&#10;&#10;Description automatically generated">
            <a:extLst>
              <a:ext uri="{FF2B5EF4-FFF2-40B4-BE49-F238E27FC236}">
                <a16:creationId xmlns:a16="http://schemas.microsoft.com/office/drawing/2014/main" id="{DFBF117E-7AB3-4B44-BC59-B71AB4F3013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0764" y="1185014"/>
            <a:ext cx="4001236" cy="5672986"/>
          </a:xfrm>
          <a:prstGeom prst="rect">
            <a:avLst/>
          </a:prstGeom>
        </p:spPr>
      </p:pic>
      <p:pic>
        <p:nvPicPr>
          <p:cNvPr id="12" name="Picture 11" descr="Shape&#10;&#10;Description automatically generated">
            <a:extLst>
              <a:ext uri="{FF2B5EF4-FFF2-40B4-BE49-F238E27FC236}">
                <a16:creationId xmlns:a16="http://schemas.microsoft.com/office/drawing/2014/main" id="{A56B8CF1-49D5-407A-876E-C96764C295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>
            <a:off x="11313886" y="6311900"/>
            <a:ext cx="878114" cy="456152"/>
          </a:xfrm>
          <a:prstGeom prst="rect">
            <a:avLst/>
          </a:prstGeom>
        </p:spPr>
      </p:pic>
      <p:sp>
        <p:nvSpPr>
          <p:cNvPr id="14" name="Parallelogram 13">
            <a:extLst>
              <a:ext uri="{FF2B5EF4-FFF2-40B4-BE49-F238E27FC236}">
                <a16:creationId xmlns:a16="http://schemas.microsoft.com/office/drawing/2014/main" id="{536E8E01-9E8C-477B-A8A3-219BEDA6C830}"/>
              </a:ext>
            </a:extLst>
          </p:cNvPr>
          <p:cNvSpPr/>
          <p:nvPr userDrawn="1"/>
        </p:nvSpPr>
        <p:spPr>
          <a:xfrm>
            <a:off x="11441151" y="6352143"/>
            <a:ext cx="646771" cy="365125"/>
          </a:xfrm>
          <a:prstGeom prst="parallelogram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D305E89-7D6B-4507-9DEF-B925B3E1986F}" type="slidenum">
              <a:rPr lang="en-GB" sz="18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endParaRPr lang="en-GB" sz="16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DB8924-D402-A7FF-AAE1-2801AD13EA94}"/>
              </a:ext>
            </a:extLst>
          </p:cNvPr>
          <p:cNvSpPr txBox="1"/>
          <p:nvPr userDrawn="1"/>
        </p:nvSpPr>
        <p:spPr>
          <a:xfrm>
            <a:off x="324136" y="6155214"/>
            <a:ext cx="3005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bristol.ac.uk/careers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8B3C75-CC7D-B25A-30D9-5CB1F85BA00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1800" y="478007"/>
            <a:ext cx="2413000" cy="111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72775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- Aqua - Kota">
    <p:bg>
      <p:bgPr>
        <a:solidFill>
          <a:srgbClr val="00C0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A90116F0-3DF4-466A-93A0-87BB8457B5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837D66-8C51-4727-AFB4-4423A28420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463489" cy="1734882"/>
          </a:xfrm>
          <a:prstGeom prst="rect">
            <a:avLst/>
          </a:prstGeom>
        </p:spPr>
        <p:txBody>
          <a:bodyPr anchor="b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DIVIDER TITLE STYLE</a:t>
            </a:r>
            <a:endParaRPr lang="en-GB"/>
          </a:p>
        </p:txBody>
      </p:sp>
      <p:pic>
        <p:nvPicPr>
          <p:cNvPr id="10" name="Picture 9" descr="A picture containing person, posing&#10;&#10;Description automatically generated">
            <a:extLst>
              <a:ext uri="{FF2B5EF4-FFF2-40B4-BE49-F238E27FC236}">
                <a16:creationId xmlns:a16="http://schemas.microsoft.com/office/drawing/2014/main" id="{DFBF117E-7AB3-4B44-BC59-B71AB4F3013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0764" y="1185014"/>
            <a:ext cx="4001236" cy="5672986"/>
          </a:xfrm>
          <a:prstGeom prst="rect">
            <a:avLst/>
          </a:prstGeom>
        </p:spPr>
      </p:pic>
      <p:pic>
        <p:nvPicPr>
          <p:cNvPr id="12" name="Picture 11" descr="Shape&#10;&#10;Description automatically generated">
            <a:extLst>
              <a:ext uri="{FF2B5EF4-FFF2-40B4-BE49-F238E27FC236}">
                <a16:creationId xmlns:a16="http://schemas.microsoft.com/office/drawing/2014/main" id="{A56B8CF1-49D5-407A-876E-C96764C295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>
            <a:off x="11313886" y="6311900"/>
            <a:ext cx="878114" cy="456152"/>
          </a:xfrm>
          <a:prstGeom prst="rect">
            <a:avLst/>
          </a:prstGeom>
        </p:spPr>
      </p:pic>
      <p:sp>
        <p:nvSpPr>
          <p:cNvPr id="14" name="Parallelogram 13">
            <a:extLst>
              <a:ext uri="{FF2B5EF4-FFF2-40B4-BE49-F238E27FC236}">
                <a16:creationId xmlns:a16="http://schemas.microsoft.com/office/drawing/2014/main" id="{536E8E01-9E8C-477B-A8A3-219BEDA6C830}"/>
              </a:ext>
            </a:extLst>
          </p:cNvPr>
          <p:cNvSpPr/>
          <p:nvPr userDrawn="1"/>
        </p:nvSpPr>
        <p:spPr>
          <a:xfrm>
            <a:off x="11441151" y="6352143"/>
            <a:ext cx="646771" cy="365125"/>
          </a:xfrm>
          <a:prstGeom prst="parallelogram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D305E89-7D6B-4507-9DEF-B925B3E1986F}" type="slidenum">
              <a:rPr lang="en-GB" sz="18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endParaRPr lang="en-GB" sz="16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DB8924-D402-A7FF-AAE1-2801AD13EA94}"/>
              </a:ext>
            </a:extLst>
          </p:cNvPr>
          <p:cNvSpPr txBox="1"/>
          <p:nvPr userDrawn="1"/>
        </p:nvSpPr>
        <p:spPr>
          <a:xfrm>
            <a:off x="324136" y="6155214"/>
            <a:ext cx="3005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bristol.ac.uk/careers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8C1CF5-999D-BE5B-7643-81C940283A1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1800" y="478007"/>
            <a:ext cx="2413000" cy="111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92778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- Aqua - Georgi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0B7FB671-A36F-4A93-AE95-D4758E3C0F5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FF41A6-F2F2-4D5E-BD19-70AAD710E1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91863" y="1468096"/>
            <a:ext cx="4500138" cy="53899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837D66-8C51-4727-AFB4-4423A28420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463489" cy="173488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DIVIDER TITLE STYLE</a:t>
            </a:r>
            <a:endParaRPr lang="en-GB"/>
          </a:p>
        </p:txBody>
      </p:sp>
      <p:pic>
        <p:nvPicPr>
          <p:cNvPr id="12" name="Picture 11" descr="Shape&#10;&#10;Description automatically generated">
            <a:extLst>
              <a:ext uri="{FF2B5EF4-FFF2-40B4-BE49-F238E27FC236}">
                <a16:creationId xmlns:a16="http://schemas.microsoft.com/office/drawing/2014/main" id="{A56B8CF1-49D5-407A-876E-C96764C295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>
            <a:off x="11313886" y="6311900"/>
            <a:ext cx="878114" cy="456152"/>
          </a:xfrm>
          <a:prstGeom prst="rect">
            <a:avLst/>
          </a:prstGeom>
        </p:spPr>
      </p:pic>
      <p:sp>
        <p:nvSpPr>
          <p:cNvPr id="14" name="Parallelogram 13">
            <a:extLst>
              <a:ext uri="{FF2B5EF4-FFF2-40B4-BE49-F238E27FC236}">
                <a16:creationId xmlns:a16="http://schemas.microsoft.com/office/drawing/2014/main" id="{536E8E01-9E8C-477B-A8A3-219BEDA6C830}"/>
              </a:ext>
            </a:extLst>
          </p:cNvPr>
          <p:cNvSpPr/>
          <p:nvPr userDrawn="1"/>
        </p:nvSpPr>
        <p:spPr>
          <a:xfrm>
            <a:off x="11441151" y="6352143"/>
            <a:ext cx="646771" cy="365125"/>
          </a:xfrm>
          <a:prstGeom prst="parallelogram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D305E89-7D6B-4507-9DEF-B925B3E1986F}" type="slidenum">
              <a:rPr lang="en-GB" sz="18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endParaRPr lang="en-GB" sz="16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850D6F-DFAE-7C05-AA0E-BFEB2B890526}"/>
              </a:ext>
            </a:extLst>
          </p:cNvPr>
          <p:cNvSpPr txBox="1"/>
          <p:nvPr userDrawn="1"/>
        </p:nvSpPr>
        <p:spPr>
          <a:xfrm>
            <a:off x="324136" y="6155214"/>
            <a:ext cx="3005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bristol.ac.uk/careers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8F5C8B-A67B-709B-AC84-248514B7747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1800" y="478007"/>
            <a:ext cx="2413000" cy="111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05889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- Aqua - Georgia">
    <p:bg>
      <p:bgPr>
        <a:solidFill>
          <a:srgbClr val="00C0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0B7FB671-A36F-4A93-AE95-D4758E3C0F5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FF41A6-F2F2-4D5E-BD19-70AAD710E1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91863" y="1468096"/>
            <a:ext cx="4500138" cy="53899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837D66-8C51-4727-AFB4-4423A28420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463489" cy="173488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DIVIDER TITLE STYLE</a:t>
            </a:r>
            <a:endParaRPr lang="en-GB"/>
          </a:p>
        </p:txBody>
      </p:sp>
      <p:pic>
        <p:nvPicPr>
          <p:cNvPr id="12" name="Picture 11" descr="Shape&#10;&#10;Description automatically generated">
            <a:extLst>
              <a:ext uri="{FF2B5EF4-FFF2-40B4-BE49-F238E27FC236}">
                <a16:creationId xmlns:a16="http://schemas.microsoft.com/office/drawing/2014/main" id="{A56B8CF1-49D5-407A-876E-C96764C295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>
            <a:off x="11313886" y="6311900"/>
            <a:ext cx="878114" cy="456152"/>
          </a:xfrm>
          <a:prstGeom prst="rect">
            <a:avLst/>
          </a:prstGeom>
        </p:spPr>
      </p:pic>
      <p:sp>
        <p:nvSpPr>
          <p:cNvPr id="14" name="Parallelogram 13">
            <a:extLst>
              <a:ext uri="{FF2B5EF4-FFF2-40B4-BE49-F238E27FC236}">
                <a16:creationId xmlns:a16="http://schemas.microsoft.com/office/drawing/2014/main" id="{536E8E01-9E8C-477B-A8A3-219BEDA6C830}"/>
              </a:ext>
            </a:extLst>
          </p:cNvPr>
          <p:cNvSpPr/>
          <p:nvPr userDrawn="1"/>
        </p:nvSpPr>
        <p:spPr>
          <a:xfrm>
            <a:off x="11441151" y="6352143"/>
            <a:ext cx="646771" cy="365125"/>
          </a:xfrm>
          <a:prstGeom prst="parallelogram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D305E89-7D6B-4507-9DEF-B925B3E1986F}" type="slidenum">
              <a:rPr lang="en-GB" sz="18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endParaRPr lang="en-GB" sz="16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850D6F-DFAE-7C05-AA0E-BFEB2B890526}"/>
              </a:ext>
            </a:extLst>
          </p:cNvPr>
          <p:cNvSpPr txBox="1"/>
          <p:nvPr userDrawn="1"/>
        </p:nvSpPr>
        <p:spPr>
          <a:xfrm>
            <a:off x="324136" y="6155214"/>
            <a:ext cx="3005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bristol.ac.uk/careers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5C7D48-A256-9DE7-6703-D1E00ABC999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1800" y="478007"/>
            <a:ext cx="2413000" cy="111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68380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- Aqua">
    <p:bg>
      <p:bgPr>
        <a:solidFill>
          <a:srgbClr val="00C0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D2EDFF12-4C2E-41A6-A76F-F37F01A629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837D66-8C51-4727-AFB4-4423A28420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463489" cy="1734882"/>
          </a:xfrm>
          <a:prstGeom prst="rect">
            <a:avLst/>
          </a:prstGeom>
        </p:spPr>
        <p:txBody>
          <a:bodyPr anchor="b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DIVIDER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718D0B-AD63-49A9-A96E-D08869E7E1E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98004" y="-9427"/>
            <a:ext cx="4595567" cy="6867426"/>
          </a:xfrm>
          <a:custGeom>
            <a:avLst/>
            <a:gdLst>
              <a:gd name="connsiteX0" fmla="*/ 0 w 4593996"/>
              <a:gd name="connsiteY0" fmla="*/ 6858000 h 6858000"/>
              <a:gd name="connsiteX1" fmla="*/ 1148499 w 4593996"/>
              <a:gd name="connsiteY1" fmla="*/ 0 h 6858000"/>
              <a:gd name="connsiteX2" fmla="*/ 3445497 w 4593996"/>
              <a:gd name="connsiteY2" fmla="*/ 0 h 6858000"/>
              <a:gd name="connsiteX3" fmla="*/ 4593996 w 4593996"/>
              <a:gd name="connsiteY3" fmla="*/ 6858000 h 6858000"/>
              <a:gd name="connsiteX4" fmla="*/ 0 w 4593996"/>
              <a:gd name="connsiteY4" fmla="*/ 6858000 h 6858000"/>
              <a:gd name="connsiteX0" fmla="*/ 0 w 4595567"/>
              <a:gd name="connsiteY0" fmla="*/ 6858000 h 6858000"/>
              <a:gd name="connsiteX1" fmla="*/ 1148499 w 4595567"/>
              <a:gd name="connsiteY1" fmla="*/ 0 h 6858000"/>
              <a:gd name="connsiteX2" fmla="*/ 4595567 w 4595567"/>
              <a:gd name="connsiteY2" fmla="*/ 9427 h 6858000"/>
              <a:gd name="connsiteX3" fmla="*/ 4593996 w 4595567"/>
              <a:gd name="connsiteY3" fmla="*/ 6858000 h 6858000"/>
              <a:gd name="connsiteX4" fmla="*/ 0 w 4595567"/>
              <a:gd name="connsiteY4" fmla="*/ 6858000 h 6858000"/>
              <a:gd name="connsiteX0" fmla="*/ 0 w 4595567"/>
              <a:gd name="connsiteY0" fmla="*/ 6867427 h 6867427"/>
              <a:gd name="connsiteX1" fmla="*/ 1572705 w 4595567"/>
              <a:gd name="connsiteY1" fmla="*/ 0 h 6867427"/>
              <a:gd name="connsiteX2" fmla="*/ 4595567 w 4595567"/>
              <a:gd name="connsiteY2" fmla="*/ 18854 h 6867427"/>
              <a:gd name="connsiteX3" fmla="*/ 4593996 w 4595567"/>
              <a:gd name="connsiteY3" fmla="*/ 6867427 h 6867427"/>
              <a:gd name="connsiteX4" fmla="*/ 0 w 4595567"/>
              <a:gd name="connsiteY4" fmla="*/ 6867427 h 6867427"/>
              <a:gd name="connsiteX0" fmla="*/ 0 w 4595567"/>
              <a:gd name="connsiteY0" fmla="*/ 6848573 h 6848573"/>
              <a:gd name="connsiteX1" fmla="*/ 1563278 w 4595567"/>
              <a:gd name="connsiteY1" fmla="*/ 9426 h 6848573"/>
              <a:gd name="connsiteX2" fmla="*/ 4595567 w 4595567"/>
              <a:gd name="connsiteY2" fmla="*/ 0 h 6848573"/>
              <a:gd name="connsiteX3" fmla="*/ 4593996 w 4595567"/>
              <a:gd name="connsiteY3" fmla="*/ 6848573 h 6848573"/>
              <a:gd name="connsiteX4" fmla="*/ 0 w 4595567"/>
              <a:gd name="connsiteY4" fmla="*/ 6848573 h 6848573"/>
              <a:gd name="connsiteX0" fmla="*/ 0 w 4595567"/>
              <a:gd name="connsiteY0" fmla="*/ 6848573 h 6848573"/>
              <a:gd name="connsiteX1" fmla="*/ 1563278 w 4595567"/>
              <a:gd name="connsiteY1" fmla="*/ 9426 h 6848573"/>
              <a:gd name="connsiteX2" fmla="*/ 4595567 w 4595567"/>
              <a:gd name="connsiteY2" fmla="*/ 0 h 6848573"/>
              <a:gd name="connsiteX3" fmla="*/ 4593996 w 4595567"/>
              <a:gd name="connsiteY3" fmla="*/ 6848573 h 6848573"/>
              <a:gd name="connsiteX4" fmla="*/ 0 w 4595567"/>
              <a:gd name="connsiteY4" fmla="*/ 6848573 h 6848573"/>
              <a:gd name="connsiteX0" fmla="*/ 0 w 4595567"/>
              <a:gd name="connsiteY0" fmla="*/ 6858001 h 6858001"/>
              <a:gd name="connsiteX1" fmla="*/ 1563278 w 4595567"/>
              <a:gd name="connsiteY1" fmla="*/ 0 h 6858001"/>
              <a:gd name="connsiteX2" fmla="*/ 4595567 w 4595567"/>
              <a:gd name="connsiteY2" fmla="*/ 9428 h 6858001"/>
              <a:gd name="connsiteX3" fmla="*/ 4593996 w 4595567"/>
              <a:gd name="connsiteY3" fmla="*/ 6858001 h 6858001"/>
              <a:gd name="connsiteX4" fmla="*/ 0 w 4595567"/>
              <a:gd name="connsiteY4" fmla="*/ 6858001 h 6858001"/>
              <a:gd name="connsiteX0" fmla="*/ 0 w 4595567"/>
              <a:gd name="connsiteY0" fmla="*/ 6867426 h 6867426"/>
              <a:gd name="connsiteX1" fmla="*/ 1563278 w 4595567"/>
              <a:gd name="connsiteY1" fmla="*/ 9425 h 6867426"/>
              <a:gd name="connsiteX2" fmla="*/ 4595567 w 4595567"/>
              <a:gd name="connsiteY2" fmla="*/ 0 h 6867426"/>
              <a:gd name="connsiteX3" fmla="*/ 4593996 w 4595567"/>
              <a:gd name="connsiteY3" fmla="*/ 6867426 h 6867426"/>
              <a:gd name="connsiteX4" fmla="*/ 0 w 4595567"/>
              <a:gd name="connsiteY4" fmla="*/ 6867426 h 6867426"/>
              <a:gd name="connsiteX0" fmla="*/ 0 w 4595567"/>
              <a:gd name="connsiteY0" fmla="*/ 6867426 h 6867426"/>
              <a:gd name="connsiteX1" fmla="*/ 1563278 w 4595567"/>
              <a:gd name="connsiteY1" fmla="*/ 9425 h 6867426"/>
              <a:gd name="connsiteX2" fmla="*/ 4595567 w 4595567"/>
              <a:gd name="connsiteY2" fmla="*/ 0 h 6867426"/>
              <a:gd name="connsiteX3" fmla="*/ 4593996 w 4595567"/>
              <a:gd name="connsiteY3" fmla="*/ 6867426 h 6867426"/>
              <a:gd name="connsiteX4" fmla="*/ 0 w 4595567"/>
              <a:gd name="connsiteY4" fmla="*/ 6867426 h 686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5567" h="6867426">
                <a:moveTo>
                  <a:pt x="0" y="6867426"/>
                </a:moveTo>
                <a:lnTo>
                  <a:pt x="1563278" y="9425"/>
                </a:lnTo>
                <a:lnTo>
                  <a:pt x="4595567" y="0"/>
                </a:lnTo>
                <a:cubicBezTo>
                  <a:pt x="4595043" y="2282858"/>
                  <a:pt x="4594520" y="4584568"/>
                  <a:pt x="4593996" y="6867426"/>
                </a:cubicBezTo>
                <a:lnTo>
                  <a:pt x="0" y="6867426"/>
                </a:lnTo>
                <a:close/>
              </a:path>
            </a:pathLst>
          </a:custGeo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/>
              <a:t>You can add a picture here if you’d like to.</a:t>
            </a:r>
          </a:p>
        </p:txBody>
      </p:sp>
      <p:pic>
        <p:nvPicPr>
          <p:cNvPr id="12" name="Picture 11" descr="Shape&#10;&#10;Description automatically generated">
            <a:extLst>
              <a:ext uri="{FF2B5EF4-FFF2-40B4-BE49-F238E27FC236}">
                <a16:creationId xmlns:a16="http://schemas.microsoft.com/office/drawing/2014/main" id="{A56B8CF1-49D5-407A-876E-C96764C295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>
            <a:off x="11313886" y="6311900"/>
            <a:ext cx="878114" cy="456152"/>
          </a:xfrm>
          <a:prstGeom prst="rect">
            <a:avLst/>
          </a:prstGeom>
        </p:spPr>
      </p:pic>
      <p:sp>
        <p:nvSpPr>
          <p:cNvPr id="14" name="Parallelogram 13">
            <a:extLst>
              <a:ext uri="{FF2B5EF4-FFF2-40B4-BE49-F238E27FC236}">
                <a16:creationId xmlns:a16="http://schemas.microsoft.com/office/drawing/2014/main" id="{536E8E01-9E8C-477B-A8A3-219BEDA6C830}"/>
              </a:ext>
            </a:extLst>
          </p:cNvPr>
          <p:cNvSpPr/>
          <p:nvPr userDrawn="1"/>
        </p:nvSpPr>
        <p:spPr>
          <a:xfrm>
            <a:off x="11441151" y="6352143"/>
            <a:ext cx="646771" cy="365125"/>
          </a:xfrm>
          <a:prstGeom prst="parallelogram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D305E89-7D6B-4507-9DEF-B925B3E1986F}" type="slidenum">
              <a:rPr lang="en-GB" sz="18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endParaRPr lang="en-GB" sz="16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034E76-C937-466A-5196-2F787078004E}"/>
              </a:ext>
            </a:extLst>
          </p:cNvPr>
          <p:cNvSpPr txBox="1"/>
          <p:nvPr userDrawn="1"/>
        </p:nvSpPr>
        <p:spPr>
          <a:xfrm>
            <a:off x="324136" y="6155214"/>
            <a:ext cx="3005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bristol.ac.uk/careers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DAD980-F4D9-EB77-B74E-0E12E112A71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1800" y="478007"/>
            <a:ext cx="2413000" cy="111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15028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Aqua -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73EF0DA-8285-4F3A-97CB-DF5D2BAFE81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217342" y="9728"/>
            <a:ext cx="2974658" cy="6859905"/>
          </a:xfrm>
          <a:custGeom>
            <a:avLst/>
            <a:gdLst>
              <a:gd name="connsiteX0" fmla="*/ 0 w 2909888"/>
              <a:gd name="connsiteY0" fmla="*/ 6858000 h 6858000"/>
              <a:gd name="connsiteX1" fmla="*/ 727472 w 2909888"/>
              <a:gd name="connsiteY1" fmla="*/ 0 h 6858000"/>
              <a:gd name="connsiteX2" fmla="*/ 2182416 w 2909888"/>
              <a:gd name="connsiteY2" fmla="*/ 0 h 6858000"/>
              <a:gd name="connsiteX3" fmla="*/ 2909888 w 2909888"/>
              <a:gd name="connsiteY3" fmla="*/ 6858000 h 6858000"/>
              <a:gd name="connsiteX4" fmla="*/ 0 w 2909888"/>
              <a:gd name="connsiteY4" fmla="*/ 6858000 h 6858000"/>
              <a:gd name="connsiteX0" fmla="*/ 0 w 2909888"/>
              <a:gd name="connsiteY0" fmla="*/ 6858000 h 6858000"/>
              <a:gd name="connsiteX1" fmla="*/ 727472 w 2909888"/>
              <a:gd name="connsiteY1" fmla="*/ 0 h 6858000"/>
              <a:gd name="connsiteX2" fmla="*/ 2908221 w 2909888"/>
              <a:gd name="connsiteY2" fmla="*/ 0 h 6858000"/>
              <a:gd name="connsiteX3" fmla="*/ 2909888 w 2909888"/>
              <a:gd name="connsiteY3" fmla="*/ 6858000 h 6858000"/>
              <a:gd name="connsiteX4" fmla="*/ 0 w 2909888"/>
              <a:gd name="connsiteY4" fmla="*/ 6858000 h 6858000"/>
              <a:gd name="connsiteX0" fmla="*/ 0 w 2909888"/>
              <a:gd name="connsiteY0" fmla="*/ 6858000 h 6858000"/>
              <a:gd name="connsiteX1" fmla="*/ 1518047 w 2909888"/>
              <a:gd name="connsiteY1" fmla="*/ 0 h 6858000"/>
              <a:gd name="connsiteX2" fmla="*/ 2908221 w 2909888"/>
              <a:gd name="connsiteY2" fmla="*/ 0 h 6858000"/>
              <a:gd name="connsiteX3" fmla="*/ 2909888 w 2909888"/>
              <a:gd name="connsiteY3" fmla="*/ 6858000 h 6858000"/>
              <a:gd name="connsiteX4" fmla="*/ 0 w 2909888"/>
              <a:gd name="connsiteY4" fmla="*/ 6858000 h 6858000"/>
              <a:gd name="connsiteX0" fmla="*/ 0 w 2974658"/>
              <a:gd name="connsiteY0" fmla="*/ 6859905 h 6859905"/>
              <a:gd name="connsiteX1" fmla="*/ 1582817 w 2974658"/>
              <a:gd name="connsiteY1" fmla="*/ 0 h 6859905"/>
              <a:gd name="connsiteX2" fmla="*/ 2972991 w 2974658"/>
              <a:gd name="connsiteY2" fmla="*/ 0 h 6859905"/>
              <a:gd name="connsiteX3" fmla="*/ 2974658 w 2974658"/>
              <a:gd name="connsiteY3" fmla="*/ 6858000 h 6859905"/>
              <a:gd name="connsiteX4" fmla="*/ 0 w 2974658"/>
              <a:gd name="connsiteY4" fmla="*/ 6859905 h 6859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74658" h="6859905">
                <a:moveTo>
                  <a:pt x="0" y="6859905"/>
                </a:moveTo>
                <a:lnTo>
                  <a:pt x="1582817" y="0"/>
                </a:lnTo>
                <a:lnTo>
                  <a:pt x="2972991" y="0"/>
                </a:lnTo>
                <a:cubicBezTo>
                  <a:pt x="2973547" y="2286000"/>
                  <a:pt x="2974102" y="4572000"/>
                  <a:pt x="2974658" y="6858000"/>
                </a:cubicBezTo>
                <a:lnTo>
                  <a:pt x="0" y="6859905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/>
              <a:t>You can add a picture here if you’d like to.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249EFD-2DB6-4E01-AEF3-C9618201E3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5982" y="365125"/>
            <a:ext cx="9633569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175DE-E150-419E-941A-F2D6E63F3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982" y="1815897"/>
            <a:ext cx="882421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2D5765EE-4C1B-4A82-B01E-187978AB31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>
            <a:off x="11313886" y="6311900"/>
            <a:ext cx="878114" cy="456152"/>
          </a:xfrm>
          <a:prstGeom prst="rect">
            <a:avLst/>
          </a:prstGeom>
        </p:spPr>
      </p:pic>
      <p:sp>
        <p:nvSpPr>
          <p:cNvPr id="11" name="Parallelogram 10">
            <a:extLst>
              <a:ext uri="{FF2B5EF4-FFF2-40B4-BE49-F238E27FC236}">
                <a16:creationId xmlns:a16="http://schemas.microsoft.com/office/drawing/2014/main" id="{9EE27A1B-BB0B-4CB2-B68E-592EEFBD70E2}"/>
              </a:ext>
            </a:extLst>
          </p:cNvPr>
          <p:cNvSpPr/>
          <p:nvPr userDrawn="1"/>
        </p:nvSpPr>
        <p:spPr>
          <a:xfrm>
            <a:off x="11441151" y="6352143"/>
            <a:ext cx="646771" cy="365125"/>
          </a:xfrm>
          <a:prstGeom prst="parallelogram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D305E89-7D6B-4507-9DEF-B925B3E1986F}" type="slidenum">
              <a:rPr lang="en-GB" sz="18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endParaRPr lang="en-GB" sz="16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4537305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-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49EFD-2DB6-4E01-AEF3-C9618201E3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5982" y="365125"/>
            <a:ext cx="11328388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175DE-E150-419E-941A-F2D6E63F3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982" y="1825625"/>
            <a:ext cx="11328388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2D5765EE-4C1B-4A82-B01E-187978AB31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>
            <a:off x="11313886" y="6311900"/>
            <a:ext cx="878114" cy="456152"/>
          </a:xfrm>
          <a:prstGeom prst="rect">
            <a:avLst/>
          </a:prstGeom>
        </p:spPr>
      </p:pic>
      <p:sp>
        <p:nvSpPr>
          <p:cNvPr id="11" name="Parallelogram 10">
            <a:extLst>
              <a:ext uri="{FF2B5EF4-FFF2-40B4-BE49-F238E27FC236}">
                <a16:creationId xmlns:a16="http://schemas.microsoft.com/office/drawing/2014/main" id="{9EE27A1B-BB0B-4CB2-B68E-592EEFBD70E2}"/>
              </a:ext>
            </a:extLst>
          </p:cNvPr>
          <p:cNvSpPr/>
          <p:nvPr userDrawn="1"/>
        </p:nvSpPr>
        <p:spPr>
          <a:xfrm>
            <a:off x="11441151" y="6352143"/>
            <a:ext cx="646771" cy="365125"/>
          </a:xfrm>
          <a:prstGeom prst="parallelogram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D305E89-7D6B-4507-9DEF-B925B3E1986F}" type="slidenum">
              <a:rPr lang="en-GB" sz="18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endParaRPr lang="en-GB" sz="16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5863757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AACD0-3F59-4FC8-8EB5-1650DB8686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5982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36064-25CF-478E-9FCF-BB809A52D7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37B0917-3110-49F1-8A2A-A86F431B5C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5982" y="365125"/>
            <a:ext cx="10917818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0" name="Picture 9" descr="Shape&#10;&#10;Description automatically generated">
            <a:extLst>
              <a:ext uri="{FF2B5EF4-FFF2-40B4-BE49-F238E27FC236}">
                <a16:creationId xmlns:a16="http://schemas.microsoft.com/office/drawing/2014/main" id="{2B9B0481-EC31-4A6E-8BDF-312B12441B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>
            <a:off x="11313886" y="6311900"/>
            <a:ext cx="878114" cy="456152"/>
          </a:xfrm>
          <a:prstGeom prst="rect">
            <a:avLst/>
          </a:prstGeom>
        </p:spPr>
      </p:pic>
      <p:sp>
        <p:nvSpPr>
          <p:cNvPr id="11" name="Parallelogram 10">
            <a:extLst>
              <a:ext uri="{FF2B5EF4-FFF2-40B4-BE49-F238E27FC236}">
                <a16:creationId xmlns:a16="http://schemas.microsoft.com/office/drawing/2014/main" id="{203F8B5B-1570-42C2-A875-FD165B1F8AC7}"/>
              </a:ext>
            </a:extLst>
          </p:cNvPr>
          <p:cNvSpPr/>
          <p:nvPr userDrawn="1"/>
        </p:nvSpPr>
        <p:spPr>
          <a:xfrm>
            <a:off x="11441151" y="6352143"/>
            <a:ext cx="646771" cy="365125"/>
          </a:xfrm>
          <a:prstGeom prst="parallelogram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D305E89-7D6B-4507-9DEF-B925B3E1986F}" type="slidenum">
              <a:rPr lang="en-GB" sz="18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endParaRPr lang="en-GB" sz="16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0978622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2ADB2-8193-4119-A045-F6B8802DA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982" y="1690688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62B8BD-8358-45ED-820C-FD9CFDCBA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5982" y="250110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1B800-3DC5-4B29-9E59-9FCD9BDA9A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A2F517-9BCD-4D78-A74F-31849A6941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88AF6F6-2874-4126-A8A0-79D9664A39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5982" y="365125"/>
            <a:ext cx="10917818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2" name="Picture 11" descr="Shape&#10;&#10;Description automatically generated">
            <a:extLst>
              <a:ext uri="{FF2B5EF4-FFF2-40B4-BE49-F238E27FC236}">
                <a16:creationId xmlns:a16="http://schemas.microsoft.com/office/drawing/2014/main" id="{4941E993-C272-4643-87F5-5FCB31EA35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>
            <a:off x="11313886" y="6311900"/>
            <a:ext cx="878114" cy="456152"/>
          </a:xfrm>
          <a:prstGeom prst="rect">
            <a:avLst/>
          </a:prstGeom>
        </p:spPr>
      </p:pic>
      <p:sp>
        <p:nvSpPr>
          <p:cNvPr id="13" name="Parallelogram 12">
            <a:extLst>
              <a:ext uri="{FF2B5EF4-FFF2-40B4-BE49-F238E27FC236}">
                <a16:creationId xmlns:a16="http://schemas.microsoft.com/office/drawing/2014/main" id="{166DF451-A597-4042-A76A-A77A6A32DF9B}"/>
              </a:ext>
            </a:extLst>
          </p:cNvPr>
          <p:cNvSpPr/>
          <p:nvPr userDrawn="1"/>
        </p:nvSpPr>
        <p:spPr>
          <a:xfrm>
            <a:off x="11441151" y="6352143"/>
            <a:ext cx="646771" cy="365125"/>
          </a:xfrm>
          <a:prstGeom prst="parallelogram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D305E89-7D6B-4507-9DEF-B925B3E1986F}" type="slidenum">
              <a:rPr lang="en-GB" sz="18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endParaRPr lang="en-GB" sz="16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5725824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D41FAD8-A410-489A-BAF1-91D6DA1C2D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5982" y="365125"/>
            <a:ext cx="10917818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64951CB9-855C-44D4-9473-4EC2922EFD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>
            <a:off x="11313886" y="6311900"/>
            <a:ext cx="878114" cy="456152"/>
          </a:xfrm>
          <a:prstGeom prst="rect">
            <a:avLst/>
          </a:prstGeom>
        </p:spPr>
      </p:pic>
      <p:sp>
        <p:nvSpPr>
          <p:cNvPr id="9" name="Parallelogram 8">
            <a:extLst>
              <a:ext uri="{FF2B5EF4-FFF2-40B4-BE49-F238E27FC236}">
                <a16:creationId xmlns:a16="http://schemas.microsoft.com/office/drawing/2014/main" id="{665817AF-865F-453D-9616-A46E1A362A9D}"/>
              </a:ext>
            </a:extLst>
          </p:cNvPr>
          <p:cNvSpPr/>
          <p:nvPr userDrawn="1"/>
        </p:nvSpPr>
        <p:spPr>
          <a:xfrm>
            <a:off x="11441151" y="6352143"/>
            <a:ext cx="646771" cy="365125"/>
          </a:xfrm>
          <a:prstGeom prst="parallelogram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D305E89-7D6B-4507-9DEF-B925B3E1986F}" type="slidenum">
              <a:rPr lang="en-GB" sz="18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endParaRPr lang="en-GB" sz="16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8896958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- Bright Li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F773DB87-32F9-417F-B1DE-6E60254E87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20200" y="-9728"/>
            <a:ext cx="29718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249EFD-2DB6-4E01-AEF3-C9618201E3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5982" y="365125"/>
            <a:ext cx="9633569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175DE-E150-419E-941A-F2D6E63F3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982" y="1815897"/>
            <a:ext cx="882421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2D5765EE-4C1B-4A82-B01E-187978AB31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2460"/>
          <a:stretch/>
        </p:blipFill>
        <p:spPr>
          <a:xfrm>
            <a:off x="11313886" y="6311900"/>
            <a:ext cx="878114" cy="456152"/>
          </a:xfrm>
          <a:prstGeom prst="rect">
            <a:avLst/>
          </a:prstGeom>
        </p:spPr>
      </p:pic>
      <p:sp>
        <p:nvSpPr>
          <p:cNvPr id="11" name="Parallelogram 10">
            <a:extLst>
              <a:ext uri="{FF2B5EF4-FFF2-40B4-BE49-F238E27FC236}">
                <a16:creationId xmlns:a16="http://schemas.microsoft.com/office/drawing/2014/main" id="{9EE27A1B-BB0B-4CB2-B68E-592EEFBD70E2}"/>
              </a:ext>
            </a:extLst>
          </p:cNvPr>
          <p:cNvSpPr/>
          <p:nvPr userDrawn="1"/>
        </p:nvSpPr>
        <p:spPr>
          <a:xfrm>
            <a:off x="11441151" y="6352143"/>
            <a:ext cx="646771" cy="365125"/>
          </a:xfrm>
          <a:prstGeom prst="parallelogram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D305E89-7D6B-4507-9DEF-B925B3E1986F}" type="slidenum">
              <a:rPr lang="en-GB" sz="18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endParaRPr lang="en-GB" sz="16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A2C20A-4B8A-8DD4-BE0C-AF41C353FEAE}"/>
              </a:ext>
            </a:extLst>
          </p:cNvPr>
          <p:cNvSpPr txBox="1"/>
          <p:nvPr userDrawn="1"/>
        </p:nvSpPr>
        <p:spPr>
          <a:xfrm>
            <a:off x="324136" y="6155214"/>
            <a:ext cx="3005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rgbClr val="53682B"/>
                </a:solidFill>
              </a:rPr>
              <a:t>bristol.ac.uk/careers</a:t>
            </a:r>
          </a:p>
        </p:txBody>
      </p:sp>
    </p:spTree>
    <p:extLst>
      <p:ext uri="{BB962C8B-B14F-4D97-AF65-F5344CB8AC3E}">
        <p14:creationId xmlns:p14="http://schemas.microsoft.com/office/powerpoint/2010/main" val="2773136761"/>
      </p:ext>
    </p:extLst>
  </p:cSld>
  <p:clrMapOvr>
    <a:masterClrMapping/>
  </p:clrMapOvr>
  <p:hf hdr="0" ftr="0" dt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- Dark Li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F773DB87-32F9-417F-B1DE-6E60254E87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20200" y="0"/>
            <a:ext cx="29718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249EFD-2DB6-4E01-AEF3-C9618201E3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5982" y="365125"/>
            <a:ext cx="9633569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175DE-E150-419E-941A-F2D6E63F3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982" y="1825625"/>
            <a:ext cx="882421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2D5765EE-4C1B-4A82-B01E-187978AB31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2460"/>
          <a:stretch/>
        </p:blipFill>
        <p:spPr>
          <a:xfrm>
            <a:off x="11313886" y="6311900"/>
            <a:ext cx="878114" cy="456152"/>
          </a:xfrm>
          <a:prstGeom prst="rect">
            <a:avLst/>
          </a:prstGeom>
        </p:spPr>
      </p:pic>
      <p:sp>
        <p:nvSpPr>
          <p:cNvPr id="11" name="Parallelogram 10">
            <a:extLst>
              <a:ext uri="{FF2B5EF4-FFF2-40B4-BE49-F238E27FC236}">
                <a16:creationId xmlns:a16="http://schemas.microsoft.com/office/drawing/2014/main" id="{9EE27A1B-BB0B-4CB2-B68E-592EEFBD70E2}"/>
              </a:ext>
            </a:extLst>
          </p:cNvPr>
          <p:cNvSpPr/>
          <p:nvPr userDrawn="1"/>
        </p:nvSpPr>
        <p:spPr>
          <a:xfrm>
            <a:off x="11441151" y="6352143"/>
            <a:ext cx="646771" cy="365125"/>
          </a:xfrm>
          <a:prstGeom prst="parallelogram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D305E89-7D6B-4507-9DEF-B925B3E1986F}" type="slidenum">
              <a:rPr lang="en-GB" sz="18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endParaRPr lang="en-GB" sz="16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CFBE29-8D9B-681C-84EB-FD02F88D950A}"/>
              </a:ext>
            </a:extLst>
          </p:cNvPr>
          <p:cNvSpPr txBox="1"/>
          <p:nvPr userDrawn="1"/>
        </p:nvSpPr>
        <p:spPr>
          <a:xfrm>
            <a:off x="324136" y="6155214"/>
            <a:ext cx="3005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rgbClr val="53682B"/>
                </a:solidFill>
              </a:rPr>
              <a:t>bristol.ac.uk/careers</a:t>
            </a:r>
          </a:p>
        </p:txBody>
      </p:sp>
    </p:spTree>
    <p:extLst>
      <p:ext uri="{BB962C8B-B14F-4D97-AF65-F5344CB8AC3E}">
        <p14:creationId xmlns:p14="http://schemas.microsoft.com/office/powerpoint/2010/main" val="4055862849"/>
      </p:ext>
    </p:extLst>
  </p:cSld>
  <p:clrMapOvr>
    <a:masterClrMapping/>
  </p:clrMapOvr>
  <p:hf hdr="0" ftr="0" dt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- Purple -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724C2DA7-CAF9-43CA-B5C8-9837FEE5D5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23E365EC-D06E-45AE-A0DE-CAC4DACD8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5644" y="4470400"/>
            <a:ext cx="7360074" cy="133032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AFCA830-EB2B-4F30-B0CB-C6B27E66C4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617526" cy="2387600"/>
          </a:xfrm>
          <a:prstGeom prst="rect">
            <a:avLst/>
          </a:prstGeo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CFC68EA5-4C5D-4755-86F8-3587AF7E315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98004" y="-9427"/>
            <a:ext cx="4595567" cy="6867426"/>
          </a:xfrm>
          <a:custGeom>
            <a:avLst/>
            <a:gdLst>
              <a:gd name="connsiteX0" fmla="*/ 0 w 4593996"/>
              <a:gd name="connsiteY0" fmla="*/ 6858000 h 6858000"/>
              <a:gd name="connsiteX1" fmla="*/ 1148499 w 4593996"/>
              <a:gd name="connsiteY1" fmla="*/ 0 h 6858000"/>
              <a:gd name="connsiteX2" fmla="*/ 3445497 w 4593996"/>
              <a:gd name="connsiteY2" fmla="*/ 0 h 6858000"/>
              <a:gd name="connsiteX3" fmla="*/ 4593996 w 4593996"/>
              <a:gd name="connsiteY3" fmla="*/ 6858000 h 6858000"/>
              <a:gd name="connsiteX4" fmla="*/ 0 w 4593996"/>
              <a:gd name="connsiteY4" fmla="*/ 6858000 h 6858000"/>
              <a:gd name="connsiteX0" fmla="*/ 0 w 4595567"/>
              <a:gd name="connsiteY0" fmla="*/ 6858000 h 6858000"/>
              <a:gd name="connsiteX1" fmla="*/ 1148499 w 4595567"/>
              <a:gd name="connsiteY1" fmla="*/ 0 h 6858000"/>
              <a:gd name="connsiteX2" fmla="*/ 4595567 w 4595567"/>
              <a:gd name="connsiteY2" fmla="*/ 9427 h 6858000"/>
              <a:gd name="connsiteX3" fmla="*/ 4593996 w 4595567"/>
              <a:gd name="connsiteY3" fmla="*/ 6858000 h 6858000"/>
              <a:gd name="connsiteX4" fmla="*/ 0 w 4595567"/>
              <a:gd name="connsiteY4" fmla="*/ 6858000 h 6858000"/>
              <a:gd name="connsiteX0" fmla="*/ 0 w 4595567"/>
              <a:gd name="connsiteY0" fmla="*/ 6867427 h 6867427"/>
              <a:gd name="connsiteX1" fmla="*/ 1572705 w 4595567"/>
              <a:gd name="connsiteY1" fmla="*/ 0 h 6867427"/>
              <a:gd name="connsiteX2" fmla="*/ 4595567 w 4595567"/>
              <a:gd name="connsiteY2" fmla="*/ 18854 h 6867427"/>
              <a:gd name="connsiteX3" fmla="*/ 4593996 w 4595567"/>
              <a:gd name="connsiteY3" fmla="*/ 6867427 h 6867427"/>
              <a:gd name="connsiteX4" fmla="*/ 0 w 4595567"/>
              <a:gd name="connsiteY4" fmla="*/ 6867427 h 6867427"/>
              <a:gd name="connsiteX0" fmla="*/ 0 w 4595567"/>
              <a:gd name="connsiteY0" fmla="*/ 6848573 h 6848573"/>
              <a:gd name="connsiteX1" fmla="*/ 1563278 w 4595567"/>
              <a:gd name="connsiteY1" fmla="*/ 9426 h 6848573"/>
              <a:gd name="connsiteX2" fmla="*/ 4595567 w 4595567"/>
              <a:gd name="connsiteY2" fmla="*/ 0 h 6848573"/>
              <a:gd name="connsiteX3" fmla="*/ 4593996 w 4595567"/>
              <a:gd name="connsiteY3" fmla="*/ 6848573 h 6848573"/>
              <a:gd name="connsiteX4" fmla="*/ 0 w 4595567"/>
              <a:gd name="connsiteY4" fmla="*/ 6848573 h 6848573"/>
              <a:gd name="connsiteX0" fmla="*/ 0 w 4595567"/>
              <a:gd name="connsiteY0" fmla="*/ 6848573 h 6848573"/>
              <a:gd name="connsiteX1" fmla="*/ 1563278 w 4595567"/>
              <a:gd name="connsiteY1" fmla="*/ 9426 h 6848573"/>
              <a:gd name="connsiteX2" fmla="*/ 4595567 w 4595567"/>
              <a:gd name="connsiteY2" fmla="*/ 0 h 6848573"/>
              <a:gd name="connsiteX3" fmla="*/ 4593996 w 4595567"/>
              <a:gd name="connsiteY3" fmla="*/ 6848573 h 6848573"/>
              <a:gd name="connsiteX4" fmla="*/ 0 w 4595567"/>
              <a:gd name="connsiteY4" fmla="*/ 6848573 h 6848573"/>
              <a:gd name="connsiteX0" fmla="*/ 0 w 4595567"/>
              <a:gd name="connsiteY0" fmla="*/ 6858001 h 6858001"/>
              <a:gd name="connsiteX1" fmla="*/ 1563278 w 4595567"/>
              <a:gd name="connsiteY1" fmla="*/ 0 h 6858001"/>
              <a:gd name="connsiteX2" fmla="*/ 4595567 w 4595567"/>
              <a:gd name="connsiteY2" fmla="*/ 9428 h 6858001"/>
              <a:gd name="connsiteX3" fmla="*/ 4593996 w 4595567"/>
              <a:gd name="connsiteY3" fmla="*/ 6858001 h 6858001"/>
              <a:gd name="connsiteX4" fmla="*/ 0 w 4595567"/>
              <a:gd name="connsiteY4" fmla="*/ 6858001 h 6858001"/>
              <a:gd name="connsiteX0" fmla="*/ 0 w 4595567"/>
              <a:gd name="connsiteY0" fmla="*/ 6867426 h 6867426"/>
              <a:gd name="connsiteX1" fmla="*/ 1563278 w 4595567"/>
              <a:gd name="connsiteY1" fmla="*/ 9425 h 6867426"/>
              <a:gd name="connsiteX2" fmla="*/ 4595567 w 4595567"/>
              <a:gd name="connsiteY2" fmla="*/ 0 h 6867426"/>
              <a:gd name="connsiteX3" fmla="*/ 4593996 w 4595567"/>
              <a:gd name="connsiteY3" fmla="*/ 6867426 h 6867426"/>
              <a:gd name="connsiteX4" fmla="*/ 0 w 4595567"/>
              <a:gd name="connsiteY4" fmla="*/ 6867426 h 6867426"/>
              <a:gd name="connsiteX0" fmla="*/ 0 w 4595567"/>
              <a:gd name="connsiteY0" fmla="*/ 6867426 h 6867426"/>
              <a:gd name="connsiteX1" fmla="*/ 1563278 w 4595567"/>
              <a:gd name="connsiteY1" fmla="*/ 9425 h 6867426"/>
              <a:gd name="connsiteX2" fmla="*/ 4595567 w 4595567"/>
              <a:gd name="connsiteY2" fmla="*/ 0 h 6867426"/>
              <a:gd name="connsiteX3" fmla="*/ 4593996 w 4595567"/>
              <a:gd name="connsiteY3" fmla="*/ 6867426 h 6867426"/>
              <a:gd name="connsiteX4" fmla="*/ 0 w 4595567"/>
              <a:gd name="connsiteY4" fmla="*/ 6867426 h 686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5567" h="6867426">
                <a:moveTo>
                  <a:pt x="0" y="6867426"/>
                </a:moveTo>
                <a:lnTo>
                  <a:pt x="1563278" y="9425"/>
                </a:lnTo>
                <a:lnTo>
                  <a:pt x="4595567" y="0"/>
                </a:lnTo>
                <a:cubicBezTo>
                  <a:pt x="4595043" y="2282858"/>
                  <a:pt x="4594520" y="4584568"/>
                  <a:pt x="4593996" y="6867426"/>
                </a:cubicBezTo>
                <a:lnTo>
                  <a:pt x="0" y="6867426"/>
                </a:lnTo>
                <a:close/>
              </a:path>
            </a:pathLst>
          </a:custGeo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/>
              <a:t>You can add a picture here if you’d like to.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CF344A-618D-50DA-9A62-4E0A70A0B69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92" b="10392"/>
          <a:stretch/>
        </p:blipFill>
        <p:spPr>
          <a:xfrm>
            <a:off x="431800" y="478007"/>
            <a:ext cx="2413000" cy="111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13089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-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7DDC1D8C-0ECD-4E44-850A-C9399E7B84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3650" y="0"/>
            <a:ext cx="45783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837D66-8C51-4727-AFB4-4423A28420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5643" y="1883807"/>
            <a:ext cx="7463489" cy="2247618"/>
          </a:xfrm>
          <a:prstGeom prst="rect">
            <a:avLst/>
          </a:prstGeo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DIVIDER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718D0B-AD63-49A9-A96E-D08869E7E1E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98004" y="-9427"/>
            <a:ext cx="4595567" cy="6867426"/>
          </a:xfrm>
          <a:custGeom>
            <a:avLst/>
            <a:gdLst>
              <a:gd name="connsiteX0" fmla="*/ 0 w 4593996"/>
              <a:gd name="connsiteY0" fmla="*/ 6858000 h 6858000"/>
              <a:gd name="connsiteX1" fmla="*/ 1148499 w 4593996"/>
              <a:gd name="connsiteY1" fmla="*/ 0 h 6858000"/>
              <a:gd name="connsiteX2" fmla="*/ 3445497 w 4593996"/>
              <a:gd name="connsiteY2" fmla="*/ 0 h 6858000"/>
              <a:gd name="connsiteX3" fmla="*/ 4593996 w 4593996"/>
              <a:gd name="connsiteY3" fmla="*/ 6858000 h 6858000"/>
              <a:gd name="connsiteX4" fmla="*/ 0 w 4593996"/>
              <a:gd name="connsiteY4" fmla="*/ 6858000 h 6858000"/>
              <a:gd name="connsiteX0" fmla="*/ 0 w 4595567"/>
              <a:gd name="connsiteY0" fmla="*/ 6858000 h 6858000"/>
              <a:gd name="connsiteX1" fmla="*/ 1148499 w 4595567"/>
              <a:gd name="connsiteY1" fmla="*/ 0 h 6858000"/>
              <a:gd name="connsiteX2" fmla="*/ 4595567 w 4595567"/>
              <a:gd name="connsiteY2" fmla="*/ 9427 h 6858000"/>
              <a:gd name="connsiteX3" fmla="*/ 4593996 w 4595567"/>
              <a:gd name="connsiteY3" fmla="*/ 6858000 h 6858000"/>
              <a:gd name="connsiteX4" fmla="*/ 0 w 4595567"/>
              <a:gd name="connsiteY4" fmla="*/ 6858000 h 6858000"/>
              <a:gd name="connsiteX0" fmla="*/ 0 w 4595567"/>
              <a:gd name="connsiteY0" fmla="*/ 6867427 h 6867427"/>
              <a:gd name="connsiteX1" fmla="*/ 1572705 w 4595567"/>
              <a:gd name="connsiteY1" fmla="*/ 0 h 6867427"/>
              <a:gd name="connsiteX2" fmla="*/ 4595567 w 4595567"/>
              <a:gd name="connsiteY2" fmla="*/ 18854 h 6867427"/>
              <a:gd name="connsiteX3" fmla="*/ 4593996 w 4595567"/>
              <a:gd name="connsiteY3" fmla="*/ 6867427 h 6867427"/>
              <a:gd name="connsiteX4" fmla="*/ 0 w 4595567"/>
              <a:gd name="connsiteY4" fmla="*/ 6867427 h 6867427"/>
              <a:gd name="connsiteX0" fmla="*/ 0 w 4595567"/>
              <a:gd name="connsiteY0" fmla="*/ 6848573 h 6848573"/>
              <a:gd name="connsiteX1" fmla="*/ 1563278 w 4595567"/>
              <a:gd name="connsiteY1" fmla="*/ 9426 h 6848573"/>
              <a:gd name="connsiteX2" fmla="*/ 4595567 w 4595567"/>
              <a:gd name="connsiteY2" fmla="*/ 0 h 6848573"/>
              <a:gd name="connsiteX3" fmla="*/ 4593996 w 4595567"/>
              <a:gd name="connsiteY3" fmla="*/ 6848573 h 6848573"/>
              <a:gd name="connsiteX4" fmla="*/ 0 w 4595567"/>
              <a:gd name="connsiteY4" fmla="*/ 6848573 h 6848573"/>
              <a:gd name="connsiteX0" fmla="*/ 0 w 4595567"/>
              <a:gd name="connsiteY0" fmla="*/ 6848573 h 6848573"/>
              <a:gd name="connsiteX1" fmla="*/ 1563278 w 4595567"/>
              <a:gd name="connsiteY1" fmla="*/ 9426 h 6848573"/>
              <a:gd name="connsiteX2" fmla="*/ 4595567 w 4595567"/>
              <a:gd name="connsiteY2" fmla="*/ 0 h 6848573"/>
              <a:gd name="connsiteX3" fmla="*/ 4593996 w 4595567"/>
              <a:gd name="connsiteY3" fmla="*/ 6848573 h 6848573"/>
              <a:gd name="connsiteX4" fmla="*/ 0 w 4595567"/>
              <a:gd name="connsiteY4" fmla="*/ 6848573 h 6848573"/>
              <a:gd name="connsiteX0" fmla="*/ 0 w 4595567"/>
              <a:gd name="connsiteY0" fmla="*/ 6858001 h 6858001"/>
              <a:gd name="connsiteX1" fmla="*/ 1563278 w 4595567"/>
              <a:gd name="connsiteY1" fmla="*/ 0 h 6858001"/>
              <a:gd name="connsiteX2" fmla="*/ 4595567 w 4595567"/>
              <a:gd name="connsiteY2" fmla="*/ 9428 h 6858001"/>
              <a:gd name="connsiteX3" fmla="*/ 4593996 w 4595567"/>
              <a:gd name="connsiteY3" fmla="*/ 6858001 h 6858001"/>
              <a:gd name="connsiteX4" fmla="*/ 0 w 4595567"/>
              <a:gd name="connsiteY4" fmla="*/ 6858001 h 6858001"/>
              <a:gd name="connsiteX0" fmla="*/ 0 w 4595567"/>
              <a:gd name="connsiteY0" fmla="*/ 6867426 h 6867426"/>
              <a:gd name="connsiteX1" fmla="*/ 1563278 w 4595567"/>
              <a:gd name="connsiteY1" fmla="*/ 9425 h 6867426"/>
              <a:gd name="connsiteX2" fmla="*/ 4595567 w 4595567"/>
              <a:gd name="connsiteY2" fmla="*/ 0 h 6867426"/>
              <a:gd name="connsiteX3" fmla="*/ 4593996 w 4595567"/>
              <a:gd name="connsiteY3" fmla="*/ 6867426 h 6867426"/>
              <a:gd name="connsiteX4" fmla="*/ 0 w 4595567"/>
              <a:gd name="connsiteY4" fmla="*/ 6867426 h 6867426"/>
              <a:gd name="connsiteX0" fmla="*/ 0 w 4595567"/>
              <a:gd name="connsiteY0" fmla="*/ 6867426 h 6867426"/>
              <a:gd name="connsiteX1" fmla="*/ 1563278 w 4595567"/>
              <a:gd name="connsiteY1" fmla="*/ 9425 h 6867426"/>
              <a:gd name="connsiteX2" fmla="*/ 4595567 w 4595567"/>
              <a:gd name="connsiteY2" fmla="*/ 0 h 6867426"/>
              <a:gd name="connsiteX3" fmla="*/ 4593996 w 4595567"/>
              <a:gd name="connsiteY3" fmla="*/ 6867426 h 6867426"/>
              <a:gd name="connsiteX4" fmla="*/ 0 w 4595567"/>
              <a:gd name="connsiteY4" fmla="*/ 6867426 h 686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5567" h="6867426">
                <a:moveTo>
                  <a:pt x="0" y="6867426"/>
                </a:moveTo>
                <a:lnTo>
                  <a:pt x="1563278" y="9425"/>
                </a:lnTo>
                <a:lnTo>
                  <a:pt x="4595567" y="0"/>
                </a:lnTo>
                <a:cubicBezTo>
                  <a:pt x="4595043" y="2282858"/>
                  <a:pt x="4594520" y="4584568"/>
                  <a:pt x="4593996" y="6867426"/>
                </a:cubicBezTo>
                <a:lnTo>
                  <a:pt x="0" y="6867426"/>
                </a:lnTo>
                <a:close/>
              </a:path>
            </a:pathLst>
          </a:custGeo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/>
              <a:t>You can add a picture here if you’d like to.</a:t>
            </a:r>
          </a:p>
        </p:txBody>
      </p:sp>
      <p:pic>
        <p:nvPicPr>
          <p:cNvPr id="12" name="Picture 11" descr="Shape&#10;&#10;Description automatically generated">
            <a:extLst>
              <a:ext uri="{FF2B5EF4-FFF2-40B4-BE49-F238E27FC236}">
                <a16:creationId xmlns:a16="http://schemas.microsoft.com/office/drawing/2014/main" id="{A56B8CF1-49D5-407A-876E-C96764C295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2460"/>
          <a:stretch/>
        </p:blipFill>
        <p:spPr>
          <a:xfrm>
            <a:off x="11313886" y="6311900"/>
            <a:ext cx="878114" cy="456152"/>
          </a:xfrm>
          <a:prstGeom prst="rect">
            <a:avLst/>
          </a:prstGeom>
        </p:spPr>
      </p:pic>
      <p:sp>
        <p:nvSpPr>
          <p:cNvPr id="14" name="Parallelogram 13">
            <a:extLst>
              <a:ext uri="{FF2B5EF4-FFF2-40B4-BE49-F238E27FC236}">
                <a16:creationId xmlns:a16="http://schemas.microsoft.com/office/drawing/2014/main" id="{536E8E01-9E8C-477B-A8A3-219BEDA6C830}"/>
              </a:ext>
            </a:extLst>
          </p:cNvPr>
          <p:cNvSpPr/>
          <p:nvPr userDrawn="1"/>
        </p:nvSpPr>
        <p:spPr>
          <a:xfrm>
            <a:off x="11441151" y="6352143"/>
            <a:ext cx="646771" cy="365125"/>
          </a:xfrm>
          <a:prstGeom prst="parallelogram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D305E89-7D6B-4507-9DEF-B925B3E1986F}" type="slidenum">
              <a:rPr lang="en-GB" sz="18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endParaRPr lang="en-GB" sz="160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845777-B7FE-7F8A-FC49-ECD7BA112C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92" b="10392"/>
          <a:stretch/>
        </p:blipFill>
        <p:spPr>
          <a:xfrm>
            <a:off x="431800" y="478007"/>
            <a:ext cx="2413000" cy="111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30106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- Bright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F773DB87-32F9-417F-B1DE-6E60254E87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20200" y="-9728"/>
            <a:ext cx="29718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249EFD-2DB6-4E01-AEF3-C9618201E3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5982" y="365125"/>
            <a:ext cx="9633569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175DE-E150-419E-941A-F2D6E63F3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982" y="1815897"/>
            <a:ext cx="882421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2D5765EE-4C1B-4A82-B01E-187978AB31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2460"/>
          <a:stretch/>
        </p:blipFill>
        <p:spPr>
          <a:xfrm>
            <a:off x="11313886" y="6311900"/>
            <a:ext cx="878114" cy="456152"/>
          </a:xfrm>
          <a:prstGeom prst="rect">
            <a:avLst/>
          </a:prstGeom>
        </p:spPr>
      </p:pic>
      <p:sp>
        <p:nvSpPr>
          <p:cNvPr id="11" name="Parallelogram 10">
            <a:extLst>
              <a:ext uri="{FF2B5EF4-FFF2-40B4-BE49-F238E27FC236}">
                <a16:creationId xmlns:a16="http://schemas.microsoft.com/office/drawing/2014/main" id="{9EE27A1B-BB0B-4CB2-B68E-592EEFBD70E2}"/>
              </a:ext>
            </a:extLst>
          </p:cNvPr>
          <p:cNvSpPr/>
          <p:nvPr userDrawn="1"/>
        </p:nvSpPr>
        <p:spPr>
          <a:xfrm>
            <a:off x="11441151" y="6352143"/>
            <a:ext cx="646771" cy="365125"/>
          </a:xfrm>
          <a:prstGeom prst="parallelogram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D305E89-7D6B-4507-9DEF-B925B3E1986F}" type="slidenum">
              <a:rPr lang="en-GB" sz="18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endParaRPr lang="en-GB" sz="16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7CCAB1-8AF2-6F3F-7A10-DD80CB67DB9E}"/>
              </a:ext>
            </a:extLst>
          </p:cNvPr>
          <p:cNvSpPr txBox="1"/>
          <p:nvPr userDrawn="1"/>
        </p:nvSpPr>
        <p:spPr>
          <a:xfrm>
            <a:off x="324136" y="6155214"/>
            <a:ext cx="3005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rgbClr val="772059"/>
                </a:solidFill>
              </a:rPr>
              <a:t>bristol.ac.uk/careers</a:t>
            </a:r>
          </a:p>
        </p:txBody>
      </p:sp>
    </p:spTree>
    <p:extLst>
      <p:ext uri="{BB962C8B-B14F-4D97-AF65-F5344CB8AC3E}">
        <p14:creationId xmlns:p14="http://schemas.microsoft.com/office/powerpoint/2010/main" val="3186498501"/>
      </p:ext>
    </p:extLst>
  </p:cSld>
  <p:clrMapOvr>
    <a:masterClrMapping/>
  </p:clrMapOvr>
  <p:hf hdr="0" ftr="0" dt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- Dark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F773DB87-32F9-417F-B1DE-6E60254E87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20200" y="0"/>
            <a:ext cx="29718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249EFD-2DB6-4E01-AEF3-C9618201E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982" y="365125"/>
            <a:ext cx="9633569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175DE-E150-419E-941A-F2D6E63F3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982" y="1825625"/>
            <a:ext cx="882421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2D5765EE-4C1B-4A82-B01E-187978AB31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2460"/>
          <a:stretch/>
        </p:blipFill>
        <p:spPr>
          <a:xfrm>
            <a:off x="11313886" y="6311900"/>
            <a:ext cx="878114" cy="456152"/>
          </a:xfrm>
          <a:prstGeom prst="rect">
            <a:avLst/>
          </a:prstGeom>
        </p:spPr>
      </p:pic>
      <p:sp>
        <p:nvSpPr>
          <p:cNvPr id="11" name="Parallelogram 10">
            <a:extLst>
              <a:ext uri="{FF2B5EF4-FFF2-40B4-BE49-F238E27FC236}">
                <a16:creationId xmlns:a16="http://schemas.microsoft.com/office/drawing/2014/main" id="{9EE27A1B-BB0B-4CB2-B68E-592EEFBD70E2}"/>
              </a:ext>
            </a:extLst>
          </p:cNvPr>
          <p:cNvSpPr/>
          <p:nvPr userDrawn="1"/>
        </p:nvSpPr>
        <p:spPr>
          <a:xfrm>
            <a:off x="11441151" y="6352143"/>
            <a:ext cx="646771" cy="365125"/>
          </a:xfrm>
          <a:prstGeom prst="parallelogram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D305E89-7D6B-4507-9DEF-B925B3E1986F}" type="slidenum">
              <a:rPr lang="en-GB" sz="18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endParaRPr lang="en-GB" sz="16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80D5BF-5FCF-B78B-9A68-DE1122AA27E6}"/>
              </a:ext>
            </a:extLst>
          </p:cNvPr>
          <p:cNvSpPr txBox="1"/>
          <p:nvPr userDrawn="1"/>
        </p:nvSpPr>
        <p:spPr>
          <a:xfrm>
            <a:off x="324136" y="6155214"/>
            <a:ext cx="3005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rgbClr val="772059"/>
                </a:solidFill>
              </a:rPr>
              <a:t>bristol.ac.uk/careers</a:t>
            </a:r>
          </a:p>
        </p:txBody>
      </p:sp>
    </p:spTree>
    <p:extLst>
      <p:ext uri="{BB962C8B-B14F-4D97-AF65-F5344CB8AC3E}">
        <p14:creationId xmlns:p14="http://schemas.microsoft.com/office/powerpoint/2010/main" val="3360630953"/>
      </p:ext>
    </p:extLst>
  </p:cSld>
  <p:clrMapOvr>
    <a:masterClrMapping/>
  </p:clrMapOvr>
  <p:hf hdr="0" ftr="0" dt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0825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slideLayout" Target="../slideLayouts/slideLayout51.xml"/><Relationship Id="rId39" Type="http://schemas.openxmlformats.org/officeDocument/2006/relationships/slideLayout" Target="../slideLayouts/slideLayout64.xml"/><Relationship Id="rId21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59.xml"/><Relationship Id="rId42" Type="http://schemas.openxmlformats.org/officeDocument/2006/relationships/slideLayout" Target="../slideLayouts/slideLayout67.xml"/><Relationship Id="rId47" Type="http://schemas.openxmlformats.org/officeDocument/2006/relationships/slideLayout" Target="../slideLayouts/slideLayout72.xml"/><Relationship Id="rId50" Type="http://schemas.openxmlformats.org/officeDocument/2006/relationships/slideLayout" Target="../slideLayouts/slideLayout75.xml"/><Relationship Id="rId55" Type="http://schemas.openxmlformats.org/officeDocument/2006/relationships/theme" Target="../theme/theme4.xml"/><Relationship Id="rId7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9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32" Type="http://schemas.openxmlformats.org/officeDocument/2006/relationships/slideLayout" Target="../slideLayouts/slideLayout57.xml"/><Relationship Id="rId37" Type="http://schemas.openxmlformats.org/officeDocument/2006/relationships/slideLayout" Target="../slideLayouts/slideLayout62.xml"/><Relationship Id="rId40" Type="http://schemas.openxmlformats.org/officeDocument/2006/relationships/slideLayout" Target="../slideLayouts/slideLayout65.xml"/><Relationship Id="rId45" Type="http://schemas.openxmlformats.org/officeDocument/2006/relationships/slideLayout" Target="../slideLayouts/slideLayout70.xml"/><Relationship Id="rId53" Type="http://schemas.openxmlformats.org/officeDocument/2006/relationships/slideLayout" Target="../slideLayouts/slideLayout78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31" Type="http://schemas.openxmlformats.org/officeDocument/2006/relationships/slideLayout" Target="../slideLayouts/slideLayout56.xml"/><Relationship Id="rId44" Type="http://schemas.openxmlformats.org/officeDocument/2006/relationships/slideLayout" Target="../slideLayouts/slideLayout69.xml"/><Relationship Id="rId52" Type="http://schemas.openxmlformats.org/officeDocument/2006/relationships/slideLayout" Target="../slideLayouts/slideLayout77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slideLayout" Target="../slideLayouts/slideLayout52.xml"/><Relationship Id="rId30" Type="http://schemas.openxmlformats.org/officeDocument/2006/relationships/slideLayout" Target="../slideLayouts/slideLayout55.xml"/><Relationship Id="rId35" Type="http://schemas.openxmlformats.org/officeDocument/2006/relationships/slideLayout" Target="../slideLayouts/slideLayout60.xml"/><Relationship Id="rId43" Type="http://schemas.openxmlformats.org/officeDocument/2006/relationships/slideLayout" Target="../slideLayouts/slideLayout68.xml"/><Relationship Id="rId48" Type="http://schemas.openxmlformats.org/officeDocument/2006/relationships/slideLayout" Target="../slideLayouts/slideLayout73.xml"/><Relationship Id="rId8" Type="http://schemas.openxmlformats.org/officeDocument/2006/relationships/slideLayout" Target="../slideLayouts/slideLayout33.xml"/><Relationship Id="rId51" Type="http://schemas.openxmlformats.org/officeDocument/2006/relationships/slideLayout" Target="../slideLayouts/slideLayout76.xml"/><Relationship Id="rId3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33" Type="http://schemas.openxmlformats.org/officeDocument/2006/relationships/slideLayout" Target="../slideLayouts/slideLayout58.xml"/><Relationship Id="rId38" Type="http://schemas.openxmlformats.org/officeDocument/2006/relationships/slideLayout" Target="../slideLayouts/slideLayout63.xml"/><Relationship Id="rId46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45.xml"/><Relationship Id="rId41" Type="http://schemas.openxmlformats.org/officeDocument/2006/relationships/slideLayout" Target="../slideLayouts/slideLayout66.xml"/><Relationship Id="rId54" Type="http://schemas.openxmlformats.org/officeDocument/2006/relationships/slideLayout" Target="../slideLayouts/slideLayout79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28" Type="http://schemas.openxmlformats.org/officeDocument/2006/relationships/slideLayout" Target="../slideLayouts/slideLayout53.xml"/><Relationship Id="rId36" Type="http://schemas.openxmlformats.org/officeDocument/2006/relationships/slideLayout" Target="../slideLayouts/slideLayout61.xml"/><Relationship Id="rId49" Type="http://schemas.openxmlformats.org/officeDocument/2006/relationships/slideLayout" Target="../slideLayouts/slideLayout7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3215679" y="379296"/>
            <a:ext cx="8641887" cy="588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36000" y="1099649"/>
            <a:ext cx="11520000" cy="48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334434" y="1079500"/>
            <a:ext cx="11523133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334434" y="6165850"/>
            <a:ext cx="11523133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360" y="6253837"/>
            <a:ext cx="5156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15518" y="6253837"/>
            <a:ext cx="9609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C25C47EE-92D7-4A9C-B561-AAB4A942993D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0" name="Date Placeholder 6"/>
          <p:cNvSpPr>
            <a:spLocks noGrp="1"/>
          </p:cNvSpPr>
          <p:nvPr>
            <p:ph type="dt" sz="half" idx="2"/>
          </p:nvPr>
        </p:nvSpPr>
        <p:spPr>
          <a:xfrm>
            <a:off x="6689124" y="6253837"/>
            <a:ext cx="3206808" cy="365125"/>
          </a:xfrm>
          <a:prstGeom prst="rect">
            <a:avLst/>
          </a:prstGeom>
        </p:spPr>
        <p:txBody>
          <a:bodyPr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rgbClr val="898989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July 2016</a:t>
            </a:r>
            <a:endParaRPr lang="en-GB"/>
          </a:p>
        </p:txBody>
      </p:sp>
      <p:pic>
        <p:nvPicPr>
          <p:cNvPr id="11" name="Picture 7" descr="logo-ltr.tif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73199"/>
            <a:ext cx="1944688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 descr="address.gif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5345" y="6237288"/>
            <a:ext cx="14922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3003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755" r:id="rId12"/>
    <p:sldLayoutId id="2147483756" r:id="rId13"/>
  </p:sldLayoutIdLs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9A1D2B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9A1D2B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9A1D2B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9A1D2B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9A1D2B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9A1D2B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9A1D2B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9A1D2B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9A1D2B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rgbClr val="BF2F37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­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5925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938278-77F5-9AA2-5C27-F7632EECE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EC8D6-0312-588C-1C4C-79DFD3323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272F4-0A39-AE5A-7114-36C4147709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07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B9F0276-ADD0-244F-A0A3-C9BD9DC4FA03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CB48886-3AF2-C46A-85EA-F808CD47A72C}"/>
              </a:ext>
            </a:extLst>
          </p:cNvPr>
          <p:cNvGrpSpPr/>
          <p:nvPr userDrawn="1"/>
        </p:nvGrpSpPr>
        <p:grpSpPr>
          <a:xfrm>
            <a:off x="1524000" y="6721475"/>
            <a:ext cx="9144000" cy="136524"/>
            <a:chOff x="0" y="6658252"/>
            <a:chExt cx="12192000" cy="19974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33D5DE3-547F-A988-9463-F5F5C8ACDD09}"/>
                </a:ext>
              </a:extLst>
            </p:cNvPr>
            <p:cNvSpPr/>
            <p:nvPr userDrawn="1"/>
          </p:nvSpPr>
          <p:spPr>
            <a:xfrm>
              <a:off x="0" y="6660000"/>
              <a:ext cx="3048000" cy="198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AF7C9CF-6F49-46FE-DAD1-76FB8A9052A1}"/>
                </a:ext>
              </a:extLst>
            </p:cNvPr>
            <p:cNvSpPr/>
            <p:nvPr userDrawn="1"/>
          </p:nvSpPr>
          <p:spPr>
            <a:xfrm>
              <a:off x="9144000" y="6658252"/>
              <a:ext cx="3048000" cy="19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EBA3F68-0430-29F0-D384-CF29F113AE30}"/>
                </a:ext>
              </a:extLst>
            </p:cNvPr>
            <p:cNvSpPr/>
            <p:nvPr userDrawn="1"/>
          </p:nvSpPr>
          <p:spPr>
            <a:xfrm>
              <a:off x="6096000" y="6660000"/>
              <a:ext cx="3048000" cy="198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79CF740-A7B0-4059-FAD5-72BA3AE2FC21}"/>
                </a:ext>
              </a:extLst>
            </p:cNvPr>
            <p:cNvSpPr/>
            <p:nvPr userDrawn="1"/>
          </p:nvSpPr>
          <p:spPr>
            <a:xfrm>
              <a:off x="3049200" y="6660000"/>
              <a:ext cx="3048000" cy="198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9" name="Triangle 18">
            <a:extLst>
              <a:ext uri="{FF2B5EF4-FFF2-40B4-BE49-F238E27FC236}">
                <a16:creationId xmlns:a16="http://schemas.microsoft.com/office/drawing/2014/main" id="{14337EE1-FB1D-5216-FE3E-D073C185401D}"/>
              </a:ext>
            </a:extLst>
          </p:cNvPr>
          <p:cNvSpPr/>
          <p:nvPr userDrawn="1"/>
        </p:nvSpPr>
        <p:spPr>
          <a:xfrm rot="10800000">
            <a:off x="1028157" y="6538912"/>
            <a:ext cx="1001486" cy="319088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riangle 19">
            <a:extLst>
              <a:ext uri="{FF2B5EF4-FFF2-40B4-BE49-F238E27FC236}">
                <a16:creationId xmlns:a16="http://schemas.microsoft.com/office/drawing/2014/main" id="{261A1A16-FC7E-319D-C695-17CCA276924D}"/>
              </a:ext>
            </a:extLst>
          </p:cNvPr>
          <p:cNvSpPr/>
          <p:nvPr userDrawn="1"/>
        </p:nvSpPr>
        <p:spPr>
          <a:xfrm>
            <a:off x="10428514" y="6537340"/>
            <a:ext cx="1001486" cy="319088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8646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2">
              <a:lumMod val="75000"/>
            </a:schemeClr>
          </a:solidFill>
          <a:latin typeface="Ayuthaya" pitchFamily="2" charset="-34"/>
          <a:ea typeface="Ayuthaya" pitchFamily="2" charset="-34"/>
          <a:cs typeface="Ayuthaya" pitchFamily="2" charset="-34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Ayuthaya" pitchFamily="2" charset="-34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Ayuthaya" pitchFamily="2" charset="-34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Ayuthaya" pitchFamily="2" charset="-34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Ayuthaya" pitchFamily="2" charset="-34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Ayuthaya" pitchFamily="2" charset="-34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35F350-4F94-424D-8412-75E32A725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982" y="365125"/>
            <a:ext cx="109178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TEXT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B95E6E-4BD2-498C-8622-737F2D3E7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982" y="1825625"/>
            <a:ext cx="109178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2FDA89-386C-CAC3-B957-96F2EF0F456D}"/>
              </a:ext>
            </a:extLst>
          </p:cNvPr>
          <p:cNvSpPr txBox="1"/>
          <p:nvPr userDrawn="1"/>
        </p:nvSpPr>
        <p:spPr>
          <a:xfrm>
            <a:off x="324136" y="6155214"/>
            <a:ext cx="3005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rgbClr val="00434F"/>
                </a:solidFill>
              </a:rPr>
              <a:t>bristol.ac.uk/careers</a:t>
            </a:r>
          </a:p>
        </p:txBody>
      </p:sp>
    </p:spTree>
    <p:extLst>
      <p:ext uri="{BB962C8B-B14F-4D97-AF65-F5344CB8AC3E}">
        <p14:creationId xmlns:p14="http://schemas.microsoft.com/office/powerpoint/2010/main" val="1003076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1" r:id="rId22"/>
    <p:sldLayoutId id="2147483722" r:id="rId23"/>
    <p:sldLayoutId id="2147483723" r:id="rId24"/>
    <p:sldLayoutId id="2147483724" r:id="rId25"/>
    <p:sldLayoutId id="2147483725" r:id="rId26"/>
    <p:sldLayoutId id="2147483726" r:id="rId27"/>
    <p:sldLayoutId id="2147483727" r:id="rId28"/>
    <p:sldLayoutId id="2147483728" r:id="rId29"/>
    <p:sldLayoutId id="2147483729" r:id="rId30"/>
    <p:sldLayoutId id="2147483730" r:id="rId31"/>
    <p:sldLayoutId id="2147483731" r:id="rId32"/>
    <p:sldLayoutId id="2147483732" r:id="rId33"/>
    <p:sldLayoutId id="2147483733" r:id="rId34"/>
    <p:sldLayoutId id="2147483734" r:id="rId35"/>
    <p:sldLayoutId id="2147483735" r:id="rId36"/>
    <p:sldLayoutId id="2147483736" r:id="rId37"/>
    <p:sldLayoutId id="2147483737" r:id="rId38"/>
    <p:sldLayoutId id="2147483738" r:id="rId39"/>
    <p:sldLayoutId id="2147483739" r:id="rId40"/>
    <p:sldLayoutId id="2147483740" r:id="rId41"/>
    <p:sldLayoutId id="2147483741" r:id="rId42"/>
    <p:sldLayoutId id="2147483742" r:id="rId43"/>
    <p:sldLayoutId id="2147483743" r:id="rId44"/>
    <p:sldLayoutId id="2147483744" r:id="rId45"/>
    <p:sldLayoutId id="2147483745" r:id="rId46"/>
    <p:sldLayoutId id="2147483746" r:id="rId47"/>
    <p:sldLayoutId id="2147483748" r:id="rId48"/>
    <p:sldLayoutId id="2147483749" r:id="rId49"/>
    <p:sldLayoutId id="2147483750" r:id="rId50"/>
    <p:sldLayoutId id="2147483751" r:id="rId51"/>
    <p:sldLayoutId id="2147483752" r:id="rId52"/>
    <p:sldLayoutId id="2147483753" r:id="rId53"/>
    <p:sldLayoutId id="2147483754" r:id="rId54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agilemanifesto.org/" TargetMode="Externa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customXml" Target="../ink/ink6.xml"/><Relationship Id="rId3" Type="http://schemas.openxmlformats.org/officeDocument/2006/relationships/image" Target="../media/image31.png"/><Relationship Id="rId7" Type="http://schemas.openxmlformats.org/officeDocument/2006/relationships/image" Target="../media/image100.png"/><Relationship Id="rId12" Type="http://schemas.openxmlformats.org/officeDocument/2006/relationships/customXml" Target="../ink/ink5.xml"/><Relationship Id="rId17" Type="http://schemas.openxmlformats.org/officeDocument/2006/relationships/image" Target="../media/image140.png"/><Relationship Id="rId2" Type="http://schemas.openxmlformats.org/officeDocument/2006/relationships/notesSlide" Target="../notesSlides/notesSlide24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120.png"/><Relationship Id="rId5" Type="http://schemas.openxmlformats.org/officeDocument/2006/relationships/image" Target="../media/image90.png"/><Relationship Id="rId15" Type="http://schemas.openxmlformats.org/officeDocument/2006/relationships/customXml" Target="../ink/ink7.xml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image" Target="../media/image1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Kanban_(development)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SEP gold mouse&#10;">
            <a:extLst>
              <a:ext uri="{FF2B5EF4-FFF2-40B4-BE49-F238E27FC236}">
                <a16:creationId xmlns:a16="http://schemas.microsoft.com/office/drawing/2014/main" id="{D9F855F3-07EF-4C62-D8F4-18307E46E7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" y="-2011680"/>
            <a:ext cx="10138410" cy="1013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11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76236-FF72-BFDB-5AB1-E372A467A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6000" dirty="0">
                <a:latin typeface="Rockwell" panose="02060603020205020403" pitchFamily="18" charset="77"/>
              </a:rPr>
              <a:t>SEP Week 2</a:t>
            </a:r>
            <a:endParaRPr lang="en-US" sz="6000" dirty="0">
              <a:latin typeface="Rockwell" panose="02060603020205020403" pitchFamily="18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2F16E-B8BE-95AF-2BF1-095C9435F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2809462"/>
            <a:ext cx="11521280" cy="3316704"/>
          </a:xfrm>
        </p:spPr>
        <p:txBody>
          <a:bodyPr/>
          <a:lstStyle/>
          <a:p>
            <a:pPr marL="0" indent="0" algn="ctr">
              <a:buNone/>
            </a:pPr>
            <a:r>
              <a:rPr lang="en-US" sz="5400"/>
              <a:t>Project Init </a:t>
            </a:r>
            <a:r>
              <a:rPr lang="en-US" sz="5400" dirty="0"/>
              <a:t>&amp;</a:t>
            </a:r>
          </a:p>
          <a:p>
            <a:pPr marL="0" indent="0" algn="ctr">
              <a:buNone/>
            </a:pPr>
            <a:r>
              <a:rPr lang="en-US" sz="5400" dirty="0"/>
              <a:t>Software Processes</a:t>
            </a:r>
            <a:br>
              <a:rPr lang="en-US" sz="5400" dirty="0"/>
            </a:br>
            <a:endParaRPr lang="en-US" sz="54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800" dirty="0"/>
              <a:t>(thanks to Simon Lock, whose slides I’ve adapted for some of this lecture) </a:t>
            </a:r>
          </a:p>
        </p:txBody>
      </p:sp>
    </p:spTree>
    <p:extLst>
      <p:ext uri="{BB962C8B-B14F-4D97-AF65-F5344CB8AC3E}">
        <p14:creationId xmlns:p14="http://schemas.microsoft.com/office/powerpoint/2010/main" val="3846698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1"/>
            <a:ext cx="10883392" cy="472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520"/>
              </a:lnSpc>
            </a:pPr>
            <a:r>
              <a:rPr lang="en-US" sz="3200" b="1" dirty="0">
                <a:latin typeface="+mj-lt"/>
                <a:ea typeface="Georgia" pitchFamily="34" charset="-122"/>
                <a:cs typeface="Georgia" pitchFamily="34" charset="-120"/>
              </a:rPr>
              <a:t>What the team agreement is</a:t>
            </a:r>
            <a:endParaRPr lang="en-US" sz="320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1564631"/>
            <a:ext cx="1088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600"/>
              </a:lnSpc>
            </a:pPr>
            <a:r>
              <a:rPr lang="en-US" sz="2000" dirty="0">
                <a:latin typeface="+mj-lt"/>
                <a:ea typeface="Arial" pitchFamily="34" charset="-122"/>
                <a:cs typeface="Arial" pitchFamily="34" charset="-120"/>
              </a:rPr>
              <a:t>A short file in your repo, docs/team-agreement.md, where the whole team records how you will work together.</a:t>
            </a:r>
            <a:endParaRPr lang="en-US" sz="20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66801" y="3124152"/>
            <a:ext cx="4748403" cy="1020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55" indent="-156715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latin typeface="+mj-lt"/>
                <a:ea typeface="Arial" pitchFamily="34" charset="-122"/>
                <a:cs typeface="Arial" pitchFamily="34" charset="-120"/>
              </a:rPr>
              <a:t>Five decisions about how you run the team</a:t>
            </a:r>
            <a:endParaRPr lang="en-US" sz="1400" dirty="0">
              <a:latin typeface="+mj-lt"/>
            </a:endParaRPr>
          </a:p>
          <a:p>
            <a:pPr marL="213355" indent="-156715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latin typeface="+mj-lt"/>
                <a:ea typeface="Arial" pitchFamily="34" charset="-122"/>
                <a:cs typeface="Arial" pitchFamily="34" charset="-120"/>
              </a:rPr>
              <a:t>Agreed by everyone</a:t>
            </a:r>
          </a:p>
          <a:p>
            <a:pPr marL="213355" indent="-156715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latin typeface="+mj-lt"/>
                <a:ea typeface="Arial" pitchFamily="34" charset="-122"/>
                <a:cs typeface="Arial" pitchFamily="34" charset="-120"/>
              </a:rPr>
              <a:t>Versioned in git</a:t>
            </a:r>
          </a:p>
          <a:p>
            <a:pPr marL="213355" indent="-156715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latin typeface="+mj-lt"/>
                <a:ea typeface="Arial" pitchFamily="34" charset="-122"/>
                <a:cs typeface="Arial" pitchFamily="34" charset="-120"/>
              </a:rPr>
              <a:t>A working document you revise as you learn</a:t>
            </a:r>
            <a:endParaRPr lang="en-US" sz="1400" dirty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1"/>
            <a:ext cx="10883392" cy="472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520"/>
              </a:lnSpc>
            </a:pP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981150"/>
            <a:ext cx="5127752" cy="269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920"/>
              </a:lnSpc>
            </a:pPr>
            <a:r>
              <a:rPr lang="en-US" sz="1600" b="1" dirty="0">
                <a:ea typeface="Arial" pitchFamily="34" charset="-122"/>
                <a:cs typeface="Arial" pitchFamily="34" charset="-120"/>
              </a:rPr>
              <a:t>Decide now, not in a crisis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28848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960"/>
              </a:lnSpc>
            </a:pPr>
            <a:r>
              <a:rPr lang="en-US" sz="1400" dirty="0">
                <a:ea typeface="Arial" pitchFamily="34" charset="-122"/>
                <a:cs typeface="Arial" pitchFamily="34" charset="-120"/>
              </a:rPr>
              <a:t>while everyone is fresh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989462"/>
            <a:ext cx="5127752" cy="269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920"/>
              </a:lnSpc>
            </a:pPr>
            <a:r>
              <a:rPr lang="en-US" sz="1600" b="1" dirty="0">
                <a:ea typeface="Arial" pitchFamily="34" charset="-122"/>
                <a:cs typeface="Arial" pitchFamily="34" charset="-120"/>
              </a:rPr>
              <a:t>Head off the common failures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29679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960"/>
              </a:lnSpc>
            </a:pPr>
            <a:r>
              <a:rPr lang="en-US" sz="1400" dirty="0">
                <a:ea typeface="Arial" pitchFamily="34" charset="-122"/>
                <a:cs typeface="Arial" pitchFamily="34" charset="-120"/>
              </a:rPr>
              <a:t>One member who does nothing, or a member who decides everything.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997771"/>
            <a:ext cx="5127752" cy="269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920"/>
              </a:lnSpc>
            </a:pPr>
            <a:r>
              <a:rPr lang="en-US" sz="1600" b="1" dirty="0">
                <a:ea typeface="Arial" pitchFamily="34" charset="-122"/>
                <a:cs typeface="Arial" pitchFamily="34" charset="-120"/>
              </a:rPr>
              <a:t>evidence of how you collaborate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4305103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960"/>
              </a:lnSpc>
            </a:pPr>
            <a:r>
              <a:rPr lang="en-US" sz="1400" dirty="0">
                <a:ea typeface="Arial" pitchFamily="34" charset="-122"/>
                <a:cs typeface="Arial" pitchFamily="34" charset="-120"/>
              </a:rPr>
              <a:t>The agreement and every revision live in your repo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564631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b="1" kern="0" spc="100" dirty="0">
                <a:ea typeface="Arial" pitchFamily="34" charset="-122"/>
                <a:cs typeface="Arial" pitchFamily="34" charset="-120"/>
              </a:rPr>
              <a:t>HOW, ACROSS THE YEAR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04000" y="1892251"/>
            <a:ext cx="49184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b="1" dirty="0">
                <a:ea typeface="Arial" pitchFamily="34" charset="-122"/>
                <a:cs typeface="Arial" pitchFamily="34" charset="-120"/>
              </a:rPr>
              <a:t>Week 2 · Thu 1 Oct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04000" y="2143672"/>
            <a:ext cx="491845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755"/>
              </a:lnSpc>
            </a:pPr>
            <a:r>
              <a:rPr lang="en-US" sz="1300" dirty="0">
                <a:ea typeface="Arial" pitchFamily="34" charset="-122"/>
                <a:cs typeface="Arial" pitchFamily="34" charset="-120"/>
              </a:rPr>
              <a:t>Define Team Agreement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04000" y="2506216"/>
            <a:ext cx="49184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b="1" dirty="0">
                <a:ea typeface="Arial" pitchFamily="34" charset="-122"/>
                <a:cs typeface="Arial" pitchFamily="34" charset="-120"/>
              </a:rPr>
              <a:t>Any time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04000" y="2757636"/>
            <a:ext cx="491845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755"/>
              </a:lnSpc>
            </a:pPr>
            <a:r>
              <a:rPr lang="en-US" sz="1300" dirty="0">
                <a:ea typeface="Arial" pitchFamily="34" charset="-122"/>
                <a:cs typeface="Arial" pitchFamily="34" charset="-120"/>
              </a:rPr>
              <a:t>Change it when it stops working; log via </a:t>
            </a:r>
            <a:r>
              <a:rPr lang="en-US" sz="1300" dirty="0" err="1">
                <a:ea typeface="Arial" pitchFamily="34" charset="-122"/>
                <a:cs typeface="Arial" pitchFamily="34" charset="-120"/>
              </a:rPr>
              <a:t>github</a:t>
            </a:r>
            <a:r>
              <a:rPr lang="en-US" sz="1300" dirty="0">
                <a:ea typeface="Arial" pitchFamily="34" charset="-122"/>
                <a:cs typeface="Arial" pitchFamily="34" charset="-120"/>
              </a:rPr>
              <a:t>; 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04000" y="3120183"/>
            <a:ext cx="49184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b="1" dirty="0">
                <a:ea typeface="Arial" pitchFamily="34" charset="-122"/>
                <a:cs typeface="Arial" pitchFamily="34" charset="-120"/>
              </a:rPr>
              <a:t>Week 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04000" y="3371603"/>
            <a:ext cx="491845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755"/>
              </a:lnSpc>
            </a:pPr>
            <a:r>
              <a:rPr lang="en-US" sz="1300" dirty="0">
                <a:ea typeface="Arial" pitchFamily="34" charset="-122"/>
                <a:cs typeface="Arial" pitchFamily="34" charset="-120"/>
              </a:rPr>
              <a:t>Team review presentation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04000" y="3734147"/>
            <a:ext cx="49184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b="1" dirty="0">
                <a:ea typeface="Arial" pitchFamily="34" charset="-122"/>
                <a:cs typeface="Arial" pitchFamily="34" charset="-120"/>
              </a:rPr>
              <a:t>Week 13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04000" y="3985568"/>
            <a:ext cx="491845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755"/>
              </a:lnSpc>
            </a:pPr>
            <a:r>
              <a:rPr lang="en-US" sz="1300" dirty="0">
                <a:ea typeface="Arial" pitchFamily="34" charset="-122"/>
                <a:cs typeface="Arial" pitchFamily="34" charset="-120"/>
              </a:rPr>
              <a:t>Review at the TB2 reset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04000" y="4348113"/>
            <a:ext cx="49184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b="1" dirty="0">
                <a:ea typeface="Arial" pitchFamily="34" charset="-122"/>
                <a:cs typeface="Arial" pitchFamily="34" charset="-120"/>
              </a:rPr>
              <a:t>Final viva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04000" y="4599534"/>
            <a:ext cx="491845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755"/>
              </a:lnSpc>
            </a:pPr>
            <a:r>
              <a:rPr lang="en-US" sz="1300" dirty="0">
                <a:ea typeface="Arial" pitchFamily="34" charset="-122"/>
                <a:cs typeface="Arial" pitchFamily="34" charset="-120"/>
              </a:rPr>
              <a:t>Explain how it worked and what you changed</a:t>
            </a:r>
            <a:endParaRPr lang="en-US" sz="1300" dirty="0"/>
          </a:p>
        </p:txBody>
      </p:sp>
      <p:sp>
        <p:nvSpPr>
          <p:cNvPr id="33" name="Title 32">
            <a:extLst>
              <a:ext uri="{FF2B5EF4-FFF2-40B4-BE49-F238E27FC236}">
                <a16:creationId xmlns:a16="http://schemas.microsoft.com/office/drawing/2014/main" id="{63EFA2C4-8F6B-E383-1C56-2B907D3876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312" y="-50289"/>
            <a:ext cx="4606168" cy="1468800"/>
          </a:xfrm>
        </p:spPr>
        <p:txBody>
          <a:bodyPr/>
          <a:lstStyle/>
          <a:p>
            <a:r>
              <a:rPr lang="en-US" dirty="0"/>
              <a:t>The team agreement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13B3A-FABA-31B2-859C-BA0D909FB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F29EB-D1F4-F942-B0CF-5DD2E417D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18440" cy="1325563"/>
          </a:xfrm>
        </p:spPr>
        <p:txBody>
          <a:bodyPr>
            <a:normAutofit fontScale="90000"/>
          </a:bodyPr>
          <a:lstStyle/>
          <a:p>
            <a:r>
              <a:rPr lang="en-GB" sz="6000" dirty="0">
                <a:latin typeface="Rockwell" panose="02060603020205020403" pitchFamily="18" charset="0"/>
              </a:rPr>
              <a:t>Client Collaboration Agreement</a:t>
            </a:r>
            <a:endParaRPr lang="en-US" sz="60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463F4-D1E2-9EBE-AAFB-CED6037CF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946031"/>
            <a:ext cx="11521280" cy="4546844"/>
          </a:xfrm>
        </p:spPr>
        <p:txBody>
          <a:bodyPr>
            <a:normAutofit fontScale="92500" lnSpcReduction="10000"/>
          </a:bodyPr>
          <a:lstStyle/>
          <a:p>
            <a:r>
              <a:rPr lang="en-US" sz="4000" dirty="0"/>
              <a:t>The Contract</a:t>
            </a:r>
            <a:br>
              <a:rPr lang="en-US" sz="4000" dirty="0"/>
            </a:br>
            <a:endParaRPr lang="en-US" sz="4000" dirty="0"/>
          </a:p>
          <a:p>
            <a:r>
              <a:rPr lang="en-US" sz="4000" dirty="0"/>
              <a:t>Should be signed by client and you by</a:t>
            </a:r>
            <a:br>
              <a:rPr lang="en-US" sz="4000" dirty="0"/>
            </a:br>
            <a:r>
              <a:rPr lang="en-GB" sz="4000" dirty="0"/>
              <a:t>13:00 THURSDAY 22nd OCTOBER (Week 5) </a:t>
            </a:r>
            <a:br>
              <a:rPr lang="en-GB" sz="4000" dirty="0"/>
            </a:br>
            <a:endParaRPr lang="en-GB" sz="4000" dirty="0"/>
          </a:p>
          <a:p>
            <a:r>
              <a:rPr lang="en-US" sz="4000" dirty="0"/>
              <a:t>A number of different contracts on Blackboard</a:t>
            </a:r>
            <a:br>
              <a:rPr lang="en-US" sz="4000" dirty="0"/>
            </a:br>
            <a:endParaRPr lang="en-US" sz="4000" dirty="0"/>
          </a:p>
          <a:p>
            <a:r>
              <a:rPr lang="en-US" sz="4000" dirty="0"/>
              <a:t>Need help? Come to the Drop in!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056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F4F89-669D-1A0E-B698-95D845A07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121A-6A19-47E1-513A-27FD7E5EE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18440" cy="1325563"/>
          </a:xfrm>
        </p:spPr>
        <p:txBody>
          <a:bodyPr>
            <a:normAutofit fontScale="90000"/>
          </a:bodyPr>
          <a:lstStyle/>
          <a:p>
            <a:r>
              <a:rPr lang="en-GB" sz="6000" dirty="0">
                <a:latin typeface="Rockwell" panose="02060603020205020403" pitchFamily="18" charset="0"/>
              </a:rPr>
              <a:t>Project Collaboration Agreement</a:t>
            </a:r>
            <a:endParaRPr lang="en-US" sz="60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FE863-7A66-AB9A-93B4-F1909ED76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946031"/>
            <a:ext cx="11521280" cy="4546844"/>
          </a:xfrm>
        </p:spPr>
        <p:txBody>
          <a:bodyPr>
            <a:normAutofit lnSpcReduction="10000"/>
          </a:bodyPr>
          <a:lstStyle/>
          <a:p>
            <a:r>
              <a:rPr lang="en-US" sz="4000" dirty="0"/>
              <a:t>The Contract</a:t>
            </a:r>
            <a:br>
              <a:rPr lang="en-US" sz="4000" dirty="0"/>
            </a:br>
            <a:endParaRPr lang="en-US" sz="4000" dirty="0"/>
          </a:p>
          <a:p>
            <a:r>
              <a:rPr lang="en-US" sz="4000" dirty="0"/>
              <a:t>Should be signed by client and you by</a:t>
            </a:r>
            <a:br>
              <a:rPr lang="en-US" sz="4000" dirty="0"/>
            </a:br>
            <a:r>
              <a:rPr lang="en-GB" sz="4000" dirty="0"/>
              <a:t>13:00 THURSDAY 22nd OCTOBER (Week 5) </a:t>
            </a:r>
            <a:br>
              <a:rPr lang="en-GB" sz="4000" dirty="0"/>
            </a:br>
            <a:endParaRPr lang="en-GB" sz="4000" dirty="0"/>
          </a:p>
          <a:p>
            <a:r>
              <a:rPr lang="en-US" sz="4000" dirty="0"/>
              <a:t>A number of different contracts on Blackboard</a:t>
            </a:r>
            <a:br>
              <a:rPr lang="en-US" sz="4000" dirty="0"/>
            </a:br>
            <a:endParaRPr lang="en-US" sz="4000" dirty="0"/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629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FAFDA-8191-01AD-5E39-0067FFD7B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1DA3E-79EA-6271-FED0-D305CE9CE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18440" cy="1325563"/>
          </a:xfrm>
        </p:spPr>
        <p:txBody>
          <a:bodyPr>
            <a:normAutofit fontScale="90000"/>
          </a:bodyPr>
          <a:lstStyle/>
          <a:p>
            <a:r>
              <a:rPr lang="en-GB" sz="6000" dirty="0">
                <a:latin typeface="Rockwell" panose="02060603020205020403" pitchFamily="18" charset="0"/>
              </a:rPr>
              <a:t>Project Collaboration Agreement</a:t>
            </a:r>
            <a:endParaRPr lang="en-US" sz="60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7E6C2-D967-48F3-D8E0-7F4B8088C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946031"/>
            <a:ext cx="11521280" cy="4546844"/>
          </a:xfrm>
        </p:spPr>
        <p:txBody>
          <a:bodyPr>
            <a:normAutofit/>
          </a:bodyPr>
          <a:lstStyle/>
          <a:p>
            <a:r>
              <a:rPr lang="en-US" sz="4000" dirty="0"/>
              <a:t>Read and understand it, and flag to the client that they need to get it signed</a:t>
            </a:r>
            <a:br>
              <a:rPr lang="en-US" sz="4000" dirty="0"/>
            </a:br>
            <a:endParaRPr lang="en-US" sz="4000" dirty="0"/>
          </a:p>
          <a:p>
            <a:r>
              <a:rPr lang="en-US" sz="4000" dirty="0"/>
              <a:t>Problems? Questions?  Come to the Drop in!</a:t>
            </a:r>
            <a:br>
              <a:rPr lang="en-US" sz="4000" dirty="0"/>
            </a:br>
            <a:endParaRPr lang="en-US" sz="4000" dirty="0"/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802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C6C11-F84B-600B-8D0B-647E3A3E1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9BE29-3BBC-875B-D576-B267AEE8A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18440" cy="1325563"/>
          </a:xfrm>
        </p:spPr>
        <p:txBody>
          <a:bodyPr>
            <a:normAutofit fontScale="90000"/>
          </a:bodyPr>
          <a:lstStyle/>
          <a:p>
            <a:r>
              <a:rPr lang="en-GB" sz="6000" dirty="0">
                <a:latin typeface="Rockwell" panose="02060603020205020403" pitchFamily="18" charset="0"/>
              </a:rPr>
              <a:t>Project Collaboration Agreement</a:t>
            </a:r>
            <a:endParaRPr lang="en-US" sz="60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429AA-D331-8F2F-B8C5-318C287D1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946031"/>
            <a:ext cx="11521280" cy="45468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NOT SIGN ANYTHING ELSE!!</a:t>
            </a:r>
          </a:p>
          <a:p>
            <a:pPr marL="0" indent="0" algn="ctr">
              <a:buNone/>
            </a:pP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NEVER SIGN A NON DISCLOSURE AGREEMENT!!!!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clients ask you to, email me!</a:t>
            </a:r>
          </a:p>
        </p:txBody>
      </p:sp>
    </p:spTree>
    <p:extLst>
      <p:ext uri="{BB962C8B-B14F-4D97-AF65-F5344CB8AC3E}">
        <p14:creationId xmlns:p14="http://schemas.microsoft.com/office/powerpoint/2010/main" val="1189996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03927-2663-4209-5B1E-AFB7460DB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889AA-2147-46CF-853A-14A0C9EE9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18440" cy="1325563"/>
          </a:xfrm>
        </p:spPr>
        <p:txBody>
          <a:bodyPr>
            <a:normAutofit/>
          </a:bodyPr>
          <a:lstStyle/>
          <a:p>
            <a:r>
              <a:rPr lang="en-GB" sz="6000" dirty="0">
                <a:latin typeface="Rockwell" panose="02060603020205020403" pitchFamily="18" charset="0"/>
              </a:rPr>
              <a:t>Pre-meeting Prep</a:t>
            </a:r>
            <a:endParaRPr lang="en-US" sz="60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63011-4442-8551-AC87-BC548153A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946031"/>
            <a:ext cx="11521280" cy="4546844"/>
          </a:xfrm>
        </p:spPr>
        <p:txBody>
          <a:bodyPr>
            <a:normAutofit fontScale="85000" lnSpcReduction="20000"/>
          </a:bodyPr>
          <a:lstStyle/>
          <a:p>
            <a:r>
              <a:rPr lang="en-US" sz="3600" dirty="0"/>
              <a:t>Do you understand the brief?</a:t>
            </a:r>
          </a:p>
          <a:p>
            <a:pPr marL="0" indent="0">
              <a:buNone/>
            </a:pPr>
            <a:endParaRPr lang="en-US" sz="3600" dirty="0"/>
          </a:p>
          <a:p>
            <a:r>
              <a:rPr lang="en-US" sz="3600" dirty="0"/>
              <a:t>Describe the project for your ReadMe file</a:t>
            </a:r>
          </a:p>
          <a:p>
            <a:pPr marL="0" indent="0">
              <a:buNone/>
            </a:pPr>
            <a:endParaRPr lang="en-US" sz="3600" dirty="0"/>
          </a:p>
          <a:p>
            <a:r>
              <a:rPr lang="en-US" sz="3600" dirty="0"/>
              <a:t>Identify stakeholders</a:t>
            </a:r>
          </a:p>
          <a:p>
            <a:pPr marL="0" indent="0">
              <a:buNone/>
            </a:pPr>
            <a:endParaRPr lang="en-US" sz="3600" dirty="0"/>
          </a:p>
          <a:p>
            <a:r>
              <a:rPr lang="en-US" sz="3600" dirty="0"/>
              <a:t>Write some initial user stories</a:t>
            </a:r>
          </a:p>
          <a:p>
            <a:pPr lvl="1"/>
            <a:r>
              <a:rPr lang="en-US" sz="3600" dirty="0"/>
              <a:t>As a &lt;type of user&gt; I want to &lt;achieve a goal&gt; so that &lt;a reason&gt;.</a:t>
            </a:r>
            <a:br>
              <a:rPr lang="en-US" sz="4000" dirty="0"/>
            </a:br>
            <a:endParaRPr lang="en-US" sz="4000" dirty="0"/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569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75344-7113-C439-5141-00BA248FA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19F29-4F63-4FC0-8145-1F4D1905C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18440" cy="1325563"/>
          </a:xfrm>
        </p:spPr>
        <p:txBody>
          <a:bodyPr>
            <a:normAutofit/>
          </a:bodyPr>
          <a:lstStyle/>
          <a:p>
            <a:r>
              <a:rPr lang="en-GB" sz="6000" dirty="0">
                <a:latin typeface="Rockwell" panose="02060603020205020403" pitchFamily="18" charset="0"/>
              </a:rPr>
              <a:t>Ethics task</a:t>
            </a:r>
            <a:endParaRPr lang="en-US" sz="60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9E0FE-9820-A5BD-6376-2A0CD0788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946031"/>
            <a:ext cx="11521280" cy="4546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Must be done by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/>
              <a:t>13:00 </a:t>
            </a:r>
            <a:r>
              <a:rPr lang="en-GB"/>
              <a:t>THURSDAY 22nd </a:t>
            </a:r>
            <a:r>
              <a:rPr lang="en-GB" dirty="0"/>
              <a:t>OCTOBER (Week 5)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40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7DD4E-43E6-4858-BDE2-A8BC079A0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3668" y="83403"/>
            <a:ext cx="6395477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What are we doing today?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5846A0-5D5D-45BD-8139-9988A60B2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endParaRPr lang="en-GB" dirty="0"/>
          </a:p>
          <a:p>
            <a:r>
              <a:rPr lang="en-GB" dirty="0"/>
              <a:t>Learning about basics of software development processes…</a:t>
            </a:r>
            <a:br>
              <a:rPr lang="en-GB" dirty="0"/>
            </a:br>
            <a:endParaRPr lang="en-GB" dirty="0"/>
          </a:p>
          <a:p>
            <a:r>
              <a:rPr lang="en-GB" dirty="0"/>
              <a:t>… So you can meet your team tomorrow, and start work!</a:t>
            </a:r>
          </a:p>
        </p:txBody>
      </p:sp>
    </p:spTree>
    <p:extLst>
      <p:ext uri="{BB962C8B-B14F-4D97-AF65-F5344CB8AC3E}">
        <p14:creationId xmlns:p14="http://schemas.microsoft.com/office/powerpoint/2010/main" val="2019139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7DD4E-43E6-4858-BDE2-A8BC079A0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3668" y="83403"/>
            <a:ext cx="6395477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A weird metaphor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5846A0-5D5D-45BD-8139-9988A60B2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endParaRPr lang="en-GB" sz="3600" dirty="0"/>
          </a:p>
          <a:p>
            <a:pPr algn="ctr"/>
            <a:r>
              <a:rPr lang="en-GB" sz="3600" dirty="0"/>
              <a:t>Developing software is a bit like cooking:</a:t>
            </a:r>
          </a:p>
          <a:p>
            <a:pPr algn="ctr"/>
            <a:endParaRPr lang="en-GB" sz="3600" dirty="0"/>
          </a:p>
          <a:p>
            <a:pPr algn="ctr"/>
            <a:r>
              <a:rPr lang="en-GB" sz="3600" dirty="0"/>
              <a:t>Chefs (Developers) </a:t>
            </a:r>
          </a:p>
          <a:p>
            <a:pPr algn="ctr"/>
            <a:r>
              <a:rPr lang="en-GB" sz="3600" dirty="0"/>
              <a:t>follow a recipe (process)</a:t>
            </a:r>
          </a:p>
          <a:p>
            <a:pPr algn="ctr"/>
            <a:r>
              <a:rPr lang="en-GB" sz="3600" dirty="0"/>
              <a:t>To cook a meal for hungry diners (clients)</a:t>
            </a:r>
          </a:p>
        </p:txBody>
      </p:sp>
    </p:spTree>
    <p:extLst>
      <p:ext uri="{BB962C8B-B14F-4D97-AF65-F5344CB8AC3E}">
        <p14:creationId xmlns:p14="http://schemas.microsoft.com/office/powerpoint/2010/main" val="3015840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C25AC-105A-2C02-3DD8-D4C72695F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6F9B4-D2CE-0294-9E27-075641448F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3668" y="83403"/>
            <a:ext cx="6395477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More metaphor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09D7D-9A32-5FF2-1AA3-03F61BB9D0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endParaRPr lang="en-GB" dirty="0"/>
          </a:p>
          <a:p>
            <a:pPr algn="ctr"/>
            <a:r>
              <a:rPr lang="en-GB" dirty="0"/>
              <a:t>Up until now, you’ve mostly been ‘freestyling’</a:t>
            </a:r>
          </a:p>
          <a:p>
            <a:pPr algn="ctr"/>
            <a:r>
              <a:rPr lang="en-GB" dirty="0"/>
              <a:t>(cooking without a recipe)</a:t>
            </a:r>
          </a:p>
          <a:p>
            <a:pPr algn="ctr"/>
            <a:br>
              <a:rPr lang="en-GB" dirty="0"/>
            </a:br>
            <a:r>
              <a:rPr lang="en-GB" dirty="0"/>
              <a:t>Creating meals for yourself</a:t>
            </a:r>
          </a:p>
          <a:p>
            <a:pPr algn="ctr"/>
            <a:r>
              <a:rPr lang="en-GB" dirty="0"/>
              <a:t>Or to feed friends and family (lecturers!)</a:t>
            </a:r>
            <a:br>
              <a:rPr lang="en-GB" dirty="0"/>
            </a:br>
            <a:br>
              <a:rPr lang="en-GB" dirty="0"/>
            </a:br>
            <a:r>
              <a:rPr lang="en-GB" dirty="0"/>
              <a:t>But now you need to cook ‘commercially’</a:t>
            </a:r>
          </a:p>
          <a:p>
            <a:pPr algn="ctr"/>
            <a:r>
              <a:rPr lang="en-GB" dirty="0"/>
              <a:t>For paying customers</a:t>
            </a:r>
          </a:p>
        </p:txBody>
      </p:sp>
    </p:spTree>
    <p:extLst>
      <p:ext uri="{BB962C8B-B14F-4D97-AF65-F5344CB8AC3E}">
        <p14:creationId xmlns:p14="http://schemas.microsoft.com/office/powerpoint/2010/main" val="994328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9E143-BD6A-639D-91DC-A4EABA255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EDB1E-2219-AE3D-31DE-F13F4D5DA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3668" y="83403"/>
            <a:ext cx="6395477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More </a:t>
            </a:r>
            <a:r>
              <a:rPr lang="en-GB" dirty="0" err="1">
                <a:latin typeface="Rockwell" panose="02060603020205020403" pitchFamily="18" charset="77"/>
              </a:rPr>
              <a:t>metphor</a:t>
            </a:r>
            <a:endParaRPr lang="en-GB" dirty="0">
              <a:latin typeface="Rockwell" panose="02060603020205020403" pitchFamily="18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51D009-A7C5-DB25-5259-07BB0E743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r>
              <a:rPr lang="en-GB" dirty="0"/>
              <a:t>For the best chance of success, we need</a:t>
            </a:r>
          </a:p>
          <a:p>
            <a:pPr algn="ctr"/>
            <a:r>
              <a:rPr lang="en-GB" sz="900" dirty="0"/>
              <a:t>  </a:t>
            </a:r>
          </a:p>
          <a:p>
            <a:pPr algn="ctr"/>
            <a:r>
              <a:rPr lang="en-GB" dirty="0"/>
              <a:t>Talented chefs</a:t>
            </a:r>
          </a:p>
          <a:p>
            <a:pPr algn="ctr"/>
            <a:r>
              <a:rPr lang="en-GB" dirty="0"/>
              <a:t>(who can follow a clearly defined recipe and work together)</a:t>
            </a:r>
            <a:br>
              <a:rPr lang="en-GB" dirty="0"/>
            </a:br>
            <a:br>
              <a:rPr lang="en-GB" dirty="0"/>
            </a:br>
            <a:r>
              <a:rPr lang="en-GB" dirty="0"/>
              <a:t>A clear recipe</a:t>
            </a:r>
          </a:p>
          <a:p>
            <a:pPr algn="ctr"/>
            <a:r>
              <a:rPr lang="en-GB" dirty="0"/>
              <a:t>(that defines what we should be doing when)</a:t>
            </a:r>
          </a:p>
          <a:p>
            <a:pPr algn="ctr"/>
            <a:br>
              <a:rPr lang="en-GB" dirty="0"/>
            </a:br>
            <a:r>
              <a:rPr lang="en-GB" dirty="0"/>
              <a:t>Decisive diners</a:t>
            </a:r>
          </a:p>
          <a:p>
            <a:pPr algn="ctr"/>
            <a:r>
              <a:rPr lang="en-GB" dirty="0"/>
              <a:t>(who can make up their minds what they want to eat!)</a:t>
            </a:r>
          </a:p>
        </p:txBody>
      </p:sp>
    </p:spTree>
    <p:extLst>
      <p:ext uri="{BB962C8B-B14F-4D97-AF65-F5344CB8AC3E}">
        <p14:creationId xmlns:p14="http://schemas.microsoft.com/office/powerpoint/2010/main" val="4105939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4732F-FB56-C0C1-8C26-B326CC0BA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57E16-0396-FFFB-82B9-49FFFA276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3668" y="83403"/>
            <a:ext cx="6395477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Different kinds of restaurants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F8067A-06AC-3AA1-1062-02EFF1D455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r>
              <a:rPr lang="en-GB" dirty="0"/>
              <a:t>Different restaurants run different types of kitchen</a:t>
            </a:r>
            <a:br>
              <a:rPr lang="en-GB" dirty="0"/>
            </a:br>
            <a:r>
              <a:rPr lang="en-GB" sz="1000" dirty="0"/>
              <a:t>   </a:t>
            </a:r>
          </a:p>
          <a:p>
            <a:r>
              <a:rPr lang="en-GB" dirty="0"/>
              <a:t>• You won't expect a burger bar to cook in the same way has a high-end restaurant</a:t>
            </a:r>
            <a:br>
              <a:rPr lang="en-GB" dirty="0"/>
            </a:br>
            <a:endParaRPr lang="en-GB" dirty="0"/>
          </a:p>
          <a:p>
            <a:r>
              <a:rPr lang="en-GB" dirty="0"/>
              <a:t>• Similarly, developers build in different ways for different products and markets</a:t>
            </a:r>
            <a:br>
              <a:rPr lang="en-GB" dirty="0"/>
            </a:br>
            <a:endParaRPr lang="en-GB" dirty="0"/>
          </a:p>
          <a:p>
            <a:r>
              <a:rPr lang="en-GB" dirty="0"/>
              <a:t>• You won't expect an autonomous car to be built in the same way as social media app!</a:t>
            </a:r>
          </a:p>
        </p:txBody>
      </p:sp>
    </p:spTree>
    <p:extLst>
      <p:ext uri="{BB962C8B-B14F-4D97-AF65-F5344CB8AC3E}">
        <p14:creationId xmlns:p14="http://schemas.microsoft.com/office/powerpoint/2010/main" val="343620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A8615-245C-F857-6787-1FA9C9516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5E288-D97F-5EB4-70F3-DF2BA83323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3668" y="83403"/>
            <a:ext cx="6395477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Different kinds of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63B0EF-DC2E-D3B8-E688-ED1A2A4AE4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Mobile productivity apps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Stand-alone desktop applications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Transaction-based networked applications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Embedded control systems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Data collection and monitoring systems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Batch processing systems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Entertainment and education apps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Systems for modelling and simulation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Games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Etc</a:t>
            </a:r>
          </a:p>
        </p:txBody>
      </p:sp>
    </p:spTree>
    <p:extLst>
      <p:ext uri="{BB962C8B-B14F-4D97-AF65-F5344CB8AC3E}">
        <p14:creationId xmlns:p14="http://schemas.microsoft.com/office/powerpoint/2010/main" val="2284287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010D6-FF5E-94C8-888D-28599E7E4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9AF1B-C2CA-532B-829B-309EF6682F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8330" y="83403"/>
            <a:ext cx="8510815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“THE” Software Development process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5BF1AB-119F-3420-CA59-39DB3CFBD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No such thing as "THE" software dev process!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Different domains rely upon different processes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Different companies have own in-house standards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Similar concepts can have different names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Different experts advocate their own approach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All will try and convince you that theirs is the best!</a:t>
            </a:r>
          </a:p>
        </p:txBody>
      </p:sp>
    </p:spTree>
    <p:extLst>
      <p:ext uri="{BB962C8B-B14F-4D97-AF65-F5344CB8AC3E}">
        <p14:creationId xmlns:p14="http://schemas.microsoft.com/office/powerpoint/2010/main" val="1086448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25DCB-2188-0580-57CA-C1544B8F1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FECE2-ADAD-DDF6-0F61-F09AE9070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8330" y="83403"/>
            <a:ext cx="8510815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Standardisation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E9D33-1424-4A0C-1509-5667DE0AD2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There is limited agreement/standardisation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We’ll try to put across something coherent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Present some key concepts and processes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Might differ from what your client advocates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Might differ from what you do when you graduate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But majority of the fundamentals you will recognise</a:t>
            </a:r>
          </a:p>
        </p:txBody>
      </p:sp>
    </p:spTree>
    <p:extLst>
      <p:ext uri="{BB962C8B-B14F-4D97-AF65-F5344CB8AC3E}">
        <p14:creationId xmlns:p14="http://schemas.microsoft.com/office/powerpoint/2010/main" val="37273818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B04F5-B3FE-4BD5-5DBF-17E610327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6163F-1447-DBF5-4B70-9EC37AD4D6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8330" y="83403"/>
            <a:ext cx="8510815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Waterfall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AC8129-3C77-2B0B-B9A6-654E7132B0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5A61BD-F0DB-5117-1C3E-98E4F1142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21920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46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F789E-9904-8D54-3995-AB6092E0B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B736C-2EC8-000C-1692-DAB159FC6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8330" y="83403"/>
            <a:ext cx="8510815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Requirements </a:t>
            </a:r>
            <a:r>
              <a:rPr lang="en-GB" dirty="0" err="1">
                <a:latin typeface="Rockwell" panose="02060603020205020403" pitchFamily="18" charset="77"/>
              </a:rPr>
              <a:t>defintion</a:t>
            </a:r>
            <a:endParaRPr lang="en-GB" dirty="0">
              <a:latin typeface="Rockwell" panose="02060603020205020403" pitchFamily="18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895743-2CA2-C4D3-AD54-D5787344AD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GB" dirty="0"/>
              <a:t>• What should the system do?</a:t>
            </a:r>
          </a:p>
          <a:p>
            <a:pPr>
              <a:spcAft>
                <a:spcPts val="600"/>
              </a:spcAft>
            </a:pPr>
            <a:r>
              <a:rPr lang="en-GB" dirty="0"/>
              <a:t>• What are the needs of the users?</a:t>
            </a:r>
          </a:p>
          <a:p>
            <a:pPr>
              <a:spcAft>
                <a:spcPts val="600"/>
              </a:spcAft>
            </a:pPr>
            <a:r>
              <a:rPr lang="en-GB" dirty="0"/>
              <a:t>• What are the needs of the host organisation?</a:t>
            </a:r>
          </a:p>
          <a:p>
            <a:pPr>
              <a:spcAft>
                <a:spcPts val="600"/>
              </a:spcAft>
            </a:pPr>
            <a:r>
              <a:rPr lang="en-GB" dirty="0"/>
              <a:t>• What are interoperability needs of existing systems?</a:t>
            </a:r>
          </a:p>
        </p:txBody>
      </p:sp>
    </p:spTree>
    <p:extLst>
      <p:ext uri="{BB962C8B-B14F-4D97-AF65-F5344CB8AC3E}">
        <p14:creationId xmlns:p14="http://schemas.microsoft.com/office/powerpoint/2010/main" val="1359243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662A7-3B0A-E3F5-05B0-FB935E8E5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F04A1-061C-773F-B40C-D7F4CDB3F3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8330" y="83403"/>
            <a:ext cx="8510815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Requirements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9DC0D9-62C1-E4C7-C0FD-A6C960F34E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GB" b="1" dirty="0"/>
              <a:t>Requirements</a:t>
            </a:r>
          </a:p>
          <a:p>
            <a:pPr>
              <a:spcAft>
                <a:spcPts val="0"/>
              </a:spcAft>
            </a:pPr>
            <a:r>
              <a:rPr lang="en-GB" dirty="0"/>
              <a:t>We need to think about functional elements</a:t>
            </a:r>
          </a:p>
          <a:p>
            <a:pPr>
              <a:spcAft>
                <a:spcPts val="0"/>
              </a:spcAft>
            </a:pPr>
            <a:r>
              <a:rPr lang="en-GB" dirty="0"/>
              <a:t>(stuff that system should do)</a:t>
            </a:r>
            <a:br>
              <a:rPr lang="en-GB" dirty="0"/>
            </a:br>
            <a:endParaRPr lang="en-GB" dirty="0"/>
          </a:p>
          <a:p>
            <a:pPr>
              <a:spcAft>
                <a:spcPts val="0"/>
              </a:spcAft>
            </a:pPr>
            <a:r>
              <a:rPr lang="en-GB" dirty="0"/>
              <a:t>And also non-functional elements</a:t>
            </a:r>
          </a:p>
          <a:p>
            <a:pPr>
              <a:spcAft>
                <a:spcPts val="0"/>
              </a:spcAft>
            </a:pPr>
            <a:r>
              <a:rPr lang="en-GB" dirty="0"/>
              <a:t>(quality and properties of system operation)</a:t>
            </a:r>
            <a:br>
              <a:rPr lang="en-GB" dirty="0"/>
            </a:br>
            <a:endParaRPr lang="en-GB" dirty="0"/>
          </a:p>
          <a:p>
            <a:pPr>
              <a:spcAft>
                <a:spcPts val="0"/>
              </a:spcAft>
            </a:pPr>
            <a:r>
              <a:rPr lang="en-GB" dirty="0"/>
              <a:t>Security, Reliability, Ease of Use, Maintainability etc.</a:t>
            </a:r>
          </a:p>
        </p:txBody>
      </p:sp>
    </p:spTree>
    <p:extLst>
      <p:ext uri="{BB962C8B-B14F-4D97-AF65-F5344CB8AC3E}">
        <p14:creationId xmlns:p14="http://schemas.microsoft.com/office/powerpoint/2010/main" val="38483509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2EABC-FA73-D23C-ABF4-1B81843BD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BD029-B809-86CC-E1F8-B1C28A442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8330" y="83403"/>
            <a:ext cx="8510815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9AD3A-2977-5920-8B5D-703222FA9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GB" dirty="0"/>
              <a:t>Before we implement anything, we need an overall structure for the system</a:t>
            </a:r>
          </a:p>
          <a:p>
            <a:pPr>
              <a:spcAft>
                <a:spcPts val="600"/>
              </a:spcAft>
            </a:pPr>
            <a:r>
              <a:rPr lang="en-GB" dirty="0"/>
              <a:t>• What objects, architectures, files, databases, servers, services etc. should we create ?</a:t>
            </a:r>
          </a:p>
          <a:p>
            <a:pPr>
              <a:spcAft>
                <a:spcPts val="600"/>
              </a:spcAft>
            </a:pPr>
            <a:r>
              <a:rPr lang="en-GB" dirty="0"/>
              <a:t>• Only then do we know the places where requirements should be implemented</a:t>
            </a:r>
          </a:p>
          <a:p>
            <a:pPr>
              <a:spcAft>
                <a:spcPts val="600"/>
              </a:spcAft>
            </a:pPr>
            <a:r>
              <a:rPr lang="en-GB" dirty="0"/>
              <a:t>• Also helps divide up work between team members.</a:t>
            </a:r>
          </a:p>
        </p:txBody>
      </p:sp>
    </p:spTree>
    <p:extLst>
      <p:ext uri="{BB962C8B-B14F-4D97-AF65-F5344CB8AC3E}">
        <p14:creationId xmlns:p14="http://schemas.microsoft.com/office/powerpoint/2010/main" val="1568760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EE423-ED64-ADB2-11E3-4FBF06DFB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41ECD-ACC5-00E9-56D4-BBD0E7FAAC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8330" y="83403"/>
            <a:ext cx="8510815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Implementation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D22EA5-5CB6-07D5-5DA8-2D22913105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GB" dirty="0"/>
              <a:t>You are familiar with programming, but there is more to implementation than just “cutting code”…</a:t>
            </a:r>
          </a:p>
          <a:p>
            <a:pPr>
              <a:spcAft>
                <a:spcPts val="1200"/>
              </a:spcAft>
            </a:pPr>
            <a:r>
              <a:rPr lang="en-GB" dirty="0"/>
              <a:t>• Parallel working and code sharing</a:t>
            </a:r>
          </a:p>
          <a:p>
            <a:pPr>
              <a:spcAft>
                <a:spcPts val="1200"/>
              </a:spcAft>
            </a:pPr>
            <a:r>
              <a:rPr lang="en-GB" dirty="0"/>
              <a:t>• API partitioning and “firewalling”</a:t>
            </a:r>
          </a:p>
          <a:p>
            <a:pPr>
              <a:spcAft>
                <a:spcPts val="1200"/>
              </a:spcAft>
            </a:pPr>
            <a:r>
              <a:rPr lang="en-GB" dirty="0"/>
              <a:t>• Versioning, integration and config management</a:t>
            </a:r>
          </a:p>
          <a:p>
            <a:pPr>
              <a:spcAft>
                <a:spcPts val="1200"/>
              </a:spcAft>
            </a:pPr>
            <a:r>
              <a:rPr lang="en-GB" dirty="0"/>
              <a:t>• Development environments and automated build</a:t>
            </a:r>
          </a:p>
          <a:p>
            <a:pPr>
              <a:spcAft>
                <a:spcPts val="1200"/>
              </a:spcAft>
            </a:pPr>
            <a:r>
              <a:rPr lang="en-GB" dirty="0"/>
              <a:t>• Automated testing</a:t>
            </a:r>
          </a:p>
          <a:p>
            <a:pPr>
              <a:spcAft>
                <a:spcPts val="1200"/>
              </a:spcAft>
            </a:pPr>
            <a:r>
              <a:rPr lang="en-GB" dirty="0"/>
              <a:t>Docs and training material also need writing!</a:t>
            </a:r>
          </a:p>
        </p:txBody>
      </p:sp>
    </p:spTree>
    <p:extLst>
      <p:ext uri="{BB962C8B-B14F-4D97-AF65-F5344CB8AC3E}">
        <p14:creationId xmlns:p14="http://schemas.microsoft.com/office/powerpoint/2010/main" val="2475624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20788-766D-3AC1-46D3-D1604CDE3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7D5C3-249D-2285-EF8F-098E97B5A5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8330" y="83403"/>
            <a:ext cx="8510815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Verification and Validation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FC307E-951F-1DA1-4C9C-91202B2A1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GB" dirty="0"/>
              <a:t>Demonstrates that system meets needs of client</a:t>
            </a:r>
            <a:br>
              <a:rPr lang="en-GB" dirty="0"/>
            </a:br>
            <a:endParaRPr lang="en-GB" dirty="0"/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Involves checking, reviewing, evaluating &amp; testing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Testing is the most common V &amp; V activity</a:t>
            </a:r>
            <a:br>
              <a:rPr lang="en-GB" dirty="0"/>
            </a:br>
            <a:r>
              <a:rPr lang="en-GB" dirty="0"/>
              <a:t>So you’ll be doing plenty of that!</a:t>
            </a:r>
            <a:br>
              <a:rPr lang="en-GB" dirty="0"/>
            </a:br>
            <a:endParaRPr lang="en-GB" dirty="0"/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User evaluation is the most undervalued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You’ll come up with excuses why you didn’t do it :-D</a:t>
            </a:r>
          </a:p>
        </p:txBody>
      </p:sp>
    </p:spTree>
    <p:extLst>
      <p:ext uri="{BB962C8B-B14F-4D97-AF65-F5344CB8AC3E}">
        <p14:creationId xmlns:p14="http://schemas.microsoft.com/office/powerpoint/2010/main" val="2708840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5611B-08FB-45B9-B15F-2741191D4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C0C9E-204A-382C-7571-5B23A5219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8330" y="83403"/>
            <a:ext cx="8510815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Waterfall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63D65-2315-D451-F1D3-A226BCFDCD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227759-8703-A59C-635A-CFB936AE5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21920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699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70AC8-B9F0-D33B-1D88-C4E5FD207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0571A-2225-1423-0930-A1F8308701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8330" y="83403"/>
            <a:ext cx="8510815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Realism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EFE447-6C69-FABE-9519-2A23B3D6A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People dis waterfall model as naïve and unrealistic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But remember - it's a simplification &amp; abstraction</a:t>
            </a:r>
            <a:br>
              <a:rPr lang="en-GB" dirty="0"/>
            </a:br>
            <a:endParaRPr lang="en-GB" dirty="0"/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A tool to help explain activities of SW development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Useful for undergrad Computer Science courses!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It's not exactly what happens in the real world,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But it is a good start in trying to understand it!</a:t>
            </a:r>
          </a:p>
        </p:txBody>
      </p:sp>
    </p:spTree>
    <p:extLst>
      <p:ext uri="{BB962C8B-B14F-4D97-AF65-F5344CB8AC3E}">
        <p14:creationId xmlns:p14="http://schemas.microsoft.com/office/powerpoint/2010/main" val="28890050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C4CDB-0677-91FA-6AAC-7040C4F7A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56EC0-FF52-0581-2C42-9CD988FD35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8330" y="83403"/>
            <a:ext cx="8510815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Agile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48FDF-86E6-F136-A99C-894B9F2C37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pPr algn="ctr">
              <a:spcAft>
                <a:spcPts val="0"/>
              </a:spcAft>
            </a:pPr>
            <a:r>
              <a:rPr lang="en-GB" sz="3600" dirty="0"/>
              <a:t>Agile is </a:t>
            </a:r>
            <a:r>
              <a:rPr lang="en-GB" sz="3600" b="1" u="sng" dirty="0"/>
              <a:t>NOT</a:t>
            </a:r>
            <a:r>
              <a:rPr lang="en-GB" sz="3600" dirty="0"/>
              <a:t> a development process</a:t>
            </a:r>
          </a:p>
          <a:p>
            <a:pPr algn="ctr">
              <a:spcAft>
                <a:spcPts val="0"/>
              </a:spcAft>
            </a:pPr>
            <a:r>
              <a:rPr lang="en-GB" sz="3600" dirty="0"/>
              <a:t>It is a </a:t>
            </a:r>
            <a:r>
              <a:rPr lang="en-GB" sz="3600" b="1" dirty="0"/>
              <a:t>philosophy</a:t>
            </a:r>
            <a:r>
              <a:rPr lang="en-GB" sz="3600" dirty="0"/>
              <a:t> - a way of thinking</a:t>
            </a:r>
            <a:br>
              <a:rPr lang="en-GB" dirty="0"/>
            </a:br>
            <a:endParaRPr lang="en-GB" dirty="0"/>
          </a:p>
          <a:p>
            <a:pPr>
              <a:spcAft>
                <a:spcPts val="1200"/>
              </a:spcAft>
            </a:pPr>
            <a:r>
              <a:rPr lang="en-GB" dirty="0"/>
              <a:t>The </a:t>
            </a:r>
            <a:r>
              <a:rPr lang="en-GB" dirty="0">
                <a:hlinkClick r:id="rId2"/>
              </a:rPr>
              <a:t>Agile "Manifesto" </a:t>
            </a:r>
            <a:r>
              <a:rPr lang="en-GB" dirty="0"/>
              <a:t>promotes the following values:</a:t>
            </a:r>
          </a:p>
          <a:p>
            <a:pPr>
              <a:spcAft>
                <a:spcPts val="1200"/>
              </a:spcAft>
            </a:pPr>
            <a:r>
              <a:rPr lang="en-GB" dirty="0"/>
              <a:t>• Individuals &amp; Interactions (over processes &amp; tools)</a:t>
            </a:r>
          </a:p>
          <a:p>
            <a:pPr>
              <a:spcAft>
                <a:spcPts val="1200"/>
              </a:spcAft>
            </a:pPr>
            <a:r>
              <a:rPr lang="en-GB" dirty="0"/>
              <a:t>• Operational Software (over documentation)</a:t>
            </a:r>
          </a:p>
          <a:p>
            <a:pPr>
              <a:spcAft>
                <a:spcPts val="1200"/>
              </a:spcAft>
            </a:pPr>
            <a:r>
              <a:rPr lang="en-GB" dirty="0"/>
              <a:t>• Customer Collaboration (over formal contracts)</a:t>
            </a:r>
          </a:p>
          <a:p>
            <a:pPr>
              <a:spcAft>
                <a:spcPts val="1200"/>
              </a:spcAft>
            </a:pPr>
            <a:r>
              <a:rPr lang="en-GB" dirty="0"/>
              <a:t>• Responding to Change (over predefined plan)</a:t>
            </a:r>
          </a:p>
        </p:txBody>
      </p:sp>
    </p:spTree>
    <p:extLst>
      <p:ext uri="{BB962C8B-B14F-4D97-AF65-F5344CB8AC3E}">
        <p14:creationId xmlns:p14="http://schemas.microsoft.com/office/powerpoint/2010/main" val="36571359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7DD4E-43E6-4858-BDE2-A8BC079A0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83403"/>
            <a:ext cx="5953145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Agile is a way of mind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5846A0-5D5D-45BD-8139-9988A60B2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r>
              <a:rPr lang="en-GB" dirty="0"/>
              <a:t>It made old-school </a:t>
            </a:r>
            <a:r>
              <a:rPr lang="en-GB" dirty="0" err="1"/>
              <a:t>devs</a:t>
            </a:r>
            <a:r>
              <a:rPr lang="en-GB" dirty="0"/>
              <a:t> very nervous !</a:t>
            </a:r>
            <a:br>
              <a:rPr lang="en-GB" dirty="0"/>
            </a:br>
            <a:r>
              <a:rPr lang="en-GB" dirty="0"/>
              <a:t>The values are however intended as "provocations"…</a:t>
            </a:r>
            <a:br>
              <a:rPr lang="en-GB" dirty="0"/>
            </a:br>
            <a:br>
              <a:rPr lang="en-GB" dirty="0"/>
            </a:br>
            <a:r>
              <a:rPr lang="en-GB" dirty="0"/>
              <a:t>Get us to rethink and reassess our preconceptions</a:t>
            </a:r>
          </a:p>
          <a:p>
            <a:br>
              <a:rPr lang="en-GB" dirty="0"/>
            </a:br>
            <a:r>
              <a:rPr lang="en-GB" dirty="0"/>
              <a:t>They don't ask us to totally disregard certain things</a:t>
            </a:r>
          </a:p>
          <a:p>
            <a:r>
              <a:rPr lang="en-GB" dirty="0"/>
              <a:t>(such as processes, tools, documentation etc)</a:t>
            </a:r>
          </a:p>
          <a:p>
            <a:br>
              <a:rPr lang="en-GB" dirty="0"/>
            </a:br>
            <a:r>
              <a:rPr lang="en-GB" dirty="0"/>
              <a:t>But rather, think about other aspects AS WELL</a:t>
            </a:r>
          </a:p>
        </p:txBody>
      </p:sp>
    </p:spTree>
    <p:extLst>
      <p:ext uri="{BB962C8B-B14F-4D97-AF65-F5344CB8AC3E}">
        <p14:creationId xmlns:p14="http://schemas.microsoft.com/office/powerpoint/2010/main" val="24926750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A59E3-E940-8211-2F50-2015B3E72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BDD93C-9FAE-02FB-CCF3-CBDA77C4AF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pPr algn="ctr"/>
            <a:br>
              <a:rPr lang="en-GB" dirty="0"/>
            </a:br>
            <a:r>
              <a:rPr lang="en-GB" dirty="0"/>
              <a:t>Agile is a development methodology</a:t>
            </a:r>
          </a:p>
          <a:p>
            <a:pPr algn="ctr"/>
            <a:r>
              <a:rPr lang="en-GB" dirty="0"/>
              <a:t>devised by (and for use by) coders!</a:t>
            </a:r>
          </a:p>
          <a:p>
            <a:pPr algn="ctr"/>
            <a:br>
              <a:rPr lang="en-GB" dirty="0"/>
            </a:br>
            <a:r>
              <a:rPr lang="en-GB" dirty="0"/>
              <a:t>so…</a:t>
            </a:r>
          </a:p>
          <a:p>
            <a:pPr algn="ctr"/>
            <a:r>
              <a:rPr lang="en-GB" dirty="0"/>
              <a:t>What things do coders like?</a:t>
            </a:r>
          </a:p>
        </p:txBody>
      </p:sp>
    </p:spTree>
    <p:extLst>
      <p:ext uri="{BB962C8B-B14F-4D97-AF65-F5344CB8AC3E}">
        <p14:creationId xmlns:p14="http://schemas.microsoft.com/office/powerpoint/2010/main" val="12583935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7DD4E-43E6-4858-BDE2-A8BC079A0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83403"/>
            <a:ext cx="5953145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Coders like….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5846A0-5D5D-45BD-8139-9988A60B2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Writing high quality code </a:t>
            </a:r>
            <a:br>
              <a:rPr lang="en-GB" dirty="0"/>
            </a:b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Refactoring code to make it more “elegant”</a:t>
            </a:r>
            <a:br>
              <a:rPr lang="en-GB" dirty="0"/>
            </a:b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Ticking things off to-do list: closure on work done</a:t>
            </a:r>
            <a:br>
              <a:rPr lang="en-GB" dirty="0"/>
            </a:b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Showing results to client to impress them</a:t>
            </a:r>
          </a:p>
        </p:txBody>
      </p:sp>
    </p:spTree>
    <p:extLst>
      <p:ext uri="{BB962C8B-B14F-4D97-AF65-F5344CB8AC3E}">
        <p14:creationId xmlns:p14="http://schemas.microsoft.com/office/powerpoint/2010/main" val="31839046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E05E4-8420-B493-9597-E9B215215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FFD77-52B2-B11E-8F2E-63ECB2043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83403"/>
            <a:ext cx="5953145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Coders DON’T like….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323609-4AE1-0E09-D78F-9ED9245307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Eliciting and recording requirements</a:t>
            </a:r>
            <a:br>
              <a:rPr lang="en-GB" dirty="0"/>
            </a:b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Writing tedious documentation</a:t>
            </a:r>
            <a:br>
              <a:rPr lang="en-GB" dirty="0"/>
            </a:b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Committing to a final design in advance</a:t>
            </a:r>
            <a:br>
              <a:rPr lang="en-GB" dirty="0"/>
            </a:b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Managers telling them how to work</a:t>
            </a:r>
            <a:br>
              <a:rPr lang="en-GB" dirty="0"/>
            </a:b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Big and immovable deadlines</a:t>
            </a:r>
          </a:p>
        </p:txBody>
      </p:sp>
    </p:spTree>
    <p:extLst>
      <p:ext uri="{BB962C8B-B14F-4D97-AF65-F5344CB8AC3E}">
        <p14:creationId xmlns:p14="http://schemas.microsoft.com/office/powerpoint/2010/main" val="19468462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860AA-E9FD-DC21-3667-46AAD81F0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45884-226D-C02E-6742-7B672168C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83403"/>
            <a:ext cx="5953145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The 12 principles of Agile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07CD4E-00BF-44F6-08AA-A0CAB34309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r>
              <a:rPr lang="en-GB" dirty="0"/>
              <a:t>1. 	Satisfying customer's needs</a:t>
            </a:r>
          </a:p>
          <a:p>
            <a:r>
              <a:rPr lang="en-GB" dirty="0"/>
              <a:t>	(with early &amp; continuous delivery of SW)</a:t>
            </a:r>
          </a:p>
          <a:p>
            <a:r>
              <a:rPr lang="en-GB" dirty="0"/>
              <a:t>2.	Embracing change</a:t>
            </a:r>
          </a:p>
          <a:p>
            <a:r>
              <a:rPr lang="en-GB" dirty="0"/>
              <a:t>	(even late on in the development cycle)</a:t>
            </a:r>
          </a:p>
          <a:p>
            <a:r>
              <a:rPr lang="en-GB" dirty="0"/>
              <a:t>3.	Delivering working SW regularly</a:t>
            </a:r>
          </a:p>
          <a:p>
            <a:r>
              <a:rPr lang="en-GB" dirty="0"/>
              <a:t>	(and frequently e.g. monthly/weekly)</a:t>
            </a:r>
          </a:p>
          <a:p>
            <a:r>
              <a:rPr lang="en-GB" dirty="0"/>
              <a:t>4. 	Developer and client daily collaboration</a:t>
            </a:r>
          </a:p>
          <a:p>
            <a:r>
              <a:rPr lang="en-GB" dirty="0"/>
              <a:t>5.	Trusting motivated individuals</a:t>
            </a:r>
          </a:p>
          <a:p>
            <a:r>
              <a:rPr lang="en-GB" dirty="0"/>
              <a:t>6.	Ensuring face-to-face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5940729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C0C91-1B70-F55A-F1D6-83A399B81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76768-5F13-337C-D35D-07F02817C1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83403"/>
            <a:ext cx="5953145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The 12 principles of Agile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377D66-AC3B-ECBD-1CF3-BDA1332A9C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r>
              <a:rPr lang="en-GB" dirty="0"/>
              <a:t>7.	Measuring progress by amount of working code</a:t>
            </a:r>
          </a:p>
          <a:p>
            <a:r>
              <a:rPr lang="en-GB" dirty="0"/>
              <a:t>8.	Working at constant &amp; sustainable pace</a:t>
            </a:r>
          </a:p>
          <a:p>
            <a:r>
              <a:rPr lang="en-GB" dirty="0"/>
              <a:t>	(not relying on heroic effort)</a:t>
            </a:r>
          </a:p>
          <a:p>
            <a:r>
              <a:rPr lang="en-GB" dirty="0"/>
              <a:t>9.	Continuous attention to technical excellence</a:t>
            </a:r>
          </a:p>
          <a:p>
            <a:r>
              <a:rPr lang="en-GB" dirty="0"/>
              <a:t>10.	Simplicity: minimise amount of (unnecessary) work</a:t>
            </a:r>
          </a:p>
          <a:p>
            <a:r>
              <a:rPr lang="en-GB" dirty="0"/>
              <a:t>11.	Rely upon self-organising teams</a:t>
            </a:r>
          </a:p>
          <a:p>
            <a:r>
              <a:rPr lang="en-GB" dirty="0"/>
              <a:t>12.	Teams regularly reflect on their own performance</a:t>
            </a:r>
          </a:p>
        </p:txBody>
      </p:sp>
    </p:spTree>
    <p:extLst>
      <p:ext uri="{BB962C8B-B14F-4D97-AF65-F5344CB8AC3E}">
        <p14:creationId xmlns:p14="http://schemas.microsoft.com/office/powerpoint/2010/main" val="40238581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7DD4E-43E6-4858-BDE2-A8BC079A0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3668" y="83403"/>
            <a:ext cx="6395477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Agile in perspective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5846A0-5D5D-45BD-8139-9988A60B2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Many elements of Agile weren’t new in 2001!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They have existed and evolved for many years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Agile draws them together under a single umbrella</a:t>
            </a:r>
            <a:br>
              <a:rPr lang="en-GB" dirty="0"/>
            </a:b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If you were being really cynical you might view Agile as just a branding exercise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An opportunity to sell more books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Earn more consultancy fees :-D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988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7DD4E-43E6-4858-BDE2-A8BC079A0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1340" y="83403"/>
            <a:ext cx="8457806" cy="830997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The ‘totally new’ Agile development process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5846A0-5D5D-45BD-8139-9988A60B2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AFFCF4-0B8B-E0D5-FBE6-3CEC472F3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77" y="1395666"/>
            <a:ext cx="11833469" cy="519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3041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0F4C8-DBD9-1D00-CACC-F73479AE7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82DB8-2090-0032-90B5-18131EE20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1340" y="83403"/>
            <a:ext cx="8457806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The ‘old fashioned’ generic waterfall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8977EA-DE67-CD5F-00A9-EC8BD83617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903F84-5919-D9ED-C8D5-C5D844BD8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217" y="922662"/>
            <a:ext cx="10531423" cy="592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7242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7DD4E-43E6-4858-BDE2-A8BC079A0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7775" y="89826"/>
            <a:ext cx="7360868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What does Agile look like in SEP?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E2AC8A3-6630-D24B-E454-85DC07115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84" y="1258956"/>
            <a:ext cx="11807688" cy="4770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49790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562D5-B04C-2AED-553D-9C00C19B8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2E467-674F-93D6-8A33-2EF37C7BA9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3668" y="83403"/>
            <a:ext cx="6395477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Agile sprints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7C61FE-22C2-C27D-EA4B-861A53EF2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r>
              <a:rPr lang="en-GB" b="1" dirty="0"/>
              <a:t>Sprints</a:t>
            </a:r>
            <a:r>
              <a:rPr lang="en-GB" dirty="0"/>
              <a:t> are reoccurring (usually) 2-3 week periods in a longer project </a:t>
            </a:r>
            <a:br>
              <a:rPr lang="en-GB" dirty="0"/>
            </a:br>
            <a:r>
              <a:rPr lang="en-GB" dirty="0"/>
              <a:t>allow a team to organise and think about tasks in smaller time chunks.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Start with meetings to discuss all the work teams believe can be completed in the sprint.</a:t>
            </a:r>
            <a:br>
              <a:rPr lang="en-GB" dirty="0"/>
            </a:br>
            <a:br>
              <a:rPr lang="en-GB" dirty="0"/>
            </a:br>
            <a:r>
              <a:rPr lang="en-GB" dirty="0"/>
              <a:t>This becomes tasks with definable, concrete goals</a:t>
            </a:r>
          </a:p>
          <a:p>
            <a:r>
              <a:rPr lang="en-GB" dirty="0"/>
              <a:t>which can be evaluated to determine if the task has been completed. </a:t>
            </a:r>
          </a:p>
        </p:txBody>
      </p:sp>
    </p:spTree>
    <p:extLst>
      <p:ext uri="{BB962C8B-B14F-4D97-AF65-F5344CB8AC3E}">
        <p14:creationId xmlns:p14="http://schemas.microsoft.com/office/powerpoint/2010/main" val="7419651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5D6FA-3F9B-2A81-A6D5-6894C5F38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D9402-D9C4-E0AD-A538-9CC9071026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3668" y="83403"/>
            <a:ext cx="6395477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SEP Sprints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D321E-F02F-0844-90F6-3AB2E7A063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r>
              <a:rPr lang="en-GB" dirty="0"/>
              <a:t>SEP is divided into 3 sprint equivalents:</a:t>
            </a:r>
            <a:br>
              <a:rPr lang="en-GB" dirty="0"/>
            </a:b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Minimum Viable Product phase (now until Week 9)</a:t>
            </a:r>
            <a:br>
              <a:rPr lang="en-GB" dirty="0"/>
            </a:b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Beta phase (Week 10 to Week 17)</a:t>
            </a:r>
            <a:br>
              <a:rPr lang="en-GB" dirty="0"/>
            </a:b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Final phase (Week 18 to Week 24)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BUT!  You can have more sprints!  This is the </a:t>
            </a:r>
            <a:r>
              <a:rPr lang="en-GB" dirty="0" err="1"/>
              <a:t>minumum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97982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2FE59-930C-F05A-4253-62F964FAA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2BE3E-366D-ACDB-FBE3-7227FBED26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3668" y="83403"/>
            <a:ext cx="6395477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Regular Standups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A5AC8D-0A22-9FDE-A81A-0004DCAED0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r>
              <a:rPr lang="en-GB" dirty="0"/>
              <a:t>(A.K.A Daily Standup or Daily SCRUM)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Short meetings to keep team members updated on each individual's progress as a sprint progresses.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”Stand ups” because everyone stands up so that no one gets comfortable enough to allow the meeting to go on for too long – </a:t>
            </a:r>
            <a:br>
              <a:rPr lang="en-GB" dirty="0"/>
            </a:br>
            <a:r>
              <a:rPr lang="en-GB" dirty="0"/>
              <a:t>15-20 minutes. </a:t>
            </a:r>
          </a:p>
        </p:txBody>
      </p:sp>
    </p:spTree>
    <p:extLst>
      <p:ext uri="{BB962C8B-B14F-4D97-AF65-F5344CB8AC3E}">
        <p14:creationId xmlns:p14="http://schemas.microsoft.com/office/powerpoint/2010/main" val="16723262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C9E42-6240-20A0-E709-8E91BFB12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ADA1F-6BDB-18ED-1555-3E6F41E754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3668" y="83403"/>
            <a:ext cx="6395477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Regular Standups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938452-12B5-311E-720B-81D635B45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r>
              <a:rPr lang="en-GB" dirty="0"/>
              <a:t>Each team member will talk about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what they have done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what they are *blocked* by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what they are going to do.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Everyone gets a quick update on other's progress </a:t>
            </a:r>
          </a:p>
          <a:p>
            <a:r>
              <a:rPr lang="en-GB" dirty="0"/>
              <a:t>Invites team members to help each other with tasks they are blocked by.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24896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8E30A-90E0-1E53-405B-FDFA9B935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E00DE-D480-84D3-176A-11395386C0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3668" y="83403"/>
            <a:ext cx="6395477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Regular Standups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4D883-49F9-C709-9EBE-F59ED64CC6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r>
              <a:rPr lang="en-GB" dirty="0"/>
              <a:t>To keep this meeting on track, is the *SCRUM Master* </a:t>
            </a:r>
            <a:br>
              <a:rPr lang="en-GB" dirty="0"/>
            </a:b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Directs the agenda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Makes sure everyone is heard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Keeps the meeting quick and relevant </a:t>
            </a:r>
          </a:p>
          <a:p>
            <a:br>
              <a:rPr lang="en-GB" dirty="0"/>
            </a:br>
            <a:r>
              <a:rPr lang="en-GB" dirty="0"/>
              <a:t>In industry:	daily</a:t>
            </a:r>
          </a:p>
          <a:p>
            <a:r>
              <a:rPr lang="en-GB" dirty="0"/>
              <a:t>In SEP: 		aim at once or twice a week (</a:t>
            </a:r>
            <a:r>
              <a:rPr lang="en-GB" dirty="0" err="1"/>
              <a:t>eg</a:t>
            </a:r>
            <a:r>
              <a:rPr lang="en-GB" dirty="0"/>
              <a:t> beginning and end)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78429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2873B-629C-131F-22F0-741069A90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47A42-881E-D58C-D1D1-FD50F58C7C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3668" y="83403"/>
            <a:ext cx="6395477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Communication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A2E000-68A3-88AA-6301-7DE20FA6AA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r>
              <a:rPr lang="en-GB" dirty="0"/>
              <a:t>Teams that do well in SEP communicate continually!</a:t>
            </a:r>
          </a:p>
          <a:p>
            <a:r>
              <a:rPr lang="en-GB" dirty="0"/>
              <a:t>But communication doesn’t need to take a lot of time</a:t>
            </a:r>
          </a:p>
          <a:p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We recommend having somewhere you’re communicating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Ideally with channels and ways to organise conversations and somewhere you can have video/audio calls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Teams or Discord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NOT WhatsApp! NOT where you socialise!</a:t>
            </a:r>
          </a:p>
          <a:p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91247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48650-1EB1-727A-4B43-B9620493A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BA1FC-E23B-27D7-DA6B-5DC6376619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3668" y="83403"/>
            <a:ext cx="6395477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Standup advice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90840-3C38-7A6E-74F3-660ADC874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Agree a set format in advance, so you come prepared</a:t>
            </a:r>
            <a:br>
              <a:rPr lang="en-GB" dirty="0"/>
            </a:b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Rotate the Scrum Master so everyone takes regular turns leading the meetings</a:t>
            </a:r>
            <a:br>
              <a:rPr lang="en-GB" dirty="0"/>
            </a:b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Ask your mentor for advice!</a:t>
            </a:r>
            <a:br>
              <a:rPr lang="en-GB" dirty="0"/>
            </a:b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Record everything you’re doing/have done on the kanban board</a:t>
            </a:r>
            <a:br>
              <a:rPr lang="en-GB" dirty="0"/>
            </a:br>
            <a:r>
              <a:rPr lang="en-GB" dirty="0"/>
              <a:t>(We can’t give you marks if we can’t see it!)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Use the kanban board as meeting notes/agenda</a:t>
            </a:r>
          </a:p>
        </p:txBody>
      </p:sp>
    </p:spTree>
    <p:extLst>
      <p:ext uri="{BB962C8B-B14F-4D97-AF65-F5344CB8AC3E}">
        <p14:creationId xmlns:p14="http://schemas.microsoft.com/office/powerpoint/2010/main" val="8331434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57FCB-55C1-EB3C-87AB-956C3FCBA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1B57F-3EDD-AAA2-AE94-31BEE7FCD4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3668" y="83403"/>
            <a:ext cx="6395477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Standup advice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85EFBF-5437-0E18-2EFD-03AC1C2EA6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Agree a set format in advance, so you come prepared</a:t>
            </a:r>
            <a:br>
              <a:rPr lang="en-GB" dirty="0"/>
            </a:b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Rotate the Scrum Master so everyone takes regular turns leading the meetings</a:t>
            </a:r>
            <a:br>
              <a:rPr lang="en-GB" dirty="0"/>
            </a:b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Ask your mentor for advice!</a:t>
            </a:r>
            <a:br>
              <a:rPr lang="en-GB" dirty="0"/>
            </a:b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Record everything you’re doing/have done on the kanban board</a:t>
            </a:r>
            <a:br>
              <a:rPr lang="en-GB" dirty="0"/>
            </a:br>
            <a:r>
              <a:rPr lang="en-GB" dirty="0"/>
              <a:t>(We can’t give you marks if we can’t see it!)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Use the kanban board as meeting notes/agenda</a:t>
            </a:r>
          </a:p>
        </p:txBody>
      </p:sp>
    </p:spTree>
    <p:extLst>
      <p:ext uri="{BB962C8B-B14F-4D97-AF65-F5344CB8AC3E}">
        <p14:creationId xmlns:p14="http://schemas.microsoft.com/office/powerpoint/2010/main" val="25092367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2008A-9EE7-32DC-1E02-BFD5FB7EF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EE777-DFED-F005-B067-27BED3C34D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478" y="83403"/>
            <a:ext cx="7609667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This is not the only meeting!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C9E27F-856A-519F-0892-577F007691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r>
              <a:rPr lang="en-GB" dirty="0"/>
              <a:t>Stand-ups are NOT the only time you’re meeting!</a:t>
            </a:r>
          </a:p>
          <a:p>
            <a:endParaRPr lang="en-GB" dirty="0"/>
          </a:p>
          <a:p>
            <a:r>
              <a:rPr lang="en-GB" dirty="0"/>
              <a:t>Regular sessions for working together (Wednesdays)</a:t>
            </a:r>
            <a:br>
              <a:rPr lang="en-GB" dirty="0"/>
            </a:b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Planning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Designing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Pair programming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Working on different tasks in the same place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Teaching each other about the things you’ve made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96199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B3D16-8BED-ECD1-0F86-1AEA4094F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19EC9-61AA-C8C6-9AA0-378B9FF6B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3668" y="83403"/>
            <a:ext cx="6395477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Starting your Agile process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0FB3A3-0C05-C881-BD62-A45CDF4D65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r>
              <a:rPr lang="en-GB" dirty="0"/>
              <a:t>TOMORROW</a:t>
            </a:r>
          </a:p>
          <a:p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Meet your team-mates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Arrange when/where/how often to meet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Agree a client liaison and send out initial email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Contact your mentor and arrange to meet them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Start working on your Repo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Put your first tasks on the Kanban board</a:t>
            </a:r>
          </a:p>
        </p:txBody>
      </p:sp>
    </p:spTree>
    <p:extLst>
      <p:ext uri="{BB962C8B-B14F-4D97-AF65-F5344CB8AC3E}">
        <p14:creationId xmlns:p14="http://schemas.microsoft.com/office/powerpoint/2010/main" val="12285098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EC9E3-9A09-2E08-9773-5F0E07915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EA684-DDDD-096B-7BC5-332B788E1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3668" y="83403"/>
            <a:ext cx="6395477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Agile is non-negotiable!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E628B7-7B42-D70F-7CB3-E0E274718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48" y="996950"/>
            <a:ext cx="9271552" cy="52374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96B0962-9E19-5101-A321-7CEAED7E50E4}"/>
                  </a:ext>
                </a:extLst>
              </p14:cNvPr>
              <p14:cNvContentPartPr/>
              <p14:nvPr/>
            </p14:nvContentPartPr>
            <p14:xfrm>
              <a:off x="8371831" y="3142054"/>
              <a:ext cx="2758320" cy="123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96B0962-9E19-5101-A321-7CEAED7E50E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35831" y="3106054"/>
                <a:ext cx="282996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FD262BC-A2B2-8B8A-0DD0-51B97043BDE6}"/>
                  </a:ext>
                </a:extLst>
              </p14:cNvPr>
              <p14:cNvContentPartPr/>
              <p14:nvPr/>
            </p14:nvContentPartPr>
            <p14:xfrm>
              <a:off x="8381191" y="2951254"/>
              <a:ext cx="441360" cy="564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FD262BC-A2B2-8B8A-0DD0-51B97043BDE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45551" y="2915254"/>
                <a:ext cx="513000" cy="63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E1567BEF-9FEC-7068-F6EC-E576E6F04826}"/>
              </a:ext>
            </a:extLst>
          </p:cNvPr>
          <p:cNvGrpSpPr/>
          <p:nvPr/>
        </p:nvGrpSpPr>
        <p:grpSpPr>
          <a:xfrm>
            <a:off x="11379631" y="2324134"/>
            <a:ext cx="486720" cy="1208160"/>
            <a:chOff x="11379631" y="2324134"/>
            <a:chExt cx="486720" cy="12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CA2527D-C6F4-55EB-DFDF-B5AC7978C5A9}"/>
                    </a:ext>
                  </a:extLst>
                </p14:cNvPr>
                <p14:cNvContentPartPr/>
                <p14:nvPr/>
              </p14:nvContentPartPr>
              <p14:xfrm>
                <a:off x="11386471" y="3530494"/>
                <a:ext cx="36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CA2527D-C6F4-55EB-DFDF-B5AC7978C5A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350471" y="3494494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536A8AD-1D42-F983-031C-007AA738CEED}"/>
                    </a:ext>
                  </a:extLst>
                </p14:cNvPr>
                <p14:cNvContentPartPr/>
                <p14:nvPr/>
              </p14:nvContentPartPr>
              <p14:xfrm>
                <a:off x="11379631" y="2488654"/>
                <a:ext cx="360" cy="739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536A8AD-1D42-F983-031C-007AA738CEE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343631" y="2453014"/>
                  <a:ext cx="72000" cy="81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F917687-B9EA-D9EF-B41E-7E8D8F522F61}"/>
                    </a:ext>
                  </a:extLst>
                </p14:cNvPr>
                <p14:cNvContentPartPr/>
                <p14:nvPr/>
              </p14:nvContentPartPr>
              <p14:xfrm>
                <a:off x="11635951" y="3531934"/>
                <a:ext cx="3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F917687-B9EA-D9EF-B41E-7E8D8F522F6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600311" y="3496294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1779B0A-0E79-A1E3-5933-F47E634469B2}"/>
                    </a:ext>
                  </a:extLst>
                </p14:cNvPr>
                <p14:cNvContentPartPr/>
                <p14:nvPr/>
              </p14:nvContentPartPr>
              <p14:xfrm>
                <a:off x="11626231" y="2510254"/>
                <a:ext cx="360" cy="803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1779B0A-0E79-A1E3-5933-F47E634469B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590231" y="2474614"/>
                  <a:ext cx="72000" cy="87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2E68689-381A-07F8-52AB-68E077538F56}"/>
                    </a:ext>
                  </a:extLst>
                </p14:cNvPr>
                <p14:cNvContentPartPr/>
                <p14:nvPr/>
              </p14:nvContentPartPr>
              <p14:xfrm>
                <a:off x="11865991" y="3513934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2E68689-381A-07F8-52AB-68E077538F5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829991" y="3478294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0480D29-1318-C940-B9C9-4AE867873B70}"/>
                    </a:ext>
                  </a:extLst>
                </p14:cNvPr>
                <p14:cNvContentPartPr/>
                <p14:nvPr/>
              </p14:nvContentPartPr>
              <p14:xfrm>
                <a:off x="11865991" y="2324134"/>
                <a:ext cx="360" cy="843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0480D29-1318-C940-B9C9-4AE867873B7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829991" y="2288494"/>
                  <a:ext cx="72000" cy="914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654730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37505-0633-6559-0E32-499E858FF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BEDDF-3C97-48F9-F591-FF23310875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3668" y="83403"/>
            <a:ext cx="6395477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What is a Kanban board?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A5F0FF-5467-11B0-53A2-CD495A65EF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41781"/>
            <a:ext cx="11521280" cy="5197642"/>
          </a:xfrm>
        </p:spPr>
        <p:txBody>
          <a:bodyPr/>
          <a:lstStyle/>
          <a:p>
            <a:r>
              <a:rPr lang="en-GB" dirty="0"/>
              <a:t>A useful concept taken from the </a:t>
            </a:r>
            <a:r>
              <a:rPr lang="en-GB" dirty="0">
                <a:hlinkClick r:id="rId3"/>
              </a:rPr>
              <a:t>Kanban method</a:t>
            </a:r>
            <a:r>
              <a:rPr lang="en-GB" dirty="0"/>
              <a:t>.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A flexible '</a:t>
            </a:r>
            <a:r>
              <a:rPr lang="en-GB" dirty="0" err="1"/>
              <a:t>ToDo</a:t>
            </a:r>
            <a:r>
              <a:rPr lang="en-GB" dirty="0"/>
              <a:t>' list structure, where issues progress through various states:</a:t>
            </a:r>
            <a:br>
              <a:rPr lang="en-GB" dirty="0"/>
            </a:br>
            <a:br>
              <a:rPr lang="en-GB" dirty="0"/>
            </a:br>
            <a:r>
              <a:rPr lang="en-GB" dirty="0"/>
              <a:t>"</a:t>
            </a:r>
            <a:r>
              <a:rPr lang="en-GB" dirty="0" err="1"/>
              <a:t>ToDo</a:t>
            </a:r>
            <a:r>
              <a:rPr lang="en-GB" dirty="0"/>
              <a:t>”  -&gt;  "In Progress" -&gt; "Done”</a:t>
            </a:r>
            <a:br>
              <a:rPr lang="en-GB" dirty="0"/>
            </a:br>
            <a:endParaRPr lang="en-GB" dirty="0"/>
          </a:p>
          <a:p>
            <a:r>
              <a:rPr lang="en-GB" dirty="0"/>
              <a:t>Originally </a:t>
            </a:r>
            <a:r>
              <a:rPr lang="en-GB" dirty="0" err="1"/>
              <a:t>post-it</a:t>
            </a:r>
            <a:r>
              <a:rPr lang="en-GB" dirty="0"/>
              <a:t> notes on a whiteboard, now there are various digital tools to help you. </a:t>
            </a:r>
            <a:br>
              <a:rPr lang="en-GB" dirty="0"/>
            </a:br>
            <a:r>
              <a:rPr lang="en-GB" dirty="0"/>
              <a:t>We are using the GitHub version, called "Projects".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4844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626BE-8621-6725-E09C-F21A37294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E6F49-5EA5-0195-89AF-C74BE4DDC4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3668" y="83403"/>
            <a:ext cx="6395477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Example Kanban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69FBD3B-D570-A806-F916-CF03FF54F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166" y="1364302"/>
            <a:ext cx="12780455" cy="3048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89712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36112-8B6A-E5B9-5D99-FBC8C256A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17A3909-3118-998D-0ABA-EB63AB96AC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2968487"/>
            <a:ext cx="11521280" cy="3384188"/>
          </a:xfrm>
        </p:spPr>
        <p:txBody>
          <a:bodyPr/>
          <a:lstStyle/>
          <a:p>
            <a:pPr algn="ctr"/>
            <a:r>
              <a:rPr lang="en-GB" sz="4400" b="1" dirty="0"/>
              <a:t>Where do you start?</a:t>
            </a:r>
          </a:p>
        </p:txBody>
      </p:sp>
    </p:spTree>
    <p:extLst>
      <p:ext uri="{BB962C8B-B14F-4D97-AF65-F5344CB8AC3E}">
        <p14:creationId xmlns:p14="http://schemas.microsoft.com/office/powerpoint/2010/main" val="25782350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A97D1-65B5-0110-8257-29D3CF357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DD3A6-79D9-EE15-2BD4-997504D45B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3668" y="83403"/>
            <a:ext cx="6395477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Requirements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FC229B-3816-9D5D-D921-E54791180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r>
              <a:rPr lang="en-GB" dirty="0"/>
              <a:t>The process of establishing the features that the client requires from a system </a:t>
            </a:r>
          </a:p>
          <a:p>
            <a:r>
              <a:rPr lang="en-GB" dirty="0"/>
              <a:t>and the constraints under which such features must operate</a:t>
            </a:r>
            <a:br>
              <a:rPr lang="en-GB" dirty="0"/>
            </a:br>
            <a:endParaRPr lang="en-GB" dirty="0"/>
          </a:p>
          <a:p>
            <a:r>
              <a:rPr lang="en-GB" dirty="0"/>
              <a:t>The requirements are the recorded description of the system features and the constraints that are generated during this process.</a:t>
            </a:r>
            <a:br>
              <a:rPr lang="en-GB" dirty="0"/>
            </a:br>
            <a:endParaRPr lang="en-GB" dirty="0"/>
          </a:p>
          <a:p>
            <a:r>
              <a:rPr lang="en-GB" dirty="0"/>
              <a:t>We will talk to you more about this in the coming weeks, but the</a:t>
            </a:r>
          </a:p>
          <a:p>
            <a:r>
              <a:rPr lang="en-GB" dirty="0"/>
              <a:t>task starts with your first client meeting</a:t>
            </a:r>
          </a:p>
        </p:txBody>
      </p:sp>
    </p:spTree>
    <p:extLst>
      <p:ext uri="{BB962C8B-B14F-4D97-AF65-F5344CB8AC3E}">
        <p14:creationId xmlns:p14="http://schemas.microsoft.com/office/powerpoint/2010/main" val="22999262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57CE9-48BA-AEB9-5610-2A6FD6387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4BBA1-BA5D-CBDD-A6B8-BC9F159F0F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6123" y="83403"/>
            <a:ext cx="9783024" cy="830997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Dangers of not doing Requirements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1C7AB9-438F-FD1B-D070-2D1EB41847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r>
              <a:rPr lang="en-GB" dirty="0"/>
              <a:t>We must find out what to build before we build it!</a:t>
            </a:r>
            <a:br>
              <a:rPr lang="en-GB" dirty="0"/>
            </a:br>
            <a:endParaRPr lang="en-GB" dirty="0"/>
          </a:p>
          <a:p>
            <a:r>
              <a:rPr lang="en-GB" dirty="0"/>
              <a:t>Common trap: to </a:t>
            </a:r>
            <a:r>
              <a:rPr lang="en-GB" b="1" dirty="0"/>
              <a:t>think</a:t>
            </a:r>
            <a:r>
              <a:rPr lang="en-GB" dirty="0"/>
              <a:t> we know what the client wants and blaze ahead building it….</a:t>
            </a:r>
            <a:br>
              <a:rPr lang="en-GB" dirty="0"/>
            </a:br>
            <a:endParaRPr lang="en-GB" dirty="0"/>
          </a:p>
          <a:p>
            <a:r>
              <a:rPr lang="en-GB" dirty="0"/>
              <a:t> …only to realise later we were </a:t>
            </a:r>
            <a:r>
              <a:rPr lang="en-GB" b="1" dirty="0"/>
              <a:t>wrong</a:t>
            </a:r>
            <a:r>
              <a:rPr lang="en-GB" dirty="0"/>
              <a:t>!</a:t>
            </a:r>
          </a:p>
          <a:p>
            <a:endParaRPr lang="en-GB" dirty="0"/>
          </a:p>
          <a:p>
            <a:r>
              <a:rPr lang="en-GB" dirty="0"/>
              <a:t>Having wasted time, effort and money (grades)</a:t>
            </a:r>
          </a:p>
        </p:txBody>
      </p:sp>
    </p:spTree>
    <p:extLst>
      <p:ext uri="{BB962C8B-B14F-4D97-AF65-F5344CB8AC3E}">
        <p14:creationId xmlns:p14="http://schemas.microsoft.com/office/powerpoint/2010/main" val="2226641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F4F11-EA95-2B6D-AA43-0D8823758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2C7C6-6290-FAA2-D5E0-4191F1153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6123" y="83403"/>
            <a:ext cx="9783024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Eliciting requirements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8E8BB6-FB8C-ADCD-AB66-F75864BFA5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r>
              <a:rPr lang="en-GB" dirty="0"/>
              <a:t>How do we actually find the requirements?</a:t>
            </a:r>
          </a:p>
          <a:p>
            <a:br>
              <a:rPr lang="en-GB" dirty="0"/>
            </a:br>
            <a:r>
              <a:rPr lang="en-GB" dirty="0"/>
              <a:t>We don’t just know them intuitively</a:t>
            </a:r>
          </a:p>
          <a:p>
            <a:r>
              <a:rPr lang="en-GB" dirty="0"/>
              <a:t>(a rookie developer mistake is to think that you can!)</a:t>
            </a:r>
            <a:br>
              <a:rPr lang="en-GB" dirty="0"/>
            </a:br>
            <a:endParaRPr lang="en-GB" dirty="0"/>
          </a:p>
          <a:p>
            <a:r>
              <a:rPr lang="en-GB" dirty="0"/>
              <a:t>We have to actually make an effort to find them</a:t>
            </a:r>
          </a:p>
          <a:p>
            <a:br>
              <a:rPr lang="en-GB" dirty="0"/>
            </a:br>
            <a:r>
              <a:rPr lang="en-GB" dirty="0"/>
              <a:t>They can be elicited using a variety of techniques…</a:t>
            </a:r>
          </a:p>
        </p:txBody>
      </p:sp>
    </p:spTree>
    <p:extLst>
      <p:ext uri="{BB962C8B-B14F-4D97-AF65-F5344CB8AC3E}">
        <p14:creationId xmlns:p14="http://schemas.microsoft.com/office/powerpoint/2010/main" val="41839515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DA632-9D63-7F70-2A4D-ABC0B6688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4B094-69DB-4024-5C00-91714A4013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6123" y="83403"/>
            <a:ext cx="9783024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Reading documentation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4F621C-7392-CA30-C636-3DD5DE6327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GB" dirty="0"/>
              <a:t>We’ll talk about this more in Week 3</a:t>
            </a:r>
            <a:br>
              <a:rPr lang="en-GB" dirty="0"/>
            </a:br>
            <a:endParaRPr lang="en-GB" dirty="0"/>
          </a:p>
          <a:p>
            <a:pPr>
              <a:spcAft>
                <a:spcPts val="600"/>
              </a:spcAft>
            </a:pPr>
            <a:r>
              <a:rPr lang="en-GB" dirty="0"/>
              <a:t>Organisations often have a lot of documentation: </a:t>
            </a:r>
            <a:br>
              <a:rPr lang="en-GB" dirty="0"/>
            </a:br>
            <a:r>
              <a:rPr lang="en-GB" dirty="0"/>
              <a:t>process documents, regulations, manuals, etc</a:t>
            </a:r>
          </a:p>
          <a:p>
            <a:pPr>
              <a:spcAft>
                <a:spcPts val="600"/>
              </a:spcAft>
            </a:pPr>
            <a:r>
              <a:rPr lang="en-GB" dirty="0"/>
              <a:t>Ask your client for theirs!</a:t>
            </a:r>
            <a:br>
              <a:rPr lang="en-GB" dirty="0"/>
            </a:br>
            <a:endParaRPr lang="en-GB" dirty="0"/>
          </a:p>
          <a:p>
            <a:pPr>
              <a:spcAft>
                <a:spcPts val="600"/>
              </a:spcAft>
            </a:pPr>
            <a:r>
              <a:rPr lang="en-GB" dirty="0"/>
              <a:t>If we can get hold of them and pick them apart, we can understand how the organisation operates and then specify requirements to support that operation</a:t>
            </a:r>
          </a:p>
        </p:txBody>
      </p:sp>
    </p:spTree>
    <p:extLst>
      <p:ext uri="{BB962C8B-B14F-4D97-AF65-F5344CB8AC3E}">
        <p14:creationId xmlns:p14="http://schemas.microsoft.com/office/powerpoint/2010/main" val="4775428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F07CA-748E-2DB3-51D0-962100C52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FEE5C-E2D0-3FDF-4025-A055096D50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6123" y="83403"/>
            <a:ext cx="9783024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Reading documentation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C6CF5B-88C6-B8EF-B078-59482F9E0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GB" b="1" dirty="0"/>
              <a:t>BUT!</a:t>
            </a:r>
            <a:br>
              <a:rPr lang="en-GB" dirty="0"/>
            </a:br>
            <a:br>
              <a:rPr lang="en-GB" dirty="0"/>
            </a:br>
            <a:r>
              <a:rPr lang="en-GB" dirty="0"/>
              <a:t>Be aware that people don’t always follow official regulation!</a:t>
            </a:r>
          </a:p>
          <a:p>
            <a:pPr>
              <a:spcAft>
                <a:spcPts val="1200"/>
              </a:spcAft>
            </a:pPr>
            <a:br>
              <a:rPr lang="en-GB" dirty="0"/>
            </a:br>
            <a:r>
              <a:rPr lang="en-GB" dirty="0"/>
              <a:t>Being able to identify work-arounds being used is essential!</a:t>
            </a:r>
          </a:p>
        </p:txBody>
      </p:sp>
    </p:spTree>
    <p:extLst>
      <p:ext uri="{BB962C8B-B14F-4D97-AF65-F5344CB8AC3E}">
        <p14:creationId xmlns:p14="http://schemas.microsoft.com/office/powerpoint/2010/main" val="5137934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1D551-DBE6-95AE-85CE-A9DB17FC7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2C792-3E32-EBB0-52F6-65D062151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6123" y="83403"/>
            <a:ext cx="9783024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Interviews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2DC4E8-6ACF-7995-EE4B-66F1F29426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GB" dirty="0"/>
              <a:t>An obvious way to find out about an organisation is to talk to people (workers, managers, customers)</a:t>
            </a:r>
          </a:p>
          <a:p>
            <a:pPr>
              <a:spcAft>
                <a:spcPts val="1200"/>
              </a:spcAft>
            </a:pPr>
            <a:r>
              <a:rPr lang="en-GB" dirty="0"/>
              <a:t>This may be an informal chat over coffee</a:t>
            </a:r>
            <a:br>
              <a:rPr lang="en-GB" dirty="0"/>
            </a:br>
            <a:r>
              <a:rPr lang="en-GB" dirty="0"/>
              <a:t>Or a formal, planned, structured interview</a:t>
            </a:r>
          </a:p>
          <a:p>
            <a:pPr>
              <a:spcAft>
                <a:spcPts val="1200"/>
              </a:spcAft>
            </a:pPr>
            <a:r>
              <a:rPr lang="en-GB" dirty="0"/>
              <a:t>Be open-minded and avoid pre-conceived notions.</a:t>
            </a:r>
          </a:p>
          <a:p>
            <a:pPr>
              <a:spcAft>
                <a:spcPts val="1200"/>
              </a:spcAft>
            </a:pPr>
            <a:r>
              <a:rPr lang="en-GB" dirty="0"/>
              <a:t>You can prompt the interviewee to get discussions going by using a ‘springboard’ question…</a:t>
            </a:r>
          </a:p>
          <a:p>
            <a:pPr>
              <a:spcAft>
                <a:spcPts val="1200"/>
              </a:spcAft>
            </a:pPr>
            <a:r>
              <a:rPr lang="en-GB" dirty="0"/>
              <a:t>BUT do try to listen to their answers!</a:t>
            </a:r>
          </a:p>
        </p:txBody>
      </p:sp>
    </p:spTree>
    <p:extLst>
      <p:ext uri="{BB962C8B-B14F-4D97-AF65-F5344CB8AC3E}">
        <p14:creationId xmlns:p14="http://schemas.microsoft.com/office/powerpoint/2010/main" val="22007554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95556-5EFD-E206-5B86-FD778736A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5CC28-CA42-BA65-E748-81EC6CFD4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6123" y="83403"/>
            <a:ext cx="9783024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Observation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438C28-FC99-5DAA-CF18-8B768FE95B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GB" dirty="0"/>
              <a:t>Another way to identify requirements is by observation</a:t>
            </a:r>
            <a:br>
              <a:rPr lang="en-GB" dirty="0"/>
            </a:br>
            <a:r>
              <a:rPr lang="en-GB" dirty="0"/>
              <a:t>Watch the ‘lived’ practices within an organisation</a:t>
            </a:r>
          </a:p>
          <a:p>
            <a:pPr>
              <a:spcAft>
                <a:spcPts val="1200"/>
              </a:spcAft>
            </a:pPr>
            <a:br>
              <a:rPr lang="en-GB" dirty="0"/>
            </a:br>
            <a:r>
              <a:rPr lang="en-GB" dirty="0"/>
              <a:t>Social and organisational factors may be observed</a:t>
            </a:r>
          </a:p>
          <a:p>
            <a:pPr>
              <a:spcAft>
                <a:spcPts val="1200"/>
              </a:spcAft>
            </a:pPr>
            <a:r>
              <a:rPr lang="en-GB" dirty="0"/>
              <a:t>Some social scientists (ethnographers) are explicitly trained in the observation and analysis of work</a:t>
            </a:r>
            <a:br>
              <a:rPr lang="en-GB" dirty="0"/>
            </a:br>
            <a:br>
              <a:rPr lang="en-GB" dirty="0"/>
            </a:br>
            <a:r>
              <a:rPr lang="en-GB" dirty="0"/>
              <a:t>But it is possible to undertake our own studies</a:t>
            </a:r>
          </a:p>
        </p:txBody>
      </p:sp>
    </p:spTree>
    <p:extLst>
      <p:ext uri="{BB962C8B-B14F-4D97-AF65-F5344CB8AC3E}">
        <p14:creationId xmlns:p14="http://schemas.microsoft.com/office/powerpoint/2010/main" val="32527934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2A4C7-E0DF-E7E7-2E62-115B26322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FFF1A-C348-491C-5B35-C9B19F08F1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6123" y="83403"/>
            <a:ext cx="9783024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Systems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74511B-A638-2323-D2F6-4C5BA5874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GB" dirty="0"/>
              <a:t>Existing systems encapsulate work practices</a:t>
            </a:r>
            <a:br>
              <a:rPr lang="en-GB" dirty="0"/>
            </a:br>
            <a:endParaRPr lang="en-GB" dirty="0"/>
          </a:p>
          <a:p>
            <a:pPr>
              <a:spcAft>
                <a:spcPts val="1200"/>
              </a:spcAft>
            </a:pPr>
            <a:r>
              <a:rPr lang="en-GB" dirty="0"/>
              <a:t>• If we analyse/deconstruct them, we gain insight</a:t>
            </a:r>
          </a:p>
          <a:p>
            <a:pPr>
              <a:spcAft>
                <a:spcPts val="1200"/>
              </a:spcAft>
            </a:pPr>
            <a:r>
              <a:rPr lang="en-GB" dirty="0"/>
              <a:t>• Reverse engineer systems to derive requirements</a:t>
            </a:r>
            <a:br>
              <a:rPr lang="en-GB" dirty="0"/>
            </a:br>
            <a:endParaRPr lang="en-GB" dirty="0"/>
          </a:p>
          <a:p>
            <a:pPr>
              <a:spcAft>
                <a:spcPts val="1200"/>
              </a:spcAft>
            </a:pPr>
            <a:r>
              <a:rPr lang="en-GB" dirty="0"/>
              <a:t>• </a:t>
            </a:r>
            <a:r>
              <a:rPr lang="en-GB" b="1" dirty="0"/>
              <a:t>BUT</a:t>
            </a:r>
            <a:r>
              <a:rPr lang="en-GB" dirty="0"/>
              <a:t>…. This assumes existing systems are good</a:t>
            </a:r>
          </a:p>
          <a:p>
            <a:pPr>
              <a:spcAft>
                <a:spcPts val="1200"/>
              </a:spcAft>
            </a:pPr>
            <a:r>
              <a:rPr lang="en-GB" dirty="0"/>
              <a:t>• If they are that good, why build something new?</a:t>
            </a:r>
          </a:p>
        </p:txBody>
      </p:sp>
    </p:spTree>
    <p:extLst>
      <p:ext uri="{BB962C8B-B14F-4D97-AF65-F5344CB8AC3E}">
        <p14:creationId xmlns:p14="http://schemas.microsoft.com/office/powerpoint/2010/main" val="111094999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D2001-2A59-3063-9BAA-B5CEAAAEF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7B586-0379-10F3-5396-96422AB916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6123" y="83403"/>
            <a:ext cx="9783024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Problems with Requirements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B8F3F7-1A6C-84CB-0351-38DB835AC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GB" dirty="0"/>
              <a:t>Stakeholders will express their needs in their own words</a:t>
            </a:r>
          </a:p>
          <a:p>
            <a:pPr>
              <a:spcAft>
                <a:spcPts val="1200"/>
              </a:spcAft>
            </a:pPr>
            <a:r>
              <a:rPr lang="en-GB" sz="2800" dirty="0"/>
              <a:t>• This may be in the technical jargon of their field</a:t>
            </a:r>
          </a:p>
          <a:p>
            <a:pPr>
              <a:spcAft>
                <a:spcPts val="1200"/>
              </a:spcAft>
            </a:pPr>
            <a:r>
              <a:rPr lang="en-GB" sz="2800" dirty="0"/>
              <a:t>• They may struggle to articulate what they want</a:t>
            </a:r>
          </a:p>
          <a:p>
            <a:pPr>
              <a:spcAft>
                <a:spcPts val="1200"/>
              </a:spcAft>
            </a:pPr>
            <a:r>
              <a:rPr lang="en-GB" sz="2800" dirty="0"/>
              <a:t>• Or use concepts that only make sense to them!</a:t>
            </a:r>
          </a:p>
          <a:p>
            <a:pPr>
              <a:spcAft>
                <a:spcPts val="1200"/>
              </a:spcAft>
            </a:pPr>
            <a:r>
              <a:rPr lang="en-GB" sz="2800" dirty="0"/>
              <a:t>• Different stakeholders often have conflicting needs - how can you reconcile these?</a:t>
            </a:r>
          </a:p>
          <a:p>
            <a:pPr>
              <a:spcAft>
                <a:spcPts val="1200"/>
              </a:spcAft>
            </a:pPr>
            <a:r>
              <a:rPr lang="en-GB" sz="2800" dirty="0"/>
              <a:t>• Stakeholders frequently don’t know what they want</a:t>
            </a:r>
          </a:p>
          <a:p>
            <a:pPr>
              <a:spcAft>
                <a:spcPts val="1200"/>
              </a:spcAft>
            </a:pPr>
            <a:r>
              <a:rPr lang="en-GB" sz="2800" dirty="0"/>
              <a:t>• Often they don’t even know what they currently do (or at least can’t explain)</a:t>
            </a:r>
          </a:p>
        </p:txBody>
      </p:sp>
    </p:spTree>
    <p:extLst>
      <p:ext uri="{BB962C8B-B14F-4D97-AF65-F5344CB8AC3E}">
        <p14:creationId xmlns:p14="http://schemas.microsoft.com/office/powerpoint/2010/main" val="1872314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11B00-2444-B941-4385-574938375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04197-C6F6-E305-E595-A442F6B83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6123" y="83403"/>
            <a:ext cx="9783024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Problems with Requirements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E8A810-57CD-4C61-5C35-34EB78320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800" dirty="0"/>
              <a:t>Organisational and political factors may be present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800" dirty="0"/>
              <a:t>Development is not just a technical challenge, but a human one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800" dirty="0"/>
              <a:t>Requirements may change during the analysis process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800" dirty="0"/>
              <a:t>New stakeholders emerge or the environment changes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800" dirty="0"/>
              <a:t>Different people in the organisation may contradict each other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800" dirty="0"/>
              <a:t>People might not know what’s possible or not</a:t>
            </a:r>
          </a:p>
        </p:txBody>
      </p:sp>
    </p:spTree>
    <p:extLst>
      <p:ext uri="{BB962C8B-B14F-4D97-AF65-F5344CB8AC3E}">
        <p14:creationId xmlns:p14="http://schemas.microsoft.com/office/powerpoint/2010/main" val="39652535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D6DE4-5319-534E-7F10-CF9418A09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9EEB8-FF8D-A4AC-FC01-473614FB4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6123" y="83403"/>
            <a:ext cx="9783024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How to solve these problems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46887B-5B31-3CE0-2927-F3BB320342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800" dirty="0"/>
              <a:t>If you’re unclear about anything the client says, ask them!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800" dirty="0"/>
              <a:t>Never pretend you understand things you don’t – the clients will always prefer you stop and check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800" dirty="0"/>
              <a:t>Send them emails after the meeting to confirm what you think you were told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800" dirty="0"/>
              <a:t>If you’re unclear what things mean, or need help, talk to your mentor and come to the Drop-Ins on Fridays for help</a:t>
            </a:r>
          </a:p>
        </p:txBody>
      </p:sp>
    </p:spTree>
    <p:extLst>
      <p:ext uri="{BB962C8B-B14F-4D97-AF65-F5344CB8AC3E}">
        <p14:creationId xmlns:p14="http://schemas.microsoft.com/office/powerpoint/2010/main" val="2389168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940B3-113D-E656-0E43-6C3A23B70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E6010-B5B8-4F8E-F271-568DA2564E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6123" y="83403"/>
            <a:ext cx="9783024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How to solve these problems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6F409A-2A38-74CE-E8A5-E5E18EE87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GB" sz="2800" dirty="0"/>
              <a:t>Use your first meeting to start your Requirement Engineering Process</a:t>
            </a:r>
          </a:p>
          <a:p>
            <a:pPr>
              <a:spcAft>
                <a:spcPts val="1200"/>
              </a:spcAft>
            </a:pPr>
            <a:endParaRPr lang="en-GB" sz="2800" dirty="0"/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800" dirty="0"/>
              <a:t>Ask the client if they can share information about the existing systems and their organisation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800" dirty="0"/>
              <a:t>Ask if you can plan another meeting specifically for Requirement Engineering – don’t assume this is something you can do in your first meeting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800" dirty="0"/>
              <a:t>Ask if you can come and observe their work – but don’t be surprised/upset if they say no (they are very busy)</a:t>
            </a:r>
          </a:p>
        </p:txBody>
      </p:sp>
    </p:spTree>
    <p:extLst>
      <p:ext uri="{BB962C8B-B14F-4D97-AF65-F5344CB8AC3E}">
        <p14:creationId xmlns:p14="http://schemas.microsoft.com/office/powerpoint/2010/main" val="11383827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3F216-5A77-EBCA-C901-7E0A48FCF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5652C-A5B7-4536-5497-E38C5A5B58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6123" y="83403"/>
            <a:ext cx="9783024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What do you need to know?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C43297-3F9B-103F-F9A2-1C9FA046C9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r>
              <a:rPr lang="en-GB" dirty="0"/>
              <a:t>Who are your </a:t>
            </a:r>
            <a:r>
              <a:rPr lang="en-GB" b="1" dirty="0"/>
              <a:t>Stakeholders</a:t>
            </a:r>
            <a:r>
              <a:rPr lang="en-GB" dirty="0"/>
              <a:t>?</a:t>
            </a:r>
            <a:br>
              <a:rPr lang="en-GB" dirty="0"/>
            </a:br>
            <a:endParaRPr lang="en-GB" dirty="0"/>
          </a:p>
          <a:p>
            <a:pPr algn="ctr"/>
            <a:br>
              <a:rPr lang="en-GB" dirty="0"/>
            </a:br>
            <a:r>
              <a:rPr lang="en-GB" dirty="0"/>
              <a:t>Anyone who might be </a:t>
            </a:r>
            <a:r>
              <a:rPr lang="en-GB" b="1" dirty="0"/>
              <a:t>impacted</a:t>
            </a:r>
            <a:r>
              <a:rPr lang="en-GB" dirty="0"/>
              <a:t> by the system</a:t>
            </a:r>
            <a:br>
              <a:rPr lang="en-GB" dirty="0"/>
            </a:b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and who might </a:t>
            </a:r>
            <a:r>
              <a:rPr lang="en-GB" b="1" dirty="0"/>
              <a:t>impact</a:t>
            </a:r>
            <a:r>
              <a:rPr lang="en-GB" dirty="0"/>
              <a:t> the system</a:t>
            </a:r>
            <a:br>
              <a:rPr lang="en-GB" dirty="0"/>
            </a:br>
            <a:br>
              <a:rPr lang="en-GB" dirty="0"/>
            </a:br>
            <a:r>
              <a:rPr lang="en-GB" dirty="0"/>
              <a:t>even if they don't directly interact with the system.</a:t>
            </a:r>
            <a:br>
              <a:rPr lang="en-GB" sz="2800" dirty="0"/>
            </a:b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064984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09CAB-EC5D-E47D-2733-469119322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5AAB5-86C4-34FC-B84F-30DDA0A797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6123" y="83403"/>
            <a:ext cx="9783024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Typical stakeholders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A57DC6-A570-0E24-9408-B955DED97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End users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Organisation and system managers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Organisation and system owners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General public who are affected by the system - this can be directly (e.g. people who want to use Community Transport) and indirectly (businesses/services/people expecting others to use Community Transport)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Legislators (for example, with an interest in GDPR and data privacy)</a:t>
            </a:r>
          </a:p>
          <a:p>
            <a:br>
              <a:rPr lang="en-GB" sz="2800" dirty="0"/>
            </a:b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25175637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13D76-24ED-B710-3E5B-C0B86012F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FAE7A-6F2A-25FD-25AE-2DBF02F149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6123" y="83403"/>
            <a:ext cx="9783024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User stories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6459DD-B1EE-AF7E-4C9B-6954CB630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r>
              <a:rPr lang="en-GB" sz="2800" dirty="0"/>
              <a:t>Once we have identified a set of stakeholders for a project, we can start to think about what these individuals and organisations might need from a system. We do this through identifying </a:t>
            </a:r>
            <a:r>
              <a:rPr lang="en-GB" sz="2800" b="1" dirty="0"/>
              <a:t>User Stories</a:t>
            </a:r>
            <a:r>
              <a:rPr lang="en-GB" sz="2800" dirty="0"/>
              <a:t>.</a:t>
            </a:r>
            <a:br>
              <a:rPr lang="en-GB" sz="2800" dirty="0"/>
            </a:br>
            <a:endParaRPr lang="en-GB" sz="2800" dirty="0"/>
          </a:p>
          <a:p>
            <a:r>
              <a:rPr lang="en-GB" sz="2800" dirty="0"/>
              <a:t>A popular way to record user stories is:</a:t>
            </a:r>
            <a:br>
              <a:rPr lang="en-GB" sz="2800" dirty="0"/>
            </a:br>
            <a:endParaRPr lang="en-GB" sz="2800" dirty="0"/>
          </a:p>
          <a:p>
            <a:r>
              <a:rPr lang="en-GB" sz="2800" i="1" dirty="0"/>
              <a:t>As a [type of user], I want to [some goal], so that [some reason]</a:t>
            </a:r>
            <a:br>
              <a:rPr lang="en-GB" sz="2800" i="1" dirty="0"/>
            </a:br>
            <a:endParaRPr lang="en-GB" sz="2800" dirty="0"/>
          </a:p>
          <a:p>
            <a:r>
              <a:rPr lang="en-GB" sz="2800" dirty="0"/>
              <a:t>Or to put it more technically:</a:t>
            </a:r>
            <a:br>
              <a:rPr lang="en-GB" sz="2800" dirty="0"/>
            </a:br>
            <a:endParaRPr lang="en-GB" sz="2800" dirty="0"/>
          </a:p>
          <a:p>
            <a:r>
              <a:rPr lang="en-GB" sz="2800" i="1" dirty="0"/>
              <a:t>As a [persona], I want to [action], so that [benefit].</a:t>
            </a:r>
            <a:endParaRPr lang="en-GB" sz="2800" dirty="0"/>
          </a:p>
          <a:p>
            <a:br>
              <a:rPr lang="en-GB" sz="2800" dirty="0"/>
            </a:b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50161297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DBE10-347D-1836-A5FD-60DA53337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FF807-B2BA-B10F-1922-EEAC47F67A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6123" y="83403"/>
            <a:ext cx="9783024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User stories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0B63D8-15C2-DF84-AB26-9F88BF5B2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r>
              <a:rPr lang="en-GB" sz="2800" dirty="0"/>
              <a:t>For example:</a:t>
            </a:r>
            <a:br>
              <a:rPr lang="en-GB" sz="2800" dirty="0"/>
            </a:br>
            <a:endParaRPr lang="en-GB" sz="2800" dirty="0"/>
          </a:p>
          <a:p>
            <a:r>
              <a:rPr lang="en-GB" sz="2800" i="1" dirty="0"/>
              <a:t>As a chef, I want to be able to identify how long it takes to cook meals, so that I have time to cook and deliver and order in a reasonable time.</a:t>
            </a:r>
          </a:p>
          <a:p>
            <a:endParaRPr lang="en-GB" sz="2800" i="1" dirty="0"/>
          </a:p>
          <a:p>
            <a:r>
              <a:rPr lang="en-GB" sz="2800" i="1" dirty="0"/>
              <a:t>As a diner, I want to be able to order a meal, so that I can eat it and no longer be hungry.</a:t>
            </a:r>
            <a:r>
              <a:rPr lang="en-GB" sz="2800" dirty="0"/>
              <a:t> </a:t>
            </a:r>
            <a:br>
              <a:rPr lang="en-GB" sz="2800" dirty="0"/>
            </a:br>
            <a:br>
              <a:rPr lang="en-GB" sz="2800" dirty="0"/>
            </a:br>
            <a:r>
              <a:rPr lang="en-GB" sz="2800" i="1" dirty="0"/>
              <a:t>As a diner, I want to try a dish I’ve never tasted before, so that I can experience something new and taste new flavour combinations.</a:t>
            </a:r>
            <a:br>
              <a:rPr lang="en-GB" sz="2800" dirty="0"/>
            </a:br>
            <a:br>
              <a:rPr lang="en-GB" sz="2800" dirty="0"/>
            </a:br>
            <a:endParaRPr lang="en-GB" sz="2800" dirty="0"/>
          </a:p>
          <a:p>
            <a:br>
              <a:rPr lang="en-GB" sz="2800" dirty="0"/>
            </a:br>
            <a:endParaRPr lang="en-GB" sz="2800" dirty="0"/>
          </a:p>
          <a:p>
            <a:br>
              <a:rPr lang="en-GB" sz="2800" dirty="0"/>
            </a:b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72800663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B9666-57FB-FD50-FE8C-D7E805B50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4FD1F-A7E0-4145-A2FE-8A3E84E297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6123" y="83403"/>
            <a:ext cx="9783024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E5324-814B-3050-C1FB-7D5AAE8EC5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r>
              <a:rPr lang="en-GB" sz="2800" dirty="0"/>
              <a:t>Once you have identified your user stories, you next identify the </a:t>
            </a:r>
            <a:r>
              <a:rPr lang="en-GB" sz="2800" b="1" dirty="0"/>
              <a:t>"flow" steps</a:t>
            </a:r>
            <a:r>
              <a:rPr lang="en-GB" sz="2800" dirty="0"/>
              <a:t>. </a:t>
            </a:r>
            <a:br>
              <a:rPr lang="en-GB" sz="2800" dirty="0"/>
            </a:br>
            <a:br>
              <a:rPr lang="en-GB" sz="2800" dirty="0"/>
            </a:br>
            <a:r>
              <a:rPr lang="en-GB" sz="2800" dirty="0"/>
              <a:t>The </a:t>
            </a:r>
            <a:r>
              <a:rPr lang="en-GB" sz="2800" b="1" dirty="0"/>
              <a:t>"basic flow"</a:t>
            </a:r>
            <a:r>
              <a:rPr lang="en-GB" sz="2800" dirty="0"/>
              <a:t> is the normal or typical sequence of steps involved in achieving the goal.</a:t>
            </a:r>
          </a:p>
          <a:p>
            <a:br>
              <a:rPr lang="en-GB" sz="2800" i="1" dirty="0"/>
            </a:br>
            <a:endParaRPr lang="en-GB" sz="2800" i="1" dirty="0"/>
          </a:p>
          <a:p>
            <a:br>
              <a:rPr lang="en-GB" sz="2800" i="1" dirty="0"/>
            </a:b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64796567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C4010-1483-77CF-11FB-EC485D52A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FB0C1-79F3-9BA9-A7D3-8E2856AC7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6123" y="83403"/>
            <a:ext cx="9783024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A4309-58F3-CA06-1E95-D076154B94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r>
              <a:rPr lang="en-GB" sz="2800" dirty="0"/>
              <a:t>For example, in a restaurant, when a customer wants a meal, the customer flow steps are:</a:t>
            </a:r>
            <a:br>
              <a:rPr lang="en-GB" sz="2800" dirty="0"/>
            </a:b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Consider menu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Pick starter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Pick main course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Attract waiter's attention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Place order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Waiter passes order to chef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Chef confirms order with waiter</a:t>
            </a:r>
          </a:p>
          <a:p>
            <a:br>
              <a:rPr lang="en-GB" sz="2800" i="1" dirty="0"/>
            </a:br>
            <a:endParaRPr lang="en-GB" sz="2800" i="1" dirty="0"/>
          </a:p>
          <a:p>
            <a:br>
              <a:rPr lang="en-GB" sz="2800" i="1" dirty="0"/>
            </a:b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51075155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37F61-0D3E-50C9-0BAA-837AD1103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BA232-E7DC-DD04-0FBC-304E3AF58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6123" y="83403"/>
            <a:ext cx="9783024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7A68B3-A9B1-3154-47F4-20E00FA504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r>
              <a:rPr lang="en-GB" sz="2800" dirty="0"/>
              <a:t>However, be aware that interaction does not always follow the basic flow:</a:t>
            </a:r>
            <a:br>
              <a:rPr lang="en-GB" sz="2800" dirty="0"/>
            </a:br>
            <a:endParaRPr lang="en-GB" sz="2800" dirty="0"/>
          </a:p>
          <a:p>
            <a:r>
              <a:rPr lang="en-GB" sz="2800" b="1" dirty="0"/>
              <a:t>Alternative flow</a:t>
            </a:r>
            <a:r>
              <a:rPr lang="en-GB" sz="2800" dirty="0"/>
              <a:t>: </a:t>
            </a:r>
            <a:br>
              <a:rPr lang="en-GB" sz="2800" dirty="0"/>
            </a:br>
            <a:r>
              <a:rPr lang="en-GB" sz="2800" dirty="0"/>
              <a:t>Another, equally valid, but perhaps less common sequence of steps </a:t>
            </a:r>
            <a:br>
              <a:rPr lang="en-GB" sz="2800" dirty="0"/>
            </a:br>
            <a:r>
              <a:rPr lang="en-GB" sz="2800" dirty="0"/>
              <a:t>(sometimes you choose the main course before the starter!)</a:t>
            </a:r>
            <a:br>
              <a:rPr lang="en-GB" sz="2800" dirty="0"/>
            </a:br>
            <a:endParaRPr lang="en-GB" sz="2800" dirty="0"/>
          </a:p>
          <a:p>
            <a:r>
              <a:rPr lang="en-GB" sz="2800" b="1" dirty="0"/>
              <a:t>Exceptional flow</a:t>
            </a:r>
            <a:r>
              <a:rPr lang="en-GB" sz="2800" dirty="0"/>
              <a:t>: </a:t>
            </a:r>
            <a:br>
              <a:rPr lang="en-GB" sz="2800" dirty="0"/>
            </a:br>
            <a:r>
              <a:rPr lang="en-GB" sz="2800" dirty="0"/>
              <a:t>Unusual path to cope with strange or undesirable behaviour </a:t>
            </a:r>
            <a:br>
              <a:rPr lang="en-GB" sz="2800" dirty="0"/>
            </a:br>
            <a:r>
              <a:rPr lang="en-GB" sz="2800" dirty="0"/>
              <a:t>(you see the price of the food and slip away quietly!)</a:t>
            </a:r>
            <a:br>
              <a:rPr lang="en-GB" sz="2800" dirty="0"/>
            </a:br>
            <a:endParaRPr lang="en-GB" sz="2800" dirty="0"/>
          </a:p>
          <a:p>
            <a:br>
              <a:rPr lang="en-GB" sz="2800" i="1" dirty="0"/>
            </a:br>
            <a:endParaRPr lang="en-GB" sz="2800" i="1" dirty="0"/>
          </a:p>
          <a:p>
            <a:br>
              <a:rPr lang="en-GB" sz="2800" i="1" dirty="0"/>
            </a:b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82806610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F4EEE-BB24-345F-87B7-66BDDDF96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1C33C-002D-D493-8E08-52B31BA8D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6123" y="83403"/>
            <a:ext cx="9783024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Before you meet your client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7EB2FE-5E4A-4073-B4C4-E22A055562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r>
              <a:rPr lang="en-GB" sz="2800" dirty="0"/>
              <a:t>In your team, think about </a:t>
            </a:r>
            <a:r>
              <a:rPr lang="en-GB" sz="2800" b="1" dirty="0"/>
              <a:t>who your client’s stakeholders might be</a:t>
            </a:r>
            <a:r>
              <a:rPr lang="en-GB" sz="2800" dirty="0"/>
              <a:t>, and write a few user stories with flow steps, and add them to your README.</a:t>
            </a:r>
            <a:br>
              <a:rPr lang="en-GB" sz="2800" dirty="0"/>
            </a:br>
            <a:br>
              <a:rPr lang="en-GB" sz="2800" dirty="0"/>
            </a:br>
            <a:r>
              <a:rPr lang="en-GB" sz="2800" dirty="0"/>
              <a:t>You won’t yet have much detailed knowledge regrading your project, </a:t>
            </a:r>
          </a:p>
          <a:p>
            <a:r>
              <a:rPr lang="en-GB" sz="2800" dirty="0"/>
              <a:t>so take a best guess. </a:t>
            </a:r>
            <a:br>
              <a:rPr lang="en-GB" sz="2800" dirty="0"/>
            </a:br>
            <a:br>
              <a:rPr lang="en-GB" sz="2800" dirty="0"/>
            </a:br>
            <a:r>
              <a:rPr lang="en-GB" sz="2800" dirty="0"/>
              <a:t>When you meet with your client, you can use this as a starting point for discussion. </a:t>
            </a:r>
            <a:br>
              <a:rPr lang="en-GB" sz="2800" dirty="0"/>
            </a:br>
            <a:br>
              <a:rPr lang="en-GB" sz="2800" dirty="0"/>
            </a:br>
            <a:r>
              <a:rPr lang="en-GB" sz="2800" b="1" dirty="0"/>
              <a:t>User Stories can and should evolve over time</a:t>
            </a:r>
            <a:r>
              <a:rPr lang="en-GB" sz="2800" dirty="0"/>
              <a:t> as you gain more knowledge and insight into your application domain.</a:t>
            </a:r>
          </a:p>
          <a:p>
            <a:br>
              <a:rPr lang="en-GB" sz="2800" dirty="0"/>
            </a:br>
            <a:endParaRPr lang="en-GB" sz="2800" dirty="0"/>
          </a:p>
          <a:p>
            <a:br>
              <a:rPr lang="en-GB" sz="2800" i="1" dirty="0"/>
            </a:br>
            <a:endParaRPr lang="en-GB" sz="2800" i="1" dirty="0"/>
          </a:p>
          <a:p>
            <a:br>
              <a:rPr lang="en-GB" sz="2800" i="1" dirty="0"/>
            </a:b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75392167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2FDEE-7896-D424-C0DB-A4F1811E0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5F276-7B37-E76F-10FD-447BA1D30E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6123" y="83403"/>
            <a:ext cx="9783024" cy="830997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latin typeface="Rockwell" panose="02060603020205020403" pitchFamily="18" charset="77"/>
              </a:rPr>
              <a:t>What else will you do tomorrow?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D67B29-58E0-8BDE-9AA1-456F62053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360" y="1155033"/>
            <a:ext cx="11521280" cy="5197642"/>
          </a:xfrm>
        </p:spPr>
        <p:txBody>
          <a:bodyPr/>
          <a:lstStyle/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GB" sz="2800" dirty="0"/>
              <a:t>Meet your team!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GB" sz="2800" dirty="0"/>
              <a:t>Plan where/when/how you will meet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GB" sz="2800" dirty="0"/>
              <a:t>Start your Kanban Board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GB" sz="2800" dirty="0"/>
              <a:t>Agree a client liaison and email the client to arrange your first meeting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GB" sz="2800" dirty="0"/>
              <a:t>Contact your mentor and arrange the first meeting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GB" sz="2800" dirty="0"/>
              <a:t>Start your README:</a:t>
            </a:r>
            <a:br>
              <a:rPr lang="en-GB" sz="2800" dirty="0"/>
            </a:br>
            <a:r>
              <a:rPr lang="en-GB" sz="2800" dirty="0"/>
              <a:t>* Project description		* Stakeholders	* User stories</a:t>
            </a:r>
            <a:endParaRPr lang="en-GB" dirty="0"/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GB" sz="2800" dirty="0"/>
              <a:t>Think about your Contract with your client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GB" sz="2800" dirty="0"/>
              <a:t>Think about Data Protection and Ethics for your projects </a:t>
            </a:r>
            <a:br>
              <a:rPr lang="en-GB" sz="2800" dirty="0"/>
            </a:br>
            <a:endParaRPr lang="en-GB" sz="2800" dirty="0"/>
          </a:p>
          <a:p>
            <a:br>
              <a:rPr lang="en-GB" sz="2800" i="1" dirty="0"/>
            </a:br>
            <a:endParaRPr lang="en-GB" sz="2800" i="1" dirty="0"/>
          </a:p>
          <a:p>
            <a:br>
              <a:rPr lang="en-GB" sz="2800" i="1" dirty="0"/>
            </a:b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80964273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c template" id="{E8099D59-9DE8-FB4B-A6F9-C9CD006504C0}" vid="{4A8C0938-703E-8743-9A73-CAB8ABD1F34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c template" id="{E8099D59-9DE8-FB4B-A6F9-C9CD006504C0}" vid="{7F9906D3-5C42-754D-915D-61A0E1A76AE7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85000"/>
            <a:lumOff val="15000"/>
          </a:schemeClr>
        </a:solidFill>
        <a:ln w="38100">
          <a:solidFill>
            <a:schemeClr val="bg1">
              <a:lumMod val="9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>
              <a:lumMod val="85000"/>
              <a:lumOff val="1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2000" dirty="0" smtClean="0">
            <a:solidFill>
              <a:schemeClr val="bg1">
                <a:lumMod val="9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Aqua">
  <a:themeElements>
    <a:clrScheme name="Caree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434F"/>
      </a:accent1>
      <a:accent2>
        <a:srgbClr val="002F5F"/>
      </a:accent2>
      <a:accent3>
        <a:srgbClr val="53682B"/>
      </a:accent3>
      <a:accent4>
        <a:srgbClr val="772059"/>
      </a:accent4>
      <a:accent5>
        <a:srgbClr val="42145F"/>
      </a:accent5>
      <a:accent6>
        <a:srgbClr val="6D2601"/>
      </a:accent6>
      <a:hlink>
        <a:srgbClr val="0563C1"/>
      </a:hlink>
      <a:folHlink>
        <a:srgbClr val="954F72"/>
      </a:folHlink>
    </a:clrScheme>
    <a:fontScheme name="Custom 2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F46017227CC4C9F91CE430CAF7FB2" ma:contentTypeVersion="13" ma:contentTypeDescription="Create a new document." ma:contentTypeScope="" ma:versionID="044aa50e7352548b0c5cd5fa8be43b6c">
  <xsd:schema xmlns:xsd="http://www.w3.org/2001/XMLSchema" xmlns:xs="http://www.w3.org/2001/XMLSchema" xmlns:p="http://schemas.microsoft.com/office/2006/metadata/properties" xmlns:ns2="ffd0f281-4fbc-4670-b912-7be072a9d667" xmlns:ns3="d9d7bf91-b5fb-4526-a0aa-704c980172bb" targetNamespace="http://schemas.microsoft.com/office/2006/metadata/properties" ma:root="true" ma:fieldsID="e779aa9211261958ba54b6fb7d1e2f54" ns2:_="" ns3:_="">
    <xsd:import namespace="ffd0f281-4fbc-4670-b912-7be072a9d667"/>
    <xsd:import namespace="d9d7bf91-b5fb-4526-a0aa-704c980172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d0f281-4fbc-4670-b912-7be072a9d6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dd084387-097e-4aef-8f33-0dee7b0eb5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7bf91-b5fb-4526-a0aa-704c980172b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813199d5-2fdf-41e1-a464-885f1f2d903c}" ma:internalName="TaxCatchAll" ma:showField="CatchAllData" ma:web="d9d7bf91-b5fb-4526-a0aa-704c980172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fd0f281-4fbc-4670-b912-7be072a9d667">
      <Terms xmlns="http://schemas.microsoft.com/office/infopath/2007/PartnerControls"/>
    </lcf76f155ced4ddcb4097134ff3c332f>
    <TaxCatchAll xmlns="d9d7bf91-b5fb-4526-a0aa-704c980172bb" xsi:nil="true"/>
  </documentManagement>
</p:properties>
</file>

<file path=customXml/itemProps1.xml><?xml version="1.0" encoding="utf-8"?>
<ds:datastoreItem xmlns:ds="http://schemas.openxmlformats.org/officeDocument/2006/customXml" ds:itemID="{FDB6B027-5D7C-43CA-8192-B4F40055C15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5ACA809-4DC3-4196-9750-6C0C9B2C5E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fd0f281-4fbc-4670-b912-7be072a9d667"/>
    <ds:schemaRef ds:uri="d9d7bf91-b5fb-4526-a0aa-704c980172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FF9D064-8949-4AAF-9B1F-131498268799}">
  <ds:schemaRefs>
    <ds:schemaRef ds:uri="http://schemas.microsoft.com/office/infopath/2007/PartnerControls"/>
    <ds:schemaRef ds:uri="http://purl.org/dc/elements/1.1/"/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d9d7bf91-b5fb-4526-a0aa-704c980172bb"/>
    <ds:schemaRef ds:uri="http://schemas.openxmlformats.org/package/2006/metadata/core-properties"/>
    <ds:schemaRef ds:uri="ffd0f281-4fbc-4670-b912-7be072a9d667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4417</TotalTime>
  <Words>3774</Words>
  <Application>Microsoft Macintosh PowerPoint</Application>
  <PresentationFormat>Widescreen</PresentationFormat>
  <Paragraphs>461</Paragraphs>
  <Slides>72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72</vt:i4>
      </vt:variant>
    </vt:vector>
  </HeadingPairs>
  <TitlesOfParts>
    <vt:vector size="84" baseType="lpstr">
      <vt:lpstr>ＭＳ Ｐゴシック</vt:lpstr>
      <vt:lpstr>Arial</vt:lpstr>
      <vt:lpstr>Arial Black</vt:lpstr>
      <vt:lpstr>Ayuthaya</vt:lpstr>
      <vt:lpstr>Calibri</vt:lpstr>
      <vt:lpstr>Open Sans</vt:lpstr>
      <vt:lpstr>Rockwell</vt:lpstr>
      <vt:lpstr>Sora SemiBold</vt:lpstr>
      <vt:lpstr>1_Office Theme</vt:lpstr>
      <vt:lpstr>Custom Design</vt:lpstr>
      <vt:lpstr>2_Office Theme</vt:lpstr>
      <vt:lpstr>Aqua</vt:lpstr>
      <vt:lpstr>PowerPoint Presentation</vt:lpstr>
      <vt:lpstr>SEP Week 2</vt:lpstr>
      <vt:lpstr>PowerPoint Presentation</vt:lpstr>
      <vt:lpstr>The team agreement</vt:lpstr>
      <vt:lpstr>Client Collaboration Agreement</vt:lpstr>
      <vt:lpstr>Project Collaboration Agreement</vt:lpstr>
      <vt:lpstr>Project Collaboration Agreement</vt:lpstr>
      <vt:lpstr>Project Collaboration Agreement</vt:lpstr>
      <vt:lpstr>Pre-meeting Prep</vt:lpstr>
      <vt:lpstr>Ethics task</vt:lpstr>
      <vt:lpstr>What are we doing today?</vt:lpstr>
      <vt:lpstr>A weird metaphor</vt:lpstr>
      <vt:lpstr>More metaphor</vt:lpstr>
      <vt:lpstr>More metphor</vt:lpstr>
      <vt:lpstr>Different kinds of restaurants</vt:lpstr>
      <vt:lpstr>Different kinds of systems</vt:lpstr>
      <vt:lpstr>“THE” Software Development process</vt:lpstr>
      <vt:lpstr>Standardisation</vt:lpstr>
      <vt:lpstr>Waterfall model</vt:lpstr>
      <vt:lpstr>Requirements defintion</vt:lpstr>
      <vt:lpstr>Requirements</vt:lpstr>
      <vt:lpstr>Design</vt:lpstr>
      <vt:lpstr>Implementation</vt:lpstr>
      <vt:lpstr>Verification and Validation</vt:lpstr>
      <vt:lpstr>Waterfall model</vt:lpstr>
      <vt:lpstr>Realism</vt:lpstr>
      <vt:lpstr>Agile Development</vt:lpstr>
      <vt:lpstr>Agile is a way of mind</vt:lpstr>
      <vt:lpstr>PowerPoint Presentation</vt:lpstr>
      <vt:lpstr>Coders like….</vt:lpstr>
      <vt:lpstr>Coders DON’T like….</vt:lpstr>
      <vt:lpstr>The 12 principles of Agile</vt:lpstr>
      <vt:lpstr>The 12 principles of Agile</vt:lpstr>
      <vt:lpstr>Agile in perspective</vt:lpstr>
      <vt:lpstr>The ‘totally new’ Agile development process</vt:lpstr>
      <vt:lpstr>The ‘old fashioned’ generic waterfall</vt:lpstr>
      <vt:lpstr>What does Agile look like in SEP?</vt:lpstr>
      <vt:lpstr>Agile sprints</vt:lpstr>
      <vt:lpstr>SEP Sprints</vt:lpstr>
      <vt:lpstr>Regular Standups</vt:lpstr>
      <vt:lpstr>Regular Standups</vt:lpstr>
      <vt:lpstr>Regular Standups</vt:lpstr>
      <vt:lpstr>Communication</vt:lpstr>
      <vt:lpstr>Standup advice</vt:lpstr>
      <vt:lpstr>Standup advice</vt:lpstr>
      <vt:lpstr>This is not the only meeting!</vt:lpstr>
      <vt:lpstr>Starting your Agile process</vt:lpstr>
      <vt:lpstr>Agile is non-negotiable!</vt:lpstr>
      <vt:lpstr>What is a Kanban board?</vt:lpstr>
      <vt:lpstr>Example Kanban</vt:lpstr>
      <vt:lpstr>PowerPoint Presentation</vt:lpstr>
      <vt:lpstr>Requirements engineering</vt:lpstr>
      <vt:lpstr>Dangers of not doing Requirements Engineering</vt:lpstr>
      <vt:lpstr>Eliciting requirements</vt:lpstr>
      <vt:lpstr>Reading documentation</vt:lpstr>
      <vt:lpstr>Reading documentation</vt:lpstr>
      <vt:lpstr>Interviews</vt:lpstr>
      <vt:lpstr>Observation</vt:lpstr>
      <vt:lpstr>Systems analysis</vt:lpstr>
      <vt:lpstr>Problems with Requirements Analysis</vt:lpstr>
      <vt:lpstr>Problems with Requirements Analysis</vt:lpstr>
      <vt:lpstr>How to solve these problems</vt:lpstr>
      <vt:lpstr>How to solve these problems</vt:lpstr>
      <vt:lpstr>What do you need to know?</vt:lpstr>
      <vt:lpstr>Typical stakeholders</vt:lpstr>
      <vt:lpstr>User stories</vt:lpstr>
      <vt:lpstr>User stories</vt:lpstr>
      <vt:lpstr>Flow</vt:lpstr>
      <vt:lpstr>Flow</vt:lpstr>
      <vt:lpstr>Flow</vt:lpstr>
      <vt:lpstr>Before you meet your client</vt:lpstr>
      <vt:lpstr>What else will you do tomorrow?</vt:lpstr>
    </vt:vector>
  </TitlesOfParts>
  <Company>University of Bristol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 Year</dc:title>
  <dc:creator>SG Bullock</dc:creator>
  <cp:lastModifiedBy>Daniel Schien</cp:lastModifiedBy>
  <cp:revision>6</cp:revision>
  <cp:lastPrinted>2019-10-17T08:39:23Z</cp:lastPrinted>
  <dcterms:created xsi:type="dcterms:W3CDTF">2018-04-11T11:52:39Z</dcterms:created>
  <dcterms:modified xsi:type="dcterms:W3CDTF">2026-10-02T08:48:04Z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0x01010054EF46017227CC4C9F91CE430CAF7FB2</vt:lpwstr>
  </property>
  <property fmtid="{D5CDD505-2E9C-101B-9397-08002B2CF9AE}" pid="3" name="MediaServiceImageTags">
    <vt:lpwstr/>
  </property>
</Properties>
</file>